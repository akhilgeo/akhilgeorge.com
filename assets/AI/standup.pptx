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Bold"/>
      <p:regular r:id="rId201316"/>
    </p:embeddedFont>
    <p:embeddedFont>
      <p:font typeface="Inter"/>
      <p:regular r:id="rId201317"/>
    </p:embeddedFont>
    <p:embeddedFont>
      <p:font typeface="Montserrat"/>
      <p:regular r:id="rId201318"/>
    </p:embeddedFont>
    <p:embeddedFont>
      <p:font typeface="Montserrat Bold"/>
      <p:regular r:id="rId201319"/>
    </p:embeddedFont>
    <p:embeddedFont>
      <p:font typeface="Montserrat Light"/>
      <p:regular r:id="rId201320"/>
    </p:embeddedFont>
    <p:embeddedFont>
      <p:font typeface="Montserrat Medium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4.png"/><Relationship Id="rId9" Type="http://schemas.openxmlformats.org/officeDocument/2006/relationships/image" Target="../media/image-2-5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FF0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AI-Powered Standup Automation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Transform daily standups from manual overhead into intelligent insights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FF0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68970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Daily Standup Problem</a:t>
            </a:r>
            <a:endParaRPr lang="en-US" sz="2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22822"/>
            <a:ext cx="6296860" cy="8669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7928" y="1793081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30+ Minutes Lost Weekly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907928" y="2101850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Teams manually compile sprint data before every standup—time that adds up fast.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610743"/>
            <a:ext cx="6296860" cy="10846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7928" y="2781002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Scattered Meeting Notes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907928" y="3089771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Decisions and blockers live across multiple tools, making tracking nearly impossible.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816350"/>
            <a:ext cx="6296860" cy="86697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7928" y="3986609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Memory-Based Email Summaries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907928" y="4295378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Recaps written from memory are often incomplete, inconsistent, and delayed.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804271"/>
            <a:ext cx="6296860" cy="108465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7928" y="4974530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 Structured Record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907928" y="5283299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Blockers and progress trends go undocumented, creating blind spots for leadership.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880070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484511"/>
            <a:ext cx="1284355" cy="287139"/>
          </a:xfrm>
          <a:prstGeom prst="roundRect">
            <a:avLst>
              <a:gd name="adj" fmla="val 47396"/>
            </a:avLst>
          </a:prstGeom>
          <a:solidFill>
            <a:srgbClr val="DFE1EC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541165"/>
            <a:ext cx="166713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INTRODUCING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847255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Meet the Solution: Standup AI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3217565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fully automated pipeline that reads your sprint, understands your team's progress, and delivers a polished summary—without any manual effort.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809629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2365" y="484505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75723" y="4874518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Reads Azure DevOps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275723" y="5283200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Automatically pulls all active sprint stories and latest discussions.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63135" y="4809629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4025" y="484505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977383" y="4874518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Summarizes with AI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4977383" y="5283200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Distills story discussions into clear, actionable one-liners.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064794" y="4809629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5684" y="484505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679042" y="4874518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Drafts to Outlook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8679042" y="5283200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Sends a professional summary directly to your Outlook drafts—ready to send.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866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What Gets Automated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770955"/>
            <a:ext cx="5349047" cy="2023864"/>
          </a:xfrm>
          <a:prstGeom prst="roundRect">
            <a:avLst>
              <a:gd name="adj" fmla="val 7985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7307" y="1956792"/>
            <a:ext cx="538645" cy="538659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5437" y="2104827"/>
            <a:ext cx="242385" cy="2423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7307" y="2666008"/>
            <a:ext cx="4977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Meeting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7307" y="3048794"/>
            <a:ext cx="49773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Project name, meeting name, date, time, and ADO link—structured and ready.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81074" y="1770955"/>
            <a:ext cx="5349146" cy="2023864"/>
          </a:xfrm>
          <a:prstGeom prst="roundRect">
            <a:avLst>
              <a:gd name="adj" fmla="val 7985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66906" y="1956792"/>
            <a:ext cx="538645" cy="538659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5036" y="2104827"/>
            <a:ext cx="242385" cy="2423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66906" y="2666008"/>
            <a:ext cx="49774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Story Updates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6366906" y="3048794"/>
            <a:ext cx="497748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Story number, title, points, state, assignee, and current status in one table.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61475" y="3965377"/>
            <a:ext cx="5349047" cy="2023864"/>
          </a:xfrm>
          <a:prstGeom prst="roundRect">
            <a:avLst>
              <a:gd name="adj" fmla="val 7985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7307" y="4151213"/>
            <a:ext cx="538645" cy="538659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437" y="4299248"/>
            <a:ext cx="242385" cy="2423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7307" y="4860429"/>
            <a:ext cx="4977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Discussion Summaries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847307" y="5243215"/>
            <a:ext cx="49773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AI-generated one-liner from the latest comments on each story.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81074" y="3965377"/>
            <a:ext cx="5349146" cy="2023864"/>
          </a:xfrm>
          <a:prstGeom prst="roundRect">
            <a:avLst>
              <a:gd name="adj" fmla="val 7985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66906" y="4151213"/>
            <a:ext cx="538645" cy="538659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5036" y="4299248"/>
            <a:ext cx="242385" cy="2423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66906" y="4860429"/>
            <a:ext cx="49774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Email Draft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6366906" y="5243215"/>
            <a:ext cx="497748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ready-to-send summary lands directly in Outlook drafts after every standup.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96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Time Savings Per Team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3279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30 min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89272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Saved Weekly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301405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Manual data compilation eliminated entirely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03279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15 min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289272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Saved Weekly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330140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Email drafting automated post-standup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03279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39 hrs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289272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Saved Per Year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3301405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 team — multiply across your entire org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18971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Business Case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61475" y="4768453"/>
            <a:ext cx="10868745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45 minutes saved every week per scrum team. At 10 teams, that's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390 hours returned to delivery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every single year—without changing how your teams work.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No new tools. No retraining. Just time back in engineers' hands.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FF0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28998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Why Every Scrum Team Needs This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5233360" y="2074466"/>
            <a:ext cx="6296860" cy="3754438"/>
          </a:xfrm>
          <a:prstGeom prst="roundRect">
            <a:avLst>
              <a:gd name="adj" fmla="val 3398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2080816"/>
            <a:ext cx="6284160" cy="855663"/>
          </a:xfrm>
          <a:custGeom>
            <a:avLst/>
            <a:gdLst/>
            <a:ahLst/>
            <a:cxnLst/>
            <a:rect l="l" t="t" r="r" b="b"/>
            <a:pathLst>
              <a:path w="6284160" h="855663">
                <a:moveTo>
                  <a:pt x="106323" y="0"/>
                </a:moveTo>
                <a:lnTo>
                  <a:pt x="6177837" y="0"/>
                </a:lnTo>
                <a:arcTo hR="106326" wR="106323" stAng="16200000" swAng="5400000"/>
                <a:lnTo>
                  <a:pt x="6284160" y="855663"/>
                </a:lnTo>
                <a:lnTo>
                  <a:pt x="0" y="855663"/>
                </a:lnTo>
                <a:lnTo>
                  <a:pt x="0" y="106326"/>
                </a:lnTo>
                <a:arcTo hR="106326" wR="106323" stAng="10800000" swAng="5400000"/>
                <a:close/>
              </a:path>
            </a:pathLst>
          </a:custGeom>
          <a:solidFill>
            <a:srgbClr val="EFF0F6"/>
          </a:solidFill>
          <a:ln/>
        </p:spPr>
      </p:sp>
      <p:sp>
        <p:nvSpPr>
          <p:cNvPr id="7" name="Text 4"/>
          <p:cNvSpPr/>
          <p:nvPr/>
        </p:nvSpPr>
        <p:spPr>
          <a:xfrm>
            <a:off x="5345971" y="2187079"/>
            <a:ext cx="60716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Consistency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45971" y="2472234"/>
            <a:ext cx="60716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Same format, same quality every standup—regardless of who runs it.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39710" y="2936478"/>
            <a:ext cx="6284160" cy="1015206"/>
          </a:xfrm>
          <a:prstGeom prst="rect">
            <a:avLst/>
          </a:prstGeom>
          <a:solidFill>
            <a:srgbClr val="EFF0F6"/>
          </a:solidFill>
          <a:ln/>
        </p:spPr>
      </p:sp>
      <p:sp>
        <p:nvSpPr>
          <p:cNvPr id="10" name="Shape 7"/>
          <p:cNvSpPr/>
          <p:nvPr/>
        </p:nvSpPr>
        <p:spPr>
          <a:xfrm>
            <a:off x="5239710" y="2936478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C7D2"/>
          </a:solidFill>
          <a:ln/>
        </p:spPr>
      </p:sp>
      <p:sp>
        <p:nvSpPr>
          <p:cNvPr id="11" name="Shape 8"/>
          <p:cNvSpPr/>
          <p:nvPr/>
        </p:nvSpPr>
        <p:spPr>
          <a:xfrm>
            <a:off x="8204491" y="2768798"/>
            <a:ext cx="354401" cy="354409"/>
          </a:xfrm>
          <a:prstGeom prst="roundRect">
            <a:avLst>
              <a:gd name="adj" fmla="val 36001"/>
            </a:avLst>
          </a:prstGeom>
          <a:solidFill>
            <a:srgbClr val="FFFFFF"/>
          </a:solidFill>
          <a:ln w="19050">
            <a:solidFill>
              <a:srgbClr val="C5C7D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3091" y="2857401"/>
            <a:ext cx="177200" cy="1772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5971" y="3202285"/>
            <a:ext cx="60716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345971" y="3487440"/>
            <a:ext cx="60716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Works for 1 team or 50 teams instantly—no incremental setup.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239710" y="3951684"/>
            <a:ext cx="6284160" cy="1015206"/>
          </a:xfrm>
          <a:prstGeom prst="rect">
            <a:avLst/>
          </a:prstGeom>
          <a:solidFill>
            <a:srgbClr val="EFF0F6"/>
          </a:solidFill>
          <a:ln/>
        </p:spPr>
      </p:sp>
      <p:sp>
        <p:nvSpPr>
          <p:cNvPr id="16" name="Shape 12"/>
          <p:cNvSpPr/>
          <p:nvPr/>
        </p:nvSpPr>
        <p:spPr>
          <a:xfrm>
            <a:off x="5239710" y="3951684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C7D2"/>
          </a:solidFill>
          <a:ln/>
        </p:spPr>
      </p:sp>
      <p:sp>
        <p:nvSpPr>
          <p:cNvPr id="17" name="Shape 13"/>
          <p:cNvSpPr/>
          <p:nvPr/>
        </p:nvSpPr>
        <p:spPr>
          <a:xfrm>
            <a:off x="8204491" y="3784005"/>
            <a:ext cx="354401" cy="354409"/>
          </a:xfrm>
          <a:prstGeom prst="roundRect">
            <a:avLst>
              <a:gd name="adj" fmla="val 36001"/>
            </a:avLst>
          </a:prstGeom>
          <a:solidFill>
            <a:srgbClr val="FFFFFF"/>
          </a:solidFill>
          <a:ln w="19050">
            <a:solidFill>
              <a:srgbClr val="C5C7D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3091" y="3872607"/>
            <a:ext cx="177200" cy="17720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45971" y="4217491"/>
            <a:ext cx="60716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Compliance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345971" y="4502646"/>
            <a:ext cx="60716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Automatic audit trail of all decisions and blockers for every sprint.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239710" y="4966891"/>
            <a:ext cx="6284160" cy="855663"/>
          </a:xfrm>
          <a:custGeom>
            <a:avLst/>
            <a:gdLst/>
            <a:ahLst/>
            <a:cxnLst/>
            <a:rect l="l" t="t" r="r" b="b"/>
            <a:pathLst>
              <a:path w="6284160" h="855663">
                <a:moveTo>
                  <a:pt x="0" y="0"/>
                </a:moveTo>
                <a:lnTo>
                  <a:pt x="6284160" y="0"/>
                </a:lnTo>
                <a:lnTo>
                  <a:pt x="6284160" y="749337"/>
                </a:lnTo>
                <a:arcTo hR="106326" wR="106323" stAng="0" swAng="5400000"/>
                <a:lnTo>
                  <a:pt x="106323" y="855663"/>
                </a:lnTo>
                <a:arcTo hR="106326" wR="106323" stAng="5400000" swAng="5400000"/>
                <a:lnTo>
                  <a:pt x="0" y="0"/>
                </a:lnTo>
                <a:close/>
              </a:path>
            </a:pathLst>
          </a:custGeom>
          <a:solidFill>
            <a:srgbClr val="EFF0F6"/>
          </a:solidFill>
          <a:ln/>
        </p:spPr>
      </p:sp>
      <p:sp>
        <p:nvSpPr>
          <p:cNvPr id="22" name="Shape 17"/>
          <p:cNvSpPr/>
          <p:nvPr/>
        </p:nvSpPr>
        <p:spPr>
          <a:xfrm>
            <a:off x="5239710" y="4966891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C7D2"/>
          </a:solidFill>
          <a:ln/>
        </p:spPr>
      </p:sp>
      <p:sp>
        <p:nvSpPr>
          <p:cNvPr id="23" name="Shape 18"/>
          <p:cNvSpPr/>
          <p:nvPr/>
        </p:nvSpPr>
        <p:spPr>
          <a:xfrm>
            <a:off x="8204491" y="4799211"/>
            <a:ext cx="354401" cy="354409"/>
          </a:xfrm>
          <a:prstGeom prst="roundRect">
            <a:avLst>
              <a:gd name="adj" fmla="val 36001"/>
            </a:avLst>
          </a:prstGeom>
          <a:solidFill>
            <a:srgbClr val="FFFFFF"/>
          </a:solidFill>
          <a:ln w="19050">
            <a:solidFill>
              <a:srgbClr val="C5C7D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93091" y="4887813"/>
            <a:ext cx="177200" cy="17720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45971" y="5232698"/>
            <a:ext cx="60716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Integration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345971" y="5517852"/>
            <a:ext cx="60716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Built on Azure DevOps and Outlook—tools your teams already use daily.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280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Technical Architecture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779" y="2405360"/>
            <a:ext cx="5146844" cy="23555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00713" y="4201543"/>
            <a:ext cx="966262" cy="186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Draft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282959" y="4201543"/>
            <a:ext cx="966262" cy="186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Summarize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071822" y="4201543"/>
            <a:ext cx="966262" cy="186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Fetch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834212" y="4201543"/>
            <a:ext cx="966262" cy="186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Trigger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1475" y="4880471"/>
            <a:ext cx="755313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entire pipeline runs automatically after each standup—no manual steps required.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7244" y="2054820"/>
            <a:ext cx="3579227" cy="10460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49575" y="2215555"/>
            <a:ext cx="27261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Azure DevOps MCP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649575" y="2543274"/>
            <a:ext cx="27261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Bulk reads workitems, story discussions, and full sprint data in seconds.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7244" y="3207147"/>
            <a:ext cx="3579227" cy="10460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49575" y="3367881"/>
            <a:ext cx="27261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Claude Opus 4.7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649575" y="3695601"/>
            <a:ext cx="27261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 summarization of discussions and professional email generation.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7244" y="4359473"/>
            <a:ext cx="3579227" cy="10460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49575" y="4520208"/>
            <a:ext cx="27261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Outlook MCP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649575" y="4847927"/>
            <a:ext cx="27261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Draft email creation with optional auto-send capability.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144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Competitive Advantages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83135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529806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Zero Learning Curve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938488"/>
            <a:ext cx="25399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No new tools to adopt. Built entirely on Azure DevOps and Outlook—your teams are already there.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383135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529806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True AI Summarization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233763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Captures nuance from discussion threads—not a copy-paste of raw comments.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383135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529806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Flexible Control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3938488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Manual review before sending, or enable auto-send. Your team decides the workflow.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383135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529806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Org-Wide Scale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3938488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Rolls out across every scrum team with no additional licensing costs.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381" y="736798"/>
            <a:ext cx="4904855" cy="5384304"/>
          </a:xfrm>
          <a:prstGeom prst="roundRect">
            <a:avLst>
              <a:gd name="adj" fmla="val 4162"/>
            </a:avLst>
          </a:prstGeom>
          <a:solidFill>
            <a:srgbClr val="C6C9DC"/>
          </a:solidFill>
          <a:ln/>
        </p:spPr>
      </p:sp>
      <p:sp>
        <p:nvSpPr>
          <p:cNvPr id="3" name="Text 1"/>
          <p:cNvSpPr/>
          <p:nvPr/>
        </p:nvSpPr>
        <p:spPr>
          <a:xfrm>
            <a:off x="701062" y="1040705"/>
            <a:ext cx="4621494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Next Steps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701062" y="1589980"/>
            <a:ext cx="462149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focused pilot designed to prove value fast—then scale with confidence.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01062" y="2106414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01062" y="2328267"/>
            <a:ext cx="4621494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7" name="Text 5"/>
          <p:cNvSpPr/>
          <p:nvPr/>
        </p:nvSpPr>
        <p:spPr>
          <a:xfrm>
            <a:off x="701062" y="2437209"/>
            <a:ext cx="46214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Pilot with 2–3 Teams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1062" y="2764929"/>
            <a:ext cx="462149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2-week trial with selected scrum teams to validate the workflow in your environment.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1062" y="337433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1062" y="3581995"/>
            <a:ext cx="4621494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1" name="Text 9"/>
          <p:cNvSpPr/>
          <p:nvPr/>
        </p:nvSpPr>
        <p:spPr>
          <a:xfrm>
            <a:off x="701062" y="3705126"/>
            <a:ext cx="46214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Measure &amp; Gather Feedback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1062" y="4032845"/>
            <a:ext cx="462149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Track time saved and collect email quality feedback from team leads and stakeholders.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1062" y="4642247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1062" y="4835823"/>
            <a:ext cx="4621494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5" name="Text 13"/>
          <p:cNvSpPr/>
          <p:nvPr/>
        </p:nvSpPr>
        <p:spPr>
          <a:xfrm>
            <a:off x="701062" y="4973042"/>
            <a:ext cx="46214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Expand Org-Wide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1062" y="5300762"/>
            <a:ext cx="462149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Roll out to all scrum teams based on pilot results—zero additional infrastructure needed.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2112" y="856357"/>
            <a:ext cx="4366508" cy="4366617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714361" y="5342533"/>
            <a:ext cx="5822110" cy="659011"/>
          </a:xfrm>
          <a:prstGeom prst="roundRect">
            <a:avLst>
              <a:gd name="adj" fmla="val 19360"/>
            </a:avLst>
          </a:prstGeom>
          <a:solidFill>
            <a:srgbClr val="DFE1EC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042" y="5512594"/>
            <a:ext cx="177200" cy="1416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174923" y="5473601"/>
            <a:ext cx="521986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Ready to reclaim 39 hours per team, per year? The pilot starts with your next sprint.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2026-08-24T07:56:59Z</dcterms:created>
  <dcterms:modified xsi:type="dcterms:W3CDTF">2026-08-24T07:56:59Z</dcterms:modified>
</cp:coreProperties>
</file>