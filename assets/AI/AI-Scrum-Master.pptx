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0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Inter Bold" panose="020B0604020202020204" charset="0"/>
      <p:regular r:id="rId12"/>
    </p:embeddedFont>
    <p:embeddedFont>
      <p:font typeface="Inter Light" panose="020B0604020202020204" charset="0"/>
      <p:regular r:id="rId13"/>
    </p:embeddedFont>
    <p:embeddedFont>
      <p:font typeface="Montserrat Light" panose="00000400000000000000" pitchFamily="2" charset="0"/>
      <p:regular r:id="rId14"/>
    </p:embeddedFont>
    <p:embeddedFont>
      <p:font typeface="Montserrat Medium" panose="00000600000000000000" pitchFamily="2" charset="0"/>
      <p:regular r:id="rId15"/>
    </p:embeddedFont>
    <p:embeddedFont>
      <p:font typeface="Neue Haas Grotesk Text Pro" panose="020B0504020202020204" pitchFamily="3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21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2292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52024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2046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2342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640415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85634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4247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12994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222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9538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89322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092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29423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8298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16268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30871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41805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48390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74655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7390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865236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79749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898340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19713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02098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017705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698406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617245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552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77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  <p:sldLayoutId id="2147483735" r:id="rId26"/>
    <p:sldLayoutId id="2147483736" r:id="rId27"/>
    <p:sldLayoutId id="2147483737" r:id="rId2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FF0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68952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AI Scrum Master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56364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AI-powered assistant for automating Scrum ceremonies, reporting, and sprint management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FF0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35384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Scrum Master Challenge</a:t>
            </a:r>
            <a:endParaRPr lang="en-US" sz="3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242219"/>
            <a:ext cx="6296860" cy="11677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7354" y="1421904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Manual Data Collection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917354" y="1754783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Scrum Masters spend significant time pulling updates from Azure DevOps for reports and ceremonies.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46449"/>
            <a:ext cx="6296860" cy="11677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7354" y="2726134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Inconsistent Reporting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917354" y="3059013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Daily reports and meeting summaries are manually prepared with different formats across teams.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850680"/>
            <a:ext cx="6296860" cy="116770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7354" y="4030365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Untapped Insights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917354" y="4363244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Story discussions contain useful status information but aren't systematically analyzed.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154910"/>
            <a:ext cx="6296860" cy="116770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7354" y="5334595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Coaching Time Lost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917354" y="5667474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Repetitive administrative tasks reduce time available for impediment removal and team coaching.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22" y="-543620"/>
            <a:ext cx="3654135" cy="365422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52538" y="572025"/>
            <a:ext cx="641731" cy="143470"/>
          </a:xfrm>
          <a:prstGeom prst="roundRect">
            <a:avLst>
              <a:gd name="adj" fmla="val 47429"/>
            </a:avLst>
          </a:prstGeom>
          <a:solidFill>
            <a:srgbClr val="DFE1EC"/>
          </a:solidFill>
          <a:ln/>
        </p:spPr>
      </p:sp>
      <p:sp>
        <p:nvSpPr>
          <p:cNvPr id="4" name="Text 1"/>
          <p:cNvSpPr/>
          <p:nvPr/>
        </p:nvSpPr>
        <p:spPr>
          <a:xfrm>
            <a:off x="4609191" y="600303"/>
            <a:ext cx="1138011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INTRODUCING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4552538" y="734347"/>
            <a:ext cx="69839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Meet the Solution</a:t>
            </a:r>
            <a:r>
              <a:rPr lang="en-US" sz="28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:</a:t>
            </a:r>
            <a:r>
              <a:rPr lang="en-US" sz="24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AI Scrum Master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52538" y="1076849"/>
            <a:ext cx="6983932" cy="503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 intelligent assistant connected to Azure DevOps and Outlook that executes multiple Scrum workflows through a simple menu—eliminating manual work across the entire sprint cycle.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333280"/>
            <a:ext cx="3591430" cy="5036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9427" y="4440436"/>
            <a:ext cx="332632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Daily Standup Report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19427" y="4616351"/>
            <a:ext cx="332632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Automatically compile a polished daily update from sprint activity.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0132" y="4333280"/>
            <a:ext cx="3591430" cy="5036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58085" y="4440436"/>
            <a:ext cx="332632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Sprint Planning Assistant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458085" y="4616351"/>
            <a:ext cx="332632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Prepare sprint planning inputs faster with AI-supported structure.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8790" y="4333280"/>
            <a:ext cx="3591430" cy="5036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96742" y="4440436"/>
            <a:ext cx="332632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Sprint Retrospective Summary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096742" y="4616351"/>
            <a:ext cx="332632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Turn retro discussions into a clear summary of wins and improvements.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884142"/>
            <a:ext cx="3591430" cy="50363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19427" y="4991298"/>
            <a:ext cx="332632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Blocker/Impediment Tracker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819427" y="5167213"/>
            <a:ext cx="332632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Capture blockers and keep impediments visible across the sprint.</a:t>
            </a:r>
            <a:endParaRPr lang="en-US" sz="10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0132" y="4884142"/>
            <a:ext cx="3591430" cy="50363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458085" y="4991298"/>
            <a:ext cx="332632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Backlog Grooming Assistant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4458085" y="5167213"/>
            <a:ext cx="332632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Organize backlog refinement with less manual effort.</a:t>
            </a:r>
            <a:endParaRPr lang="en-US" sz="10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8790" y="4884142"/>
            <a:ext cx="3591430" cy="50363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096742" y="4991298"/>
            <a:ext cx="332632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Burndown &amp; Sprint Health Report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8096742" y="5167213"/>
            <a:ext cx="332632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Monitor sprint progress and health at a glance.</a:t>
            </a:r>
            <a:endParaRPr lang="en-US" sz="10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435005"/>
            <a:ext cx="3591430" cy="50363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19427" y="5542161"/>
            <a:ext cx="332632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Velocity &amp; Capacity Report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819427" y="5718076"/>
            <a:ext cx="332632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Track delivery trends and team capacity across sprints.</a:t>
            </a:r>
            <a:endParaRPr lang="en-US" sz="105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0132" y="5435005"/>
            <a:ext cx="3591430" cy="503634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4458085" y="5542161"/>
            <a:ext cx="332632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Action Item Tracker</a:t>
            </a:r>
            <a:endParaRPr lang="en-US" sz="1200" dirty="0"/>
          </a:p>
        </p:txBody>
      </p:sp>
      <p:sp>
        <p:nvSpPr>
          <p:cNvPr id="30" name="Text 19"/>
          <p:cNvSpPr/>
          <p:nvPr/>
        </p:nvSpPr>
        <p:spPr>
          <a:xfrm>
            <a:off x="4458085" y="5718076"/>
            <a:ext cx="332632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Keep follow-ups and ownership organized automatically.</a:t>
            </a:r>
            <a:endParaRPr lang="en-US" sz="105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8790" y="5435005"/>
            <a:ext cx="3591430" cy="503634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8096742" y="5542161"/>
            <a:ext cx="332632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Stakeholder Summary Report</a:t>
            </a:r>
            <a:endParaRPr lang="en-US" sz="1200" dirty="0"/>
          </a:p>
        </p:txBody>
      </p:sp>
      <p:sp>
        <p:nvSpPr>
          <p:cNvPr id="33" name="Text 21"/>
          <p:cNvSpPr/>
          <p:nvPr/>
        </p:nvSpPr>
        <p:spPr>
          <a:xfrm>
            <a:off x="8096742" y="5718076"/>
            <a:ext cx="332632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Generate concise progress updates for stakeholders.</a:t>
            </a:r>
            <a:endParaRPr lang="en-US" sz="105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985867"/>
            <a:ext cx="3591430" cy="503634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819427" y="6093023"/>
            <a:ext cx="332632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Release Notes Generator</a:t>
            </a:r>
            <a:endParaRPr lang="en-US" sz="1200" dirty="0"/>
          </a:p>
        </p:txBody>
      </p:sp>
      <p:sp>
        <p:nvSpPr>
          <p:cNvPr id="36" name="Text 23"/>
          <p:cNvSpPr/>
          <p:nvPr/>
        </p:nvSpPr>
        <p:spPr>
          <a:xfrm>
            <a:off x="819427" y="6268938"/>
            <a:ext cx="332632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Create clean release notes from completed work.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98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What Gets Automated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58541"/>
            <a:ext cx="5339820" cy="2160290"/>
          </a:xfrm>
          <a:prstGeom prst="roundRect">
            <a:avLst>
              <a:gd name="adj" fmla="val 7875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1853902"/>
            <a:ext cx="567021" cy="567035"/>
          </a:xfrm>
          <a:prstGeom prst="ellipse">
            <a:avLst/>
          </a:prstGeom>
          <a:solidFill>
            <a:srgbClr val="88888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800" y="2009775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26099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 Extraction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018631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Pulls sprint data, story discussions, and team updates from Azure DevOps automatically.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90301" y="1658541"/>
            <a:ext cx="5339919" cy="2160290"/>
          </a:xfrm>
          <a:prstGeom prst="roundRect">
            <a:avLst>
              <a:gd name="adj" fmla="val 7875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5658" y="1853902"/>
            <a:ext cx="567021" cy="567035"/>
          </a:xfrm>
          <a:prstGeom prst="ellipse">
            <a:avLst/>
          </a:prstGeom>
          <a:solidFill>
            <a:srgbClr val="88888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626" y="2009775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5658" y="26099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Intelligent Analysis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385658" y="3018631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 analyzes discussions, identifies blockers, and extracts status trends and insights.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61475" y="4007842"/>
            <a:ext cx="5339820" cy="2160290"/>
          </a:xfrm>
          <a:prstGeom prst="roundRect">
            <a:avLst>
              <a:gd name="adj" fmla="val 7875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6832" y="4203204"/>
            <a:ext cx="567021" cy="567035"/>
          </a:xfrm>
          <a:prstGeom prst="ellipse">
            <a:avLst/>
          </a:prstGeom>
          <a:solidFill>
            <a:srgbClr val="88888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800" y="4359077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6832" y="495925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Multi-Format Output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56832" y="5367933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Generates reports, summaries, and action items in the format each workflow needs.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190301" y="4007842"/>
            <a:ext cx="5339919" cy="2160290"/>
          </a:xfrm>
          <a:prstGeom prst="roundRect">
            <a:avLst>
              <a:gd name="adj" fmla="val 7875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85658" y="4203204"/>
            <a:ext cx="567021" cy="567035"/>
          </a:xfrm>
          <a:prstGeom prst="ellipse">
            <a:avLst/>
          </a:prstGeom>
          <a:solidFill>
            <a:srgbClr val="888888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1626" y="4359077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85658" y="495925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Outlook Integration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6385658" y="5367933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Delivers drafts to Outlook for review and sending—or auto-sends based on team preference.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271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Time Savings Across Scrum Operations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90266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30 min/week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15019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Daily Reports Saved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558877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Daily reports and standup summaries automated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2290266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20 min/week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315019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Sprint Ops Saved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3558877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Sprint planning, retro summaries, and blocker tracking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2290266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50 hours/year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315019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Per Scrum Master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3558877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Across all automated workflows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44718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Business Case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61475" y="502592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50 hours reclaimed per Scrum Master every year. At 10 Scrum Masters, that's </a:t>
            </a:r>
            <a:r>
              <a:rPr lang="en-US" sz="145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500 hours returned to coaching, impediment removal, and team development</a:t>
            </a: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—without changing your sprint cadence.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FF0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6" y="484684"/>
            <a:ext cx="4416215" cy="58885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43223"/>
            <a:ext cx="6296860" cy="97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Why Every Scrum Master Needs This</a:t>
            </a:r>
            <a:endParaRPr lang="en-US" sz="3050" dirty="0"/>
          </a:p>
        </p:txBody>
      </p:sp>
      <p:sp>
        <p:nvSpPr>
          <p:cNvPr id="5" name="Shape 2"/>
          <p:cNvSpPr/>
          <p:nvPr/>
        </p:nvSpPr>
        <p:spPr>
          <a:xfrm>
            <a:off x="5233360" y="1708150"/>
            <a:ext cx="6296860" cy="4606528"/>
          </a:xfrm>
          <a:prstGeom prst="roundRect">
            <a:avLst>
              <a:gd name="adj" fmla="val 3041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9710" y="1714500"/>
            <a:ext cx="6284160" cy="1222573"/>
          </a:xfrm>
          <a:custGeom>
            <a:avLst/>
            <a:gdLst/>
            <a:ahLst/>
            <a:cxnLst/>
            <a:rect l="l" t="t" r="r" b="b"/>
            <a:pathLst>
              <a:path w="6284160" h="1222573">
                <a:moveTo>
                  <a:pt x="116734" y="0"/>
                </a:moveTo>
                <a:lnTo>
                  <a:pt x="6167426" y="0"/>
                </a:lnTo>
                <a:arcTo wR="116734" hR="116736" stAng="16200000" swAng="5400000"/>
                <a:lnTo>
                  <a:pt x="6284160" y="1222573"/>
                </a:lnTo>
                <a:lnTo>
                  <a:pt x="0" y="1222573"/>
                </a:lnTo>
                <a:lnTo>
                  <a:pt x="0" y="116736"/>
                </a:lnTo>
                <a:arcTo wR="116734" hR="116736" stAng="10800000" swAng="5400000"/>
                <a:close/>
              </a:path>
            </a:pathLst>
          </a:custGeom>
          <a:solidFill>
            <a:srgbClr val="EFF0F6"/>
          </a:solidFill>
          <a:ln/>
        </p:spPr>
      </p:sp>
      <p:sp>
        <p:nvSpPr>
          <p:cNvPr id="7" name="Text 4"/>
          <p:cNvSpPr/>
          <p:nvPr/>
        </p:nvSpPr>
        <p:spPr>
          <a:xfrm>
            <a:off x="5367799" y="1842591"/>
            <a:ext cx="6027984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67799" y="2162671"/>
            <a:ext cx="6027984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Same format, same quality across all reports and ceremonies—regardless of team or Scrum Master.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239710" y="2937073"/>
            <a:ext cx="6284160" cy="1187847"/>
          </a:xfrm>
          <a:prstGeom prst="rect">
            <a:avLst/>
          </a:prstGeom>
          <a:solidFill>
            <a:srgbClr val="EFF0F6"/>
          </a:solidFill>
          <a:ln/>
        </p:spPr>
      </p:sp>
      <p:sp>
        <p:nvSpPr>
          <p:cNvPr id="10" name="Shape 7"/>
          <p:cNvSpPr/>
          <p:nvPr/>
        </p:nvSpPr>
        <p:spPr>
          <a:xfrm>
            <a:off x="5239710" y="2937073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C7D2"/>
          </a:solidFill>
          <a:ln/>
        </p:spPr>
      </p:sp>
      <p:sp>
        <p:nvSpPr>
          <p:cNvPr id="11" name="Shape 8"/>
          <p:cNvSpPr/>
          <p:nvPr/>
        </p:nvSpPr>
        <p:spPr>
          <a:xfrm>
            <a:off x="8187227" y="2752080"/>
            <a:ext cx="389027" cy="389037"/>
          </a:xfrm>
          <a:prstGeom prst="roundRect">
            <a:avLst>
              <a:gd name="adj" fmla="val 36008"/>
            </a:avLst>
          </a:prstGeom>
          <a:solidFill>
            <a:srgbClr val="FFFFFF"/>
          </a:solidFill>
          <a:ln w="19050">
            <a:solidFill>
              <a:srgbClr val="C5C7D2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84459" y="2849314"/>
            <a:ext cx="194464" cy="1944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7799" y="3257451"/>
            <a:ext cx="6027984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367799" y="3577530"/>
            <a:ext cx="6027984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Works for 1 Scrum Master or 50—no incremental setup or licensing.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239710" y="4124920"/>
            <a:ext cx="6284160" cy="1187847"/>
          </a:xfrm>
          <a:prstGeom prst="rect">
            <a:avLst/>
          </a:prstGeom>
          <a:solidFill>
            <a:srgbClr val="EFF0F6"/>
          </a:solidFill>
          <a:ln/>
        </p:spPr>
      </p:sp>
      <p:sp>
        <p:nvSpPr>
          <p:cNvPr id="16" name="Shape 12"/>
          <p:cNvSpPr/>
          <p:nvPr/>
        </p:nvSpPr>
        <p:spPr>
          <a:xfrm>
            <a:off x="5239710" y="4124920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C7D2"/>
          </a:solidFill>
          <a:ln/>
        </p:spPr>
      </p:sp>
      <p:sp>
        <p:nvSpPr>
          <p:cNvPr id="17" name="Shape 13"/>
          <p:cNvSpPr/>
          <p:nvPr/>
        </p:nvSpPr>
        <p:spPr>
          <a:xfrm>
            <a:off x="8187227" y="3939927"/>
            <a:ext cx="389027" cy="389037"/>
          </a:xfrm>
          <a:prstGeom prst="roundRect">
            <a:avLst>
              <a:gd name="adj" fmla="val 36008"/>
            </a:avLst>
          </a:prstGeom>
          <a:solidFill>
            <a:srgbClr val="FFFFFF"/>
          </a:solidFill>
          <a:ln w="19050">
            <a:solidFill>
              <a:srgbClr val="C5C7D2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4459" y="4037161"/>
            <a:ext cx="194464" cy="1944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67799" y="4445298"/>
            <a:ext cx="6027984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Compliance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367799" y="4765377"/>
            <a:ext cx="6027984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Automatic audit trail of all decisions, blockers, and sprint activities.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239710" y="5312767"/>
            <a:ext cx="6284160" cy="995561"/>
          </a:xfrm>
          <a:custGeom>
            <a:avLst/>
            <a:gdLst/>
            <a:ahLst/>
            <a:cxnLst/>
            <a:rect l="l" t="t" r="r" b="b"/>
            <a:pathLst>
              <a:path w="6284160" h="995561">
                <a:moveTo>
                  <a:pt x="0" y="0"/>
                </a:moveTo>
                <a:lnTo>
                  <a:pt x="6284160" y="0"/>
                </a:lnTo>
                <a:lnTo>
                  <a:pt x="6284160" y="878824"/>
                </a:lnTo>
                <a:arcTo wR="116734" hR="116736" stAng="0" swAng="5400000"/>
                <a:lnTo>
                  <a:pt x="116734" y="995561"/>
                </a:lnTo>
                <a:arcTo wR="116734" hR="116736" stAng="5400000" swAng="5400000"/>
                <a:lnTo>
                  <a:pt x="0" y="0"/>
                </a:lnTo>
                <a:close/>
              </a:path>
            </a:pathLst>
          </a:custGeom>
          <a:solidFill>
            <a:srgbClr val="EFF0F6"/>
          </a:solidFill>
          <a:ln/>
        </p:spPr>
      </p:sp>
      <p:sp>
        <p:nvSpPr>
          <p:cNvPr id="22" name="Shape 17"/>
          <p:cNvSpPr/>
          <p:nvPr/>
        </p:nvSpPr>
        <p:spPr>
          <a:xfrm>
            <a:off x="5239710" y="5312767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C7D2"/>
          </a:solidFill>
          <a:ln/>
        </p:spPr>
      </p:sp>
      <p:sp>
        <p:nvSpPr>
          <p:cNvPr id="23" name="Shape 18"/>
          <p:cNvSpPr/>
          <p:nvPr/>
        </p:nvSpPr>
        <p:spPr>
          <a:xfrm>
            <a:off x="8187227" y="5127774"/>
            <a:ext cx="389027" cy="389037"/>
          </a:xfrm>
          <a:prstGeom prst="roundRect">
            <a:avLst>
              <a:gd name="adj" fmla="val 36008"/>
            </a:avLst>
          </a:prstGeom>
          <a:solidFill>
            <a:srgbClr val="FFFFFF"/>
          </a:solidFill>
          <a:ln w="19050">
            <a:solidFill>
              <a:srgbClr val="C5C7D2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4459" y="5225008"/>
            <a:ext cx="194464" cy="19446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67799" y="5633145"/>
            <a:ext cx="6027984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367799" y="5953224"/>
            <a:ext cx="6027984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Built on Azure DevOps and Outlook—tools your teams already use daily.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792"/>
            <a:ext cx="10868745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Technical Architecture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152" y="2010767"/>
            <a:ext cx="6160735" cy="28195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1433" y="4049393"/>
            <a:ext cx="1156617" cy="445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Output Generation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303779" y="4160800"/>
            <a:ext cx="1156616" cy="222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AI Analysis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854048" y="4160800"/>
            <a:ext cx="1156617" cy="222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 Fetch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2628" y="4049393"/>
            <a:ext cx="1156616" cy="445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Menu Selection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1475" y="4986834"/>
            <a:ext cx="6926188" cy="606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entire pipeline runs automatically after each standup—no manual steps required.</a:t>
            </a:r>
            <a:endParaRPr lang="en-US" sz="12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Each workflow runs independently—select what you need, when you need it.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489" y="1431528"/>
            <a:ext cx="3546982" cy="17182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96018" y="1612702"/>
            <a:ext cx="2559284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Azure DevOps MCP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796018" y="2005013"/>
            <a:ext cx="2559284" cy="963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Bulk reads workitems, discussions, sprint data, and team updates across all workflows.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9489" y="3288804"/>
            <a:ext cx="3546982" cy="147736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96018" y="3469977"/>
            <a:ext cx="2559284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Claude Opus 4.7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796018" y="3862288"/>
            <a:ext cx="2559284" cy="722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 analysis, summarization, and content generation for all Scrum workflows.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89489" y="4905177"/>
            <a:ext cx="3546982" cy="12364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96018" y="5086350"/>
            <a:ext cx="2559284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Outlook MCP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8796018" y="5478661"/>
            <a:ext cx="2559284" cy="481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Draft creation and optional auto-send for all report types.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6567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Competitive Advantages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34345"/>
            <a:ext cx="1473163" cy="91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681016"/>
            <a:ext cx="25399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Multi-Workflow Platform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384973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Not just daily standups—10+ reusable Scrum workflows in one tool.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534345"/>
            <a:ext cx="1473163" cy="9104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681016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True AI Analysis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089698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Captures nuance from discussions and data—not copy-paste summaries.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534345"/>
            <a:ext cx="1473163" cy="9104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681016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Flexible Execution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089698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Manual review before sending, or auto-send. Your team decides the workflow.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534345"/>
            <a:ext cx="1473163" cy="9104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681016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Org-Wide Scale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089698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Rolls out across every Scrum Master with no additional licensing costs.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635" y="535880"/>
            <a:ext cx="4905649" cy="5786239"/>
          </a:xfrm>
          <a:prstGeom prst="roundRect">
            <a:avLst>
              <a:gd name="adj" fmla="val 4439"/>
            </a:avLst>
          </a:prstGeom>
          <a:solidFill>
            <a:srgbClr val="C6C9DC"/>
          </a:solidFill>
          <a:ln/>
        </p:spPr>
      </p:sp>
      <p:sp>
        <p:nvSpPr>
          <p:cNvPr id="3" name="Text 1"/>
          <p:cNvSpPr/>
          <p:nvPr/>
        </p:nvSpPr>
        <p:spPr>
          <a:xfrm>
            <a:off x="703840" y="831652"/>
            <a:ext cx="4603238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Next Steps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703840" y="1425079"/>
            <a:ext cx="460323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focused pilot designed to prove value fast—then scale with confidence.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3840" y="1996480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03840" y="2234406"/>
            <a:ext cx="4603238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7" name="Text 5"/>
          <p:cNvSpPr/>
          <p:nvPr/>
        </p:nvSpPr>
        <p:spPr>
          <a:xfrm>
            <a:off x="703840" y="2348111"/>
            <a:ext cx="460323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Pilot with 2–3 Scrum Masters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3840" y="2705298"/>
            <a:ext cx="460323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2-week trial with selected Scrum Masters to validate multiple workflows in your environment.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03840" y="3375025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3840" y="3597870"/>
            <a:ext cx="4603238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1" name="Text 9"/>
          <p:cNvSpPr/>
          <p:nvPr/>
        </p:nvSpPr>
        <p:spPr>
          <a:xfrm>
            <a:off x="703840" y="3726656"/>
            <a:ext cx="460323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Measure &amp; Gather Feedback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03840" y="4083844"/>
            <a:ext cx="460323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Track time saved across workflows and collect feedback on report quality and usability.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3840" y="4753570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3840" y="4961334"/>
            <a:ext cx="4603238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5" name="Text 13"/>
          <p:cNvSpPr/>
          <p:nvPr/>
        </p:nvSpPr>
        <p:spPr>
          <a:xfrm>
            <a:off x="703840" y="5105202"/>
            <a:ext cx="460323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Expand Org-Wide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03840" y="5462389"/>
            <a:ext cx="460323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Roll out to all Scrum Masters based on pilot results—zero additional infrastructure needed.</a:t>
            </a:r>
            <a:endParaRPr lang="en-US" sz="11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888" y="671909"/>
            <a:ext cx="4649374" cy="464949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724679" y="5457428"/>
            <a:ext cx="5811791" cy="728663"/>
          </a:xfrm>
          <a:prstGeom prst="roundRect">
            <a:avLst>
              <a:gd name="adj" fmla="val 18677"/>
            </a:avLst>
          </a:prstGeom>
          <a:solidFill>
            <a:srgbClr val="DFE1EC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885" y="5642570"/>
            <a:ext cx="189007" cy="15120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216098" y="5604073"/>
            <a:ext cx="516916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Ready to reclaim 50 hours per Scrum Master, per year? The pilot starts with your next sprint.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14</TotalTime>
  <Words>714</Words>
  <Application>Microsoft Office PowerPoint</Application>
  <PresentationFormat>Widescreen</PresentationFormat>
  <Paragraphs>107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Montserrat Medium</vt:lpstr>
      <vt:lpstr>Montserrat Light</vt:lpstr>
      <vt:lpstr>Arial</vt:lpstr>
      <vt:lpstr>Inter Bold</vt:lpstr>
      <vt:lpstr>Neue Haas Grotesk Text Pro</vt:lpstr>
      <vt:lpstr>Inter Light</vt:lpstr>
      <vt:lpstr>Axis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Akhil George</cp:lastModifiedBy>
  <cp:revision>3</cp:revision>
  <dcterms:created xsi:type="dcterms:W3CDTF">2026-08-31T04:23:59Z</dcterms:created>
  <dcterms:modified xsi:type="dcterms:W3CDTF">2026-08-31T04:39:44Z</dcterms:modified>
</cp:coreProperties>
</file>