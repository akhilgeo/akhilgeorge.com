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323" r:id="rId4"/>
    <p:sldId id="324" r:id="rId5"/>
    <p:sldId id="325" r:id="rId6"/>
    <p:sldId id="322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7" r:id="rId21"/>
    <p:sldId id="278" r:id="rId22"/>
    <p:sldId id="281" r:id="rId23"/>
    <p:sldId id="285" r:id="rId24"/>
    <p:sldId id="288" r:id="rId25"/>
    <p:sldId id="292" r:id="rId26"/>
    <p:sldId id="294" r:id="rId27"/>
    <p:sldId id="295" r:id="rId28"/>
    <p:sldId id="296" r:id="rId29"/>
    <p:sldId id="297" r:id="rId30"/>
    <p:sldId id="300" r:id="rId31"/>
    <p:sldId id="301" r:id="rId32"/>
    <p:sldId id="302" r:id="rId33"/>
    <p:sldId id="306" r:id="rId34"/>
    <p:sldId id="308" r:id="rId35"/>
    <p:sldId id="309" r:id="rId36"/>
    <p:sldId id="310" r:id="rId37"/>
    <p:sldId id="321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1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81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A46B-D8DC-BE01-6156-C7ABC770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9F000-28C1-6DF2-43F1-649E1AF72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CBB27-A483-0503-BAE1-C0B464285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F0B0D-A4CC-5699-B58A-7D69C6DC4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316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A6ED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743200" cy="2743200"/>
          </a:xfrm>
          <a:prstGeom prst="ellipse">
            <a:avLst/>
          </a:prstGeom>
          <a:solidFill>
            <a:srgbClr val="E9730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  •  GEN AI ORCHESTRATION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AI into SAP S/4HANA with ISLM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walkthrough of Intelligent Scenario Lifecycle Management: creating, operating, and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 Generative AI orchestration scenario natively inside SAP S/4HANA.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280160" cy="0"/>
          </a:xfrm>
          <a:prstGeom prst="line">
            <a:avLst/>
          </a:prstGeom>
          <a:noFill/>
          <a:ln w="38100">
            <a:solidFill>
              <a:srgbClr val="E973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 Lifecycle Management (ISLM)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5727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Orchestration Modules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901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ISLM, and the 7 orchestration capabilities it governs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7066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return-policy summarization use case and its business value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16382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51129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model, orchestration flow, prompts &amp; grounding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39867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315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Sync, deploy, and activate the scenario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7316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47914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120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the scenario via the ABAP AI SDK, incl. translation &amp; prompt-injection defense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D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463040" y="5596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925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experimentation to enterprise-ready GenAI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ISLM?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 Lifecycle Management </a:t>
            </a: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SAP's standardized framework for building, training, deploying, and managing machine-learning and AI use cases directly inside SAP S/4HANA and connected systems.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self-service control tower for every AI “scenario” running in your SAP landscape.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6035040" cy="2514600"/>
          </a:xfrm>
          <a:prstGeom prst="roundRect">
            <a:avLst>
              <a:gd name="adj" fmla="val 4364"/>
            </a:avLst>
          </a:prstGeom>
          <a:solidFill>
            <a:srgbClr val="F4F8FA"/>
          </a:solidFill>
          <a:ln/>
          <a:effectLst>
            <a:outerShdw blurRad="101600" dist="38100" dir="5400000" algn="bl" rotWithShape="0">
              <a:srgbClr val="36546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two SAP Fiori apps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Scenarios —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view, and configure available AI/ML scenarios (package, inputs, outputs, APIs).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Scenario Management — </a:t>
            </a: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deploy, activate, and monitor the models tied to those scenarios.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234440"/>
            <a:ext cx="4663440" cy="4800600"/>
          </a:xfrm>
          <a:prstGeom prst="roundRect">
            <a:avLst>
              <a:gd name="adj" fmla="val 2745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deployment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69480" y="20116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245059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SAP S/4HANA using SAP HANA ML (APL / PAL) — real-time, in-memory inference with no data movement.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9480" y="388620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4325112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separate stack (e.g. SAP AI Core / BTP) for advanced workloads — image recognition, NLP, deep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Is Involved: The Scenario Lifecycle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automates every stage a machine-learning model goes through inside SAP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36546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intelligent scenario — its inputs, outputs, and business purpose — as an ABAP representation of an ML use case.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36546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11880" y="31089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scenario on historical business data using SAP HANA ML or SAP AI Core to produce a model artifact.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365468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4652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Activate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trained model into production so business apps can call it for live inference.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36546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81160" y="2560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Retrain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281160" y="310896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accuracy and drift, then retrain and version models to keep predictions reliable over time.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• HANA ML (APL/PAL) • SAP Fiori apps power every stage above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 of ISLM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36546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time-to-value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Pre-built, out-of-the-box scenarios for finance, supply chain, and customer management mean AI can be activated without building models from zero.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36546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tower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self-service interface manages the full model lifecycle — no juggling separate tools for training, deployment, and monitoring.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36546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69680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in-context insight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75320" y="2148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runs inside S/4HANA, so predictions surface directly inside the transactions people already work 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36546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721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explainable AI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77240" y="4297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monitoring and explainability keep model accuracy and compliance visible, supporting audit and trust requirements.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5204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36546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3749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0" y="3721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the workload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26280" y="4297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Embedded AI for low-latency, high-volume tasks or Side-by-Side AI for heavier workloads like NLP and image recognition.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5204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365468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3749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69680" y="3721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lifecycle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75320" y="42976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and versioning keep models current as business data and conditions evolve, protecting long-term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39660-271E-771E-A237-6CD345D9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8EE97E-EB60-097D-F5B6-DDDE014F1A1B}"/>
              </a:ext>
            </a:extLst>
          </p:cNvPr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215F35-4175-19F6-AF1B-28C04D990F7A}"/>
              </a:ext>
            </a:extLst>
          </p:cNvPr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557589-D961-F7DA-ACFC-3CCA7AF0608A}"/>
              </a:ext>
            </a:extLst>
          </p:cNvPr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3BEDC9-0A5E-F70F-02F5-4E20DA5CB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596" y="965594"/>
            <a:ext cx="8980443" cy="505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59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Case: Return Policy Summarization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fictional sports brands — Company Alpha and Company Beta — maintain different return policies with varying rules, timelines, and exceptions.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Scenario automatically extracts and summarizes key information: return criteria, validity timelines, refund processes.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removes the need for support teams to read lengthy documents, reducing ambiguity and speeding up query responses.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32A4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Support Queries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214884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0A6ED1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1488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item still eligible for return?”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292608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0A6ED1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9260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customized products refundable?”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70332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0A6ED1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70332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long will the refund take?”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617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ISLM: policy docs are uploaded for grounding → queries flow through orchestration → the LLM extracts clauses and generates structured responses.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6E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to Create Intelligent Scenarios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model, orchestration execution flow, prompt templates, and grounding documents in the Fiori app.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the Intelligent Scenarios App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browser and navigate to the SAP Fiori Launchpad (system already logged in).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“Analytics” tab, launch the “Intelligent Scenarios” application.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8" name="Picture 17" descr="Intelligent Scenarios">
            <a:extLst>
              <a:ext uri="{FF2B5EF4-FFF2-40B4-BE49-F238E27FC236}">
                <a16:creationId xmlns:a16="http://schemas.microsoft.com/office/drawing/2014/main" id="{9045EE9E-E872-4C8D-EBA1-B8A68FEC7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648"/>
          <a:stretch>
            <a:fillRect/>
          </a:stretch>
        </p:blipFill>
        <p:spPr>
          <a:xfrm>
            <a:off x="5235561" y="1563624"/>
            <a:ext cx="6524413" cy="42982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Side-by-Side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Create button.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Side-by-Side as the scenario deployment type.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IntelligentScenario/02.png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E273AD45-A652-AA97-57E7-5F826B60F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555" y="1537248"/>
            <a:ext cx="6999111" cy="37835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Scenario 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Settings tab, select Generative AI as the Scenario Type.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IntelligentScenario/02.jpg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F294BD59-0DDE-FEB9-47CA-F830D2A8F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2685444"/>
            <a:ext cx="9144000" cy="33313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Scenario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unique Scenario name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IntelligentScenario/03.jpg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3B06D047-9C95-4D13-C0BC-BEC18EDF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33" y="1521553"/>
            <a:ext cx="9143999" cy="3997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description: “Summarize Return Policy Document”.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C6A1F6D3-C247-4F16-3E72-710704516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494619"/>
            <a:ext cx="9144000" cy="38723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Usage 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338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Stateless – Customer as the Usage Type.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uses a shared connectivity model: one connection between ABAP and SAP Generative AI Hub, reused across use cases — simplifying admin and governance.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77E71B87-FCDB-2F99-6B04-044BADF8B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23" y="2760496"/>
            <a:ext cx="9143999" cy="41432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Generative AI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Add Model and maintain the required details.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IntelligentScenario/06.jpg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5DE595C5-A317-51D0-B3D4-CA748F5E3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467450"/>
            <a:ext cx="9144000" cy="39347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model name: Z_POL_DOC_SUMMARIZE_MOD.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description: “Model with orchestration modules”.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IntelligentScenario/07.jpg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FC1F23D5-DBEB-5BFC-AA93-82789DF01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633" y="1695399"/>
            <a:ext cx="7403367" cy="35220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Executable 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4107" y="1154784"/>
            <a:ext cx="7669671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appropriate Executable ID from the dropdown — in this case, azure-openai.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6AF1E29E-9CBB-991D-F940-F79D6D35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894" y="1749144"/>
            <a:ext cx="7930212" cy="40934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the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0240" y="1216152"/>
            <a:ext cx="1027740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corresponding model from the dropdown — in this exercise, gpt-5-mini.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C4095034-786D-3120-B444-68657EC1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91" y="1856232"/>
            <a:ext cx="7043702" cy="39669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Execution Flow Template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474027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Execution Flow Template on the model.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orchestration Execution Flow JSON (from config_json.txt) to integrate the orchestration service — use Upload or paste the JSON directly.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92440" y="32004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8FAF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47888" y="3310128"/>
            <a:ext cx="146304" cy="146304"/>
          </a:xfrm>
          <a:prstGeom prst="ellipse">
            <a:avLst/>
          </a:prstGeom>
          <a:solidFill>
            <a:srgbClr val="E9730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383280"/>
            <a:ext cx="777240" cy="365760"/>
          </a:xfrm>
          <a:prstGeom prst="triangle">
            <a:avLst/>
          </a:prstGeom>
          <a:solidFill>
            <a:srgbClr val="0A6ED1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4251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IntelligentScenario/4.jpg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5CC26366-DDBA-0723-B44B-FB312CB6B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676" y="1925766"/>
            <a:ext cx="9144000" cy="46523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Grounding — Data Repository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7662" y="1325880"/>
            <a:ext cx="10153227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Grounding subsection, add the required data repository type: vector.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grounding document addition for the scenario.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33C402AA-800B-998C-D4A4-FBFBC6B51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596" y="2073204"/>
            <a:ext cx="8376356" cy="44647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Grounding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39" y="1195268"/>
            <a:ext cx="11474027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Search Configuration value to restrict grounding module output during inference.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retrieves only relevant data instead of the entire uploaded document set.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24F96B08-5265-F3E6-1DC7-51CA1DF8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13" y="1892808"/>
            <a:ext cx="8393853" cy="45326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Filtering &amp; Translation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7F8EA2-2F62-E29E-0AA7-8A6C3A60D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28003"/>
            <a:ext cx="9144000" cy="48398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User Prompt Template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23 / 31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A3D7CB9-EA69-3805-0527-94F98BD66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371600"/>
            <a:ext cx="9144000" cy="488285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Grounding Documents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26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39" y="1224280"/>
            <a:ext cx="914399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grounding documents to the Intelligent Scenario.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7646F2C4-9AE9-D6AC-0C01-B226BE089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39" y="1508760"/>
            <a:ext cx="9144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the Scenario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30 / 31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085427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and enter the package as local object $TMP.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Intelligent Scenarios</a:t>
            </a:r>
            <a:endParaRPr lang="en-US" sz="900" dirty="0"/>
          </a:p>
        </p:txBody>
      </p:sp>
      <p:pic>
        <p:nvPicPr>
          <p:cNvPr id="15" name="Picture 14" descr="Intelligent Scenarios">
            <a:extLst>
              <a:ext uri="{FF2B5EF4-FFF2-40B4-BE49-F238E27FC236}">
                <a16:creationId xmlns:a16="http://schemas.microsoft.com/office/drawing/2014/main" id="{72E1FAD9-5E10-1AA9-387B-ADAAF700A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022" y="1371600"/>
            <a:ext cx="9144000" cy="48159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6E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to Operate Intelligent Scenario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Syncing, deploying, and activating the scenario in Intelligent Scenario Management before it can serve inference requests.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Scenario in Management App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9120" y="1051560"/>
            <a:ext cx="11466124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SAP Fiori Launchpad and, under “Analytics,” open the “Intelligent Scenario Management” app.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  <p:pic>
        <p:nvPicPr>
          <p:cNvPr id="21" name="Picture 20" descr="Intelligent Scenario Management">
            <a:extLst>
              <a:ext uri="{FF2B5EF4-FFF2-40B4-BE49-F238E27FC236}">
                <a16:creationId xmlns:a16="http://schemas.microsoft.com/office/drawing/2014/main" id="{23832BD0-E441-B74E-4CBF-D0FBB83CD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580288"/>
            <a:ext cx="9143999" cy="37030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the Scenario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6728" y="1051560"/>
            <a:ext cx="11553049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completes successfully with default training, since Gen AI is a pretrained model and reuse connectivity is already maintained.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  <p:pic>
        <p:nvPicPr>
          <p:cNvPr id="15" name="Picture 14" descr="Intelligent Scenario Management">
            <a:extLst>
              <a:ext uri="{FF2B5EF4-FFF2-40B4-BE49-F238E27FC236}">
                <a16:creationId xmlns:a16="http://schemas.microsoft.com/office/drawing/2014/main" id="{F72FD2C2-686F-A56E-1CE5-C1EE24866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08760"/>
            <a:ext cx="9143999" cy="48915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and Monitor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201702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Deploy, then choose Deploy and Monitor.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  <p:pic>
        <p:nvPicPr>
          <p:cNvPr id="15" name="Picture 14" descr="Intelligent Scenario Management">
            <a:extLst>
              <a:ext uri="{FF2B5EF4-FFF2-40B4-BE49-F238E27FC236}">
                <a16:creationId xmlns:a16="http://schemas.microsoft.com/office/drawing/2014/main" id="{C7EE888F-CA59-8F98-3D30-C2832F03D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704634"/>
            <a:ext cx="9144000" cy="48333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the Scenario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 / 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Activate, then choose Activate For All.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Scenario is now active and ready for prompt execution.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Intelligent Scenario</a:t>
            </a:r>
            <a:endParaRPr lang="en-US" sz="900" dirty="0"/>
          </a:p>
        </p:txBody>
      </p:sp>
      <p:pic>
        <p:nvPicPr>
          <p:cNvPr id="15" name="Picture 14" descr="Intelligent Scenario Management">
            <a:extLst>
              <a:ext uri="{FF2B5EF4-FFF2-40B4-BE49-F238E27FC236}">
                <a16:creationId xmlns:a16="http://schemas.microsoft.com/office/drawing/2014/main" id="{5E4411F4-AC96-17E6-FE31-F719C568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24" y="1978133"/>
            <a:ext cx="9143999" cy="4876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6ED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Execution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the Intelligent Scenario from ABAP using the ABAP AI SDK — including multilingual output and prompt-injection defense testing.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Program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8320" y="1216152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report program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  <p:pic>
        <p:nvPicPr>
          <p:cNvPr id="21" name="Picture 20" descr="Inference">
            <a:extLst>
              <a:ext uri="{FF2B5EF4-FFF2-40B4-BE49-F238E27FC236}">
                <a16:creationId xmlns:a16="http://schemas.microsoft.com/office/drawing/2014/main" id="{0DC36946-B7FC-D362-6553-C6297D61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023" y="1563624"/>
            <a:ext cx="9144000" cy="479123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the Program at Your Scenario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85313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Intelligent Scenario name to the one you created, Z_POL_DOC_SUMM_##, then Activate.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  <p:pic>
        <p:nvPicPr>
          <p:cNvPr id="15" name="Picture 14" descr="Inference">
            <a:extLst>
              <a:ext uri="{FF2B5EF4-FFF2-40B4-BE49-F238E27FC236}">
                <a16:creationId xmlns:a16="http://schemas.microsoft.com/office/drawing/2014/main" id="{D78CA917-6CF0-0482-6BD7-30403FFF3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474" y="1463040"/>
            <a:ext cx="8448571" cy="514773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Base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62849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Company Name = Alpha and press Execute.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  <p:pic>
        <p:nvPicPr>
          <p:cNvPr id="15" name="Picture 14" descr="Inference">
            <a:extLst>
              <a:ext uri="{FF2B5EF4-FFF2-40B4-BE49-F238E27FC236}">
                <a16:creationId xmlns:a16="http://schemas.microsoft.com/office/drawing/2014/main" id="{87D9B46B-8508-1BCE-F475-F73AA6CC5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327063"/>
            <a:ext cx="8930640" cy="27965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Output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8018" y="1108005"/>
            <a:ext cx="10058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executes with full orchestration capabilities — grounding, masking, filtering, and prompt templating all applied.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  <p:pic>
        <p:nvPicPr>
          <p:cNvPr id="15" name="Picture 14" descr="Inference">
            <a:extLst>
              <a:ext uri="{FF2B5EF4-FFF2-40B4-BE49-F238E27FC236}">
                <a16:creationId xmlns:a16="http://schemas.microsoft.com/office/drawing/2014/main" id="{93F8D40A-9F0A-936C-9588-C24A78C23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814" y="1390226"/>
            <a:ext cx="9108371" cy="514773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6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Translation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/ 17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39" y="1096715"/>
            <a:ext cx="10559627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output translation, log in to the system with the DE (German) language.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into SAP S/4HANA with ISLM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Execution (ABAP AI SDK)</a:t>
            </a:r>
            <a:endParaRPr lang="en-US" sz="900" dirty="0"/>
          </a:p>
        </p:txBody>
      </p:sp>
      <p:pic>
        <p:nvPicPr>
          <p:cNvPr id="15" name="Picture 14" descr="Inference">
            <a:extLst>
              <a:ext uri="{FF2B5EF4-FFF2-40B4-BE49-F238E27FC236}">
                <a16:creationId xmlns:a16="http://schemas.microsoft.com/office/drawing/2014/main" id="{B2A59F59-5DE6-2618-69C5-52F66A73A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21" y="1691075"/>
            <a:ext cx="8439780" cy="481527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0A6ED1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Experimentation to Operational Reality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delivers real enterprise value when embedded directly into business processes with the right governance, scalability, and control.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provides that foundation: structured creation, orchestration, deployment, and lifecycle management of AI scenarios within SAP S/4HANA.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Grounding, Content Filtering, Data Masking, multilingual support, reusable connectivity, and expanded model support turn GenAI from experiment into operational reality.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 and take your Generative AI innovation to the next level with ISLM.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2027</Words>
  <Application>Microsoft Office PowerPoint</Application>
  <PresentationFormat>Widescreen</PresentationFormat>
  <Paragraphs>314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Akhil George</cp:lastModifiedBy>
  <cp:revision>3</cp:revision>
  <dcterms:created xsi:type="dcterms:W3CDTF">2026-07-16T07:07:05Z</dcterms:created>
  <dcterms:modified xsi:type="dcterms:W3CDTF">2026-07-17T04:59:04Z</dcterms:modified>
</cp:coreProperties>
</file>