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we're going deep on agentic systems: not just prompting an LLM, but building systems that plan, remember, use tools, and get coordinated by an orchestration layer safely in production. This is a 60+ minute technical session, expect architecture diagrams, framework comparisons, and concrete patterns you can take back to your codebase. Seven sections: foundations, memory, tool use, frameworks, orchestration, workflows,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walk through the roadmap. We'll build up in layers: start with what an agent actually is, then add memory so it has state, then tool use so it can act on the world, then look at frameworks that give you scaffolding, then the orchestration layer that coordinates multiple agents, workflow patterns for composing steps reliably, and finally governance, because none of this is production-ready without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ground the term 'agent' before we go further, it gets used loosely. By the end of this section you should be able to say precisely why a given system is or isn't an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definition: an agent is an LLM in a loop, deciding its own next action rather than just producing one response. Walk through the four traits on the left, then the loop diagram: perceive the current state, reason about what to do, act by calling a tool or producing output, observe the result, and repeat until the goal is met or a stopping condition fires. Emphasize that the LLM itself is the controller in the middle of this loop, not a human deciding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spectrum runs left to right by degree of autonomy. A fixed script executes predetermined steps, it has no reasoning and breaks the moment reality diverges from the plan. A chatbot adds an LLM but keeps a human in the loop every turn, there's no persistent goal beyond the current message. An agent is different in kind, not just degree: it holds a goal, decides its own next action, calls tools, and revises its plan based on what happens. That's the line we're drawing throughout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to carry through the rest of the talk. At the center is the LLM, doing reasoning. Everything else is scaffolding around it: memory feeds it context, tools let it act on the world, the planner breaks a goal into steps, and the orchestration layer coordinates when there's more than one agent involved. We'll spend a full section on each of memory, tools, and orchestration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what separates a one-shot LLM call from something that behaves consistently across a long task or across sessions. We'll cover memory types first, then the implementation patterns that actually make them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types worth distinguishing, borrowed loosely from cognitive science. Short-term or working memory is just the context window: what's in front of the model right now. Episodic memory is 'what happened in past runs' — useful for an agent that handles recurring tasks. Semantic memory is durable facts, this is what most people mean when they say RAG or long-term memory. Procedural memory is 'how to do things', often just baked into your tool definitions and system prompt rather than retrieved at runtime. Most production agents combine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patterns you'll actually implement. Context window management is the baseline discipline — decide what stays and what gets dropped. Retrieval, or RAG, is the standard way to bring in knowledge that doesn't fit in context: embed it, index it, pull the top-k relevant pieces per turn. Summarization handles long-running agents where the raw history would blow the budget — compact old turns into a running summary. Scratchpad or file-based state is underrated: letting the agent read and write files or a key-value store gives it memory that survives context resets and is trivial to debug because you can just open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it together: the agent core sits in the middle. Working memory and the scratchpad are cheap and always available, they're part of every prompt. The vector store and episodic log are external and queried selectively — you don't want to pull from them on every single turn, only when the current step actually needs external knowledge or history. That selectivity is itself a reasoning step the agent, or a retrieval policy in front of it, has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gives an agent state; tools give it the ability to act. This section covers how tool calling actually works under the hood and the design choices that make tools reliable versus flaky.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mechanics are simpler than people expect. You give the model a JSON schema describing available tools — name, description, and parameters. The model, when it decides a tool is needed, emits a structured call matching that schema. Critically, the model never executes anything, your application code does, then feeds the result back as a message. The model keeps reasoning with that new information. The description field on the right is doing a lot of work, it's effectively the model's only documentation for when and how to use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patterns you'll use constantly. ReAct — reason plus act — is the foundational loop: the model thinks a bit, calls a tool, observes the result, thinks again. Most agent frameworks are ReAct under the hood even when they don't call it that. Parallel tool calls matter for latency — if a step needs three independent lookups, fire them together instead of round-tripping three times. Tool routing matters at scale: once you have thirty or forty tools, dumping the whole list into every prompt hurts accuracy and cost, so you pre-filter to the relevant subset.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design is prompt engineering, most teams underinvest here. Vague descriptions cause the model to guess, which shows up as wrong tool selection. Overlapping tools split probability mass and cause flaky choices between them. Overly broad tools like a raw SQL runner push all the safety burden onto the model, which is the wrong place for it. And silent failures are the worst: if a tool fails, return a structured error the model can reason about, rather than an empty result it might mistake for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Frameworks aren't magic, they're mostly opinionated scaffolding around the loop, memory, and tool patterns we've just covered. We'll look at the landscape, then compare on the dimensions that actually matter for choosing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tour of the landscape as of today. LangGraph models your agent as an explicit graph of nodes and edges, great when you need fine control over state and branching. CrewAI leans into a role-based mental model, agents have job titles and responsibilities. AutoGen is Microsoft's take, agents talk to each other in a conversation structure. Semantic Kernel is enterprise-flavored with a planner abstraction. OpenAI's Agents SDK is deliberately minimal, agents, handoffs, guardrails as the whole vocabulary. And plenty of production teams just hand-roll it in-house once they understand the loop well enough, especially when governance requirements are 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decision aid, not a leaderboard, there's no universally-best framework. If you need explicit control over branching state, LangGraph. If you're prototyping a role-based team quickly, CrewAI. If you're exploring multi-agent conversation patterns in research, AutoGen. Enterprise .NET or Java shops often land on Semantic Kernel. If you want the smallest possible abstraction on top of the raw API, the OpenAI Agents SDK. And if your governance requirements are unusual — heavy audit trails, custom approval gates — hand-rolling often beats fighting a framework's opinions.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have more than one agent, or even one agent with several tools and a long task, you need something coordinating the whole thing. That's the orchestration layer — this section covers what it does and the common topology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responsibilities the orchestration layer owns so individual agents don't have to. Routing decides who handles what. State management is the shared source of truth — this is often the hardest part to get right in multi-agent systems. Coordination handles sequencing and handoffs. Error handling means the orchestration layer, not the LLM, decides retry policy and fallbacks. And cost and latency control is where you enforce budgets — cap tool calls, cap tokens, choose a cheaper model for simple sub-tasks.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topologies cover most real systems. Supervisor is the most common starting point: one controller delegates to workers and integrates results, easy to reason about and debug. Hierarchical scales that up when you have enough agents that one supervisor becomes a bottleneck — supervisors of supervisors. Pipeline is the simplest, fixed order, each agent's output feeds the next, great when the process really is linear. Blackboard is the most flexible and the hardest to control: agents read and write shared state independently with no fixed order, powerful for open-ended problems but you need strong conflict handling on the shared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problem needs a fully autonomous agent. Often a fixed workflow of LLM calls, some agentic, some not, is more reliable and cheaper. This section covers the patterns worth having in your toolbox.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deliberately practical distinction, from Anthropic's and others' published guidance on building with LLMs. A deterministic workflow has a fixed sequence baked into your code — an LLM might power individual steps, but your code decides what runs next. An agentic workflow hands that control-flow decision to the model itself. The tradeoff is predictability versus flexibility. Default to deterministic workflows when you can fully specify the process; reach for agentic only when the path genuinely can't be known upfront. Most production systems are a deterministic workflow with one or two agentic steps embedded, not agents all the way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patterns, popularized in Anthropic's 'Building Effective Agents' writeup, that cover most real workflows. Prompt chaining is the simplest — a fixed pipeline, each step's output feeds the next. Routing adds a classifier step upfront that sends different inputs down different specialized paths. Parallelization runs independent sub-tasks concurrently and aggregates. Orchestrator-workers is dynamic decomposition — a lead step figures out the sub-tasks at runtime and dispatches them, this is the pattern behind most 'research agent' style systems. Evaluator-optimizer adds a critique loop: one step generates, another grades it, and it loops until the output clears a bar. These compose — a real system often nests several of these inside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showing patterns, let's be precise about what 'multi-agent' actually buys you. A single generalist agent puts every responsibility into one prompt and one context window — that works fine for small tasks but degrades as scope grows, the model has to juggle too much at once. A multi-agent workflow splits that up: each agent gets a narrow role, its own focused context, and its own tools, and agents pass structured results to each other rather than sharing one giant context. The payoff is that you can scale, debug, and swap pieces independently — the cost is added coordination complexity, which is exactly what the orchestration layer we just covered exists to manage.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patterns cover most multi-agent workflows you'll actually build. Sequential handoff is the most common starting point — research, then write, then edit, each a separate agent, output feeds forward. Parallel fan-out/fan-in speeds things up when subtasks are independent — several agents work at once, then you merge. Manager-worker delegation adds dynamic assignment — useful when task load varies and you don't want a fixed sequence, the manager decides who picks up what. Debate and consensus is the reliability play — when a task is hard enough that one agent's answer might be wrong, run it twice independently and have a judge reconcile the two, similar in spirit to the evaluator-optimizer pattern but with two independent generators instead of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collections scenario from our earlier SAP proposal, mapped onto everything we've covered today. It's a sequential handoff workflow: intake and classification, then a risk-assessment agent that pulls payment history from memory, then a drafting agent that generates a tone-matched email, then — critically — a human approval gate before anything sends, and finally a send-and-log step that executes the action and writes to the audit trail. Notice this is mostly a deterministic workflow, not a free-roaming agent: the sequence is fixed in code, only the content generation inside each step is agentic. That's deliberate — this is exactly the kind of system where predictability and a governance gate matter more than autonomy.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up to this point makes an agent capable. Governance is what makes it safe to actually run in production, against real systems, with real consequences for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failure modes that make governance non-optional once an agent touches real systems. Hallucinated actions: the model calls a real tool with made-up or wrong arguments, confidently. Runaway cost or loops: without a budget, a stuck agent will happily retry forever. Unsafe or irreversible actions: sending an email, deleting a record, moving money, these need a different bar than read-only lookups. And compliance gaps: if you can't show what the agent did and why, you can't audit it, and in regulated environments that's disqualifying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guardrails that belong in the orchestration layer, not left to the model to self-police. Input validation screens what reaches the model at all — this is your main defense against prompt injection from untrusted content. Output validation checks the model's proposed action against schema and policy before anything executes. Human-in-the-loop gates put a person in front of the highest-stakes actions — this is the single highest-leverage guardrail for anything irreversible. And permission scoping means each agent and each tool gets the narrowest credentials it needs, so a mistake or a jailbreak has a small blast radius.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observability stack has four layers. Tracing gives you the full step-by-step record of a single run — essential for debugging why an agent did what it did. Structured logging makes that queryable at scale across runs. Evals are the difference between hoping quality is good and knowing it — score outputs against a test set continuously, not just when something breaks. And cost and latency dashboards give you the operational picture, broken down per agent and per tool so you know exactly where spend is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talk in one diagram. At the bottom, execution: the actual tools, APIs, and sub-agents that touch the real world. Above that, the agent core we covered in foundations and memory: planning, memory, tool calling. Above that, orchestration: routing, shared state, error handling, coordinating across agents. And governance sits on top of and around everything, not as an afterthought bolted on at the end but as a layer that constrains what every layer below it is allowed to do. If you remember one diagram from this talk, it's this one — it's the checklist for 'is this system production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worth remembering after everyone forgets the rest of the deck. One: an agent is defined by the loop, not by any particular framework or prompt style. Two: memory and tools are what turn reasoning into actual capability, an agent with neither is just a chatbot. Three: frameworks are scaffolding, choose based on your topology and control needs. Four: default to deterministic workflows, only reach for full agentic control flow when the path genuinely can't be specified upfront. Five: governance is architecture, not an afterthought, bake it in from day one, especially before anything touches production data or irreversible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it up for questions. Good prompts if the room is quiet: which of the four orchestration topologies maps to a problem you're currently working on? Where in your own systems would a human-approval gate actually need to sit? Happy to go deeper on any single section, memory implementation and governance guardrails tend to generate the most follow-up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2.png"/><Relationship Id="rId4" Type="http://schemas.openxmlformats.org/officeDocument/2006/relationships/image" Target="../media/image-20-2.png"/><Relationship Id="rId5" Type="http://schemas.openxmlformats.org/officeDocument/2006/relationships/image" Target="../media/image-20-2.png"/><Relationship Id="rId6" Type="http://schemas.openxmlformats.org/officeDocument/2006/relationships/image" Target="../media/image-20-1.png"/><Relationship Id="rId7" Type="http://schemas.openxmlformats.org/officeDocument/2006/relationships/image" Target="../media/image-20-1.png"/><Relationship Id="rId8" Type="http://schemas.openxmlformats.org/officeDocument/2006/relationships/image" Target="../media/image-20-2.png"/><Relationship Id="rId9" Type="http://schemas.openxmlformats.org/officeDocument/2006/relationships/image" Target="../media/image-20-2.png"/><Relationship Id="rId10" Type="http://schemas.openxmlformats.org/officeDocument/2006/relationships/image" Target="../media/image-20-1.png"/><Relationship Id="rId11" Type="http://schemas.openxmlformats.org/officeDocument/2006/relationships/image" Target="../media/image-20-2.png"/><Relationship Id="rId12" Type="http://schemas.openxmlformats.org/officeDocument/2006/relationships/image" Target="../media/image-20-2.png"/><Relationship Id="rId13" Type="http://schemas.openxmlformats.org/officeDocument/2006/relationships/image" Target="../media/image-20-13.png"/><Relationship Id="rId14" Type="http://schemas.openxmlformats.org/officeDocument/2006/relationships/image" Target="../media/image-20-13.png"/><Relationship Id="rId15" Type="http://schemas.openxmlformats.org/officeDocument/2006/relationships/image" Target="../media/image-20-13.png"/><Relationship Id="rId16" Type="http://schemas.openxmlformats.org/officeDocument/2006/relationships/image" Target="../media/image-20-13.png"/><Relationship Id="rId17" Type="http://schemas.openxmlformats.org/officeDocument/2006/relationships/image" Target="../media/image-20-2.png"/><Relationship Id="rId18" Type="http://schemas.openxmlformats.org/officeDocument/2006/relationships/image" Target="../media/image-20-2.png"/><Relationship Id="rId19" Type="http://schemas.openxmlformats.org/officeDocument/2006/relationships/image" Target="../media/image-20-2.png"/><Relationship Id="rId20" Type="http://schemas.openxmlformats.org/officeDocument/2006/relationships/image" Target="../media/image-20-2.png"/><Relationship Id="rId21" Type="http://schemas.openxmlformats.org/officeDocument/2006/relationships/slideLayout" Target="../slideLayouts/slideLayout1.xml"/><Relationship Id="rId2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42E"/>
        </a:solidFill>
      </p:bgPr>
    </p:bg>
    <p:spTree>
      <p:nvGrpSpPr>
        <p:cNvPr id="1" name=""/>
        <p:cNvGrpSpPr/>
        <p:nvPr/>
      </p:nvGrpSpPr>
      <p:grpSpPr>
        <a:xfrm>
          <a:off x="0" y="0"/>
          <a:ext cx="0" cy="0"/>
          <a:chOff x="0" y="0"/>
          <a:chExt cx="0" cy="0"/>
        </a:xfrm>
      </p:grpSpPr>
      <p:sp>
        <p:nvSpPr>
          <p:cNvPr id="2" name="Shape 0"/>
          <p:cNvSpPr/>
          <p:nvPr/>
        </p:nvSpPr>
        <p:spPr>
          <a:xfrm flipV="1">
            <a:off x="9326880" y="822960"/>
            <a:ext cx="1280160" cy="365760"/>
          </a:xfrm>
          <a:prstGeom prst="line">
            <a:avLst/>
          </a:prstGeom>
          <a:noFill/>
          <a:ln w="15875">
            <a:solidFill>
              <a:srgbClr val="35386E"/>
            </a:solidFill>
            <a:prstDash val="solid"/>
          </a:ln>
        </p:spPr>
      </p:sp>
      <p:sp>
        <p:nvSpPr>
          <p:cNvPr id="3" name="Shape 1"/>
          <p:cNvSpPr/>
          <p:nvPr/>
        </p:nvSpPr>
        <p:spPr>
          <a:xfrm>
            <a:off x="10607040" y="822960"/>
            <a:ext cx="822960" cy="914400"/>
          </a:xfrm>
          <a:prstGeom prst="line">
            <a:avLst/>
          </a:prstGeom>
          <a:noFill/>
          <a:ln w="15875">
            <a:solidFill>
              <a:srgbClr val="35386E"/>
            </a:solidFill>
            <a:prstDash val="solid"/>
          </a:ln>
        </p:spPr>
      </p:sp>
      <p:sp>
        <p:nvSpPr>
          <p:cNvPr id="4" name="Shape 2"/>
          <p:cNvSpPr/>
          <p:nvPr/>
        </p:nvSpPr>
        <p:spPr>
          <a:xfrm>
            <a:off x="9326880" y="1188720"/>
            <a:ext cx="822960" cy="1097280"/>
          </a:xfrm>
          <a:prstGeom prst="line">
            <a:avLst/>
          </a:prstGeom>
          <a:noFill/>
          <a:ln w="15875">
            <a:solidFill>
              <a:srgbClr val="35386E"/>
            </a:solidFill>
            <a:prstDash val="solid"/>
          </a:ln>
        </p:spPr>
      </p:sp>
      <p:sp>
        <p:nvSpPr>
          <p:cNvPr id="5" name="Shape 3"/>
          <p:cNvSpPr/>
          <p:nvPr/>
        </p:nvSpPr>
        <p:spPr>
          <a:xfrm flipV="1">
            <a:off x="9144000" y="2286000"/>
            <a:ext cx="1005840" cy="91440"/>
          </a:xfrm>
          <a:prstGeom prst="line">
            <a:avLst/>
          </a:prstGeom>
          <a:noFill/>
          <a:ln w="15875">
            <a:solidFill>
              <a:srgbClr val="35386E"/>
            </a:solidFill>
            <a:prstDash val="solid"/>
          </a:ln>
        </p:spPr>
      </p:sp>
      <p:sp>
        <p:nvSpPr>
          <p:cNvPr id="6" name="Shape 4"/>
          <p:cNvSpPr/>
          <p:nvPr/>
        </p:nvSpPr>
        <p:spPr>
          <a:xfrm flipV="1">
            <a:off x="10149840" y="1737360"/>
            <a:ext cx="1280160" cy="548640"/>
          </a:xfrm>
          <a:prstGeom prst="line">
            <a:avLst/>
          </a:prstGeom>
          <a:noFill/>
          <a:ln w="15875">
            <a:solidFill>
              <a:srgbClr val="35386E"/>
            </a:solidFill>
            <a:prstDash val="solid"/>
          </a:ln>
        </p:spPr>
      </p:sp>
      <p:sp>
        <p:nvSpPr>
          <p:cNvPr id="7" name="Shape 5"/>
          <p:cNvSpPr/>
          <p:nvPr/>
        </p:nvSpPr>
        <p:spPr>
          <a:xfrm flipV="1">
            <a:off x="11155680" y="1737360"/>
            <a:ext cx="274320" cy="1280160"/>
          </a:xfrm>
          <a:prstGeom prst="line">
            <a:avLst/>
          </a:prstGeom>
          <a:noFill/>
          <a:ln w="15875">
            <a:solidFill>
              <a:srgbClr val="35386E"/>
            </a:solidFill>
            <a:prstDash val="solid"/>
          </a:ln>
        </p:spPr>
      </p:sp>
      <p:sp>
        <p:nvSpPr>
          <p:cNvPr id="8" name="Shape 6"/>
          <p:cNvSpPr/>
          <p:nvPr/>
        </p:nvSpPr>
        <p:spPr>
          <a:xfrm>
            <a:off x="10149840" y="2286000"/>
            <a:ext cx="1005840" cy="731520"/>
          </a:xfrm>
          <a:prstGeom prst="line">
            <a:avLst/>
          </a:prstGeom>
          <a:noFill/>
          <a:ln w="15875">
            <a:solidFill>
              <a:srgbClr val="35386E"/>
            </a:solidFill>
            <a:prstDash val="solid"/>
          </a:ln>
        </p:spPr>
      </p:sp>
      <p:sp>
        <p:nvSpPr>
          <p:cNvPr id="9" name="Shape 7"/>
          <p:cNvSpPr/>
          <p:nvPr/>
        </p:nvSpPr>
        <p:spPr>
          <a:xfrm>
            <a:off x="9272016" y="1133856"/>
            <a:ext cx="109728" cy="109728"/>
          </a:xfrm>
          <a:prstGeom prst="ellipse">
            <a:avLst/>
          </a:prstGeom>
          <a:solidFill>
            <a:srgbClr val="22D3EE"/>
          </a:solidFill>
          <a:ln/>
        </p:spPr>
      </p:sp>
      <p:sp>
        <p:nvSpPr>
          <p:cNvPr id="10" name="Shape 8"/>
          <p:cNvSpPr/>
          <p:nvPr/>
        </p:nvSpPr>
        <p:spPr>
          <a:xfrm>
            <a:off x="10552176" y="768096"/>
            <a:ext cx="109728" cy="109728"/>
          </a:xfrm>
          <a:prstGeom prst="ellipse">
            <a:avLst/>
          </a:prstGeom>
          <a:solidFill>
            <a:srgbClr val="4F5BD5"/>
          </a:solidFill>
          <a:ln/>
        </p:spPr>
      </p:sp>
      <p:sp>
        <p:nvSpPr>
          <p:cNvPr id="11" name="Shape 9"/>
          <p:cNvSpPr/>
          <p:nvPr/>
        </p:nvSpPr>
        <p:spPr>
          <a:xfrm>
            <a:off x="11375136" y="1682496"/>
            <a:ext cx="109728" cy="109728"/>
          </a:xfrm>
          <a:prstGeom prst="ellipse">
            <a:avLst/>
          </a:prstGeom>
          <a:solidFill>
            <a:srgbClr val="22D3EE"/>
          </a:solidFill>
          <a:ln/>
        </p:spPr>
      </p:sp>
      <p:sp>
        <p:nvSpPr>
          <p:cNvPr id="12" name="Shape 10"/>
          <p:cNvSpPr/>
          <p:nvPr/>
        </p:nvSpPr>
        <p:spPr>
          <a:xfrm>
            <a:off x="10094976" y="2231136"/>
            <a:ext cx="109728" cy="109728"/>
          </a:xfrm>
          <a:prstGeom prst="ellipse">
            <a:avLst/>
          </a:prstGeom>
          <a:solidFill>
            <a:srgbClr val="4F5BD5"/>
          </a:solidFill>
          <a:ln/>
        </p:spPr>
      </p:sp>
      <p:sp>
        <p:nvSpPr>
          <p:cNvPr id="13" name="Shape 11"/>
          <p:cNvSpPr/>
          <p:nvPr/>
        </p:nvSpPr>
        <p:spPr>
          <a:xfrm>
            <a:off x="9089136" y="2322576"/>
            <a:ext cx="109728" cy="109728"/>
          </a:xfrm>
          <a:prstGeom prst="ellipse">
            <a:avLst/>
          </a:prstGeom>
          <a:solidFill>
            <a:srgbClr val="22D3EE"/>
          </a:solidFill>
          <a:ln/>
        </p:spPr>
      </p:sp>
      <p:sp>
        <p:nvSpPr>
          <p:cNvPr id="14" name="Shape 12"/>
          <p:cNvSpPr/>
          <p:nvPr/>
        </p:nvSpPr>
        <p:spPr>
          <a:xfrm>
            <a:off x="11100816" y="2962656"/>
            <a:ext cx="109728" cy="109728"/>
          </a:xfrm>
          <a:prstGeom prst="ellipse">
            <a:avLst/>
          </a:prstGeom>
          <a:solidFill>
            <a:srgbClr val="4F5BD5"/>
          </a:solidFill>
          <a:ln/>
        </p:spPr>
      </p:sp>
      <p:sp>
        <p:nvSpPr>
          <p:cNvPr id="15" name="Text 13"/>
          <p:cNvSpPr/>
          <p:nvPr/>
        </p:nvSpPr>
        <p:spPr>
          <a:xfrm>
            <a:off x="822960" y="2011680"/>
            <a:ext cx="5486400" cy="320040"/>
          </a:xfrm>
          <a:prstGeom prst="rect">
            <a:avLst/>
          </a:prstGeom>
          <a:noFill/>
          <a:ln/>
        </p:spPr>
        <p:txBody>
          <a:bodyPr wrap="square" lIns="0" tIns="0" rIns="0" bIns="0" rtlCol="0" anchor="ctr"/>
          <a:lstStyle/>
          <a:p>
            <a:pPr indent="0" marL="0">
              <a:buNone/>
            </a:pPr>
            <a:r>
              <a:rPr lang="en-US" sz="1300" b="1" spc="300" kern="0" dirty="0">
                <a:solidFill>
                  <a:srgbClr val="22D3EE"/>
                </a:solidFill>
                <a:latin typeface="Calibri" pitchFamily="34" charset="0"/>
                <a:ea typeface="Calibri" pitchFamily="34" charset="-122"/>
                <a:cs typeface="Calibri" pitchFamily="34" charset="-120"/>
              </a:rPr>
              <a:t>A TECHNICAL DEEP DIVE</a:t>
            </a:r>
            <a:endParaRPr lang="en-US" sz="1300" dirty="0"/>
          </a:p>
        </p:txBody>
      </p:sp>
      <p:sp>
        <p:nvSpPr>
          <p:cNvPr id="16" name="Text 14"/>
          <p:cNvSpPr/>
          <p:nvPr/>
        </p:nvSpPr>
        <p:spPr>
          <a:xfrm>
            <a:off x="777240" y="2331720"/>
            <a:ext cx="8686800" cy="1920240"/>
          </a:xfrm>
          <a:prstGeom prst="rect">
            <a:avLst/>
          </a:prstGeom>
          <a:noFill/>
          <a:ln/>
        </p:spPr>
        <p:txBody>
          <a:bodyPr wrap="square" lIns="0" tIns="0" rIns="0" bIns="0" rtlCol="0" anchor="ctr"/>
          <a:lstStyle/>
          <a:p>
            <a:pPr indent="0" marL="0">
              <a:lnSpc>
                <a:spcPct val="105000"/>
              </a:lnSpc>
              <a:buNone/>
            </a:pPr>
            <a:r>
              <a:rPr lang="en-US" sz="5200" b="1" dirty="0">
                <a:solidFill>
                  <a:srgbClr val="FFFFFF"/>
                </a:solidFill>
                <a:latin typeface="Cambria" pitchFamily="34" charset="0"/>
                <a:ea typeface="Cambria" pitchFamily="34" charset="-122"/>
                <a:cs typeface="Cambria" pitchFamily="34" charset="-120"/>
              </a:rPr>
              <a:t>AI Agents</a:t>
            </a:r>
            <a:endParaRPr lang="en-US" sz="5200" dirty="0"/>
          </a:p>
          <a:p>
            <a:pPr indent="0" marL="0">
              <a:lnSpc>
                <a:spcPct val="105000"/>
              </a:lnSpc>
              <a:buNone/>
            </a:pPr>
            <a:r>
              <a:rPr lang="en-US" sz="5200" b="1" dirty="0">
                <a:solidFill>
                  <a:srgbClr val="FFFFFF"/>
                </a:solidFill>
                <a:latin typeface="Cambria" pitchFamily="34" charset="0"/>
                <a:ea typeface="Cambria" pitchFamily="34" charset="-122"/>
                <a:cs typeface="Cambria" pitchFamily="34" charset="-120"/>
              </a:rPr>
              <a:t>&amp; Orchestration</a:t>
            </a:r>
            <a:endParaRPr lang="en-US" sz="5200" dirty="0"/>
          </a:p>
        </p:txBody>
      </p:sp>
      <p:sp>
        <p:nvSpPr>
          <p:cNvPr id="17" name="Text 15"/>
          <p:cNvSpPr/>
          <p:nvPr/>
        </p:nvSpPr>
        <p:spPr>
          <a:xfrm>
            <a:off x="822960" y="4343400"/>
            <a:ext cx="7589520" cy="731520"/>
          </a:xfrm>
          <a:prstGeom prst="rect">
            <a:avLst/>
          </a:prstGeom>
          <a:noFill/>
          <a:ln/>
        </p:spPr>
        <p:txBody>
          <a:bodyPr wrap="square" lIns="0" tIns="0" rIns="0" bIns="0" rtlCol="0" anchor="ctr"/>
          <a:lstStyle/>
          <a:p>
            <a:pPr indent="0" marL="0">
              <a:buNone/>
            </a:pPr>
            <a:r>
              <a:rPr lang="en-US" sz="1500" dirty="0">
                <a:solidFill>
                  <a:srgbClr val="8B90B3"/>
                </a:solidFill>
                <a:latin typeface="Calibri" pitchFamily="34" charset="0"/>
                <a:ea typeface="Calibri" pitchFamily="34" charset="-122"/>
                <a:cs typeface="Calibri" pitchFamily="34" charset="-120"/>
              </a:rPr>
              <a:t>Memory, tool use, agent frameworks, orchestration layers, workflows, and governance for production-grade agentic systems.</a:t>
            </a:r>
            <a:endParaRPr lang="en-US" sz="1500" dirty="0"/>
          </a:p>
        </p:txBody>
      </p:sp>
      <p:sp>
        <p:nvSpPr>
          <p:cNvPr id="18" name="Shape 16"/>
          <p:cNvSpPr/>
          <p:nvPr/>
        </p:nvSpPr>
        <p:spPr>
          <a:xfrm>
            <a:off x="822960" y="5257800"/>
            <a:ext cx="914400" cy="0"/>
          </a:xfrm>
          <a:prstGeom prst="line">
            <a:avLst/>
          </a:prstGeom>
          <a:noFill/>
          <a:ln w="31750">
            <a:solidFill>
              <a:srgbClr val="22D3EE"/>
            </a:solidFill>
            <a:prstDash val="solid"/>
          </a:ln>
        </p:spPr>
      </p:sp>
      <p:sp>
        <p:nvSpPr>
          <p:cNvPr id="19" name="Text 17"/>
          <p:cNvSpPr/>
          <p:nvPr/>
        </p:nvSpPr>
        <p:spPr>
          <a:xfrm>
            <a:off x="822960" y="5394960"/>
            <a:ext cx="5486400" cy="320040"/>
          </a:xfrm>
          <a:prstGeom prst="rect">
            <a:avLst/>
          </a:prstGeom>
          <a:noFill/>
          <a:ln/>
        </p:spPr>
        <p:txBody>
          <a:bodyPr wrap="square" lIns="0" tIns="0" rIns="0" bIns="0" rtlCol="0" anchor="ctr"/>
          <a:lstStyle/>
          <a:p>
            <a:pPr indent="0" marL="0">
              <a:buNone/>
            </a:pPr>
            <a:r>
              <a:rPr lang="en-US" sz="1200" dirty="0">
                <a:solidFill>
                  <a:srgbClr val="6B7099"/>
                </a:solidFill>
                <a:latin typeface="Calibri" pitchFamily="34" charset="0"/>
                <a:ea typeface="Calibri" pitchFamily="34" charset="-122"/>
                <a:cs typeface="Calibri" pitchFamily="34" charset="-120"/>
              </a:rPr>
              <a:t>Engineering Session  ·  60+ Minutes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640080" y="1600200"/>
            <a:ext cx="3520440" cy="1691640"/>
          </a:xfrm>
          <a:prstGeom prst="roundRect">
            <a:avLst>
              <a:gd name="adj" fmla="val 4324"/>
            </a:avLst>
          </a:prstGeom>
          <a:solidFill>
            <a:srgbClr val="F5F6FB"/>
          </a:solidFill>
          <a:ln/>
          <a:effectLst>
            <a:outerShdw sx="100000" sy="100000" kx="0" ky="0" algn="bl" rotWithShape="0" blurRad="101600" dist="38100" dir="5400000">
              <a:srgbClr val="12142E">
                <a:alpha val="10000"/>
              </a:srgbClr>
            </a:outerShdw>
          </a:effectLst>
        </p:spPr>
      </p:sp>
      <p:sp>
        <p:nvSpPr>
          <p:cNvPr id="5" name="Shape 3"/>
          <p:cNvSpPr/>
          <p:nvPr/>
        </p:nvSpPr>
        <p:spPr>
          <a:xfrm>
            <a:off x="896112" y="1856232"/>
            <a:ext cx="566928" cy="566928"/>
          </a:xfrm>
          <a:prstGeom prst="ellipse">
            <a:avLst/>
          </a:prstGeom>
          <a:solidFill>
            <a:srgbClr val="12142E"/>
          </a:solidFill>
          <a:ln/>
        </p:spPr>
      </p:sp>
      <p:pic>
        <p:nvPicPr>
          <p:cNvPr id="6" name="Image 0" descr="/home/claude/agents-deck/icons/brain_cyan.png">    </p:cNvPr>
          <p:cNvPicPr>
            <a:picLocks noChangeAspect="1"/>
          </p:cNvPicPr>
          <p:nvPr/>
        </p:nvPicPr>
        <p:blipFill>
          <a:blip r:embed="rId1"/>
          <a:stretch>
            <a:fillRect/>
          </a:stretch>
        </p:blipFill>
        <p:spPr>
          <a:xfrm>
            <a:off x="1043513" y="2003633"/>
            <a:ext cx="272125" cy="272125"/>
          </a:xfrm>
          <a:prstGeom prst="rect">
            <a:avLst/>
          </a:prstGeom>
        </p:spPr>
      </p:pic>
      <p:sp>
        <p:nvSpPr>
          <p:cNvPr id="7" name="Text 4"/>
          <p:cNvSpPr/>
          <p:nvPr/>
        </p:nvSpPr>
        <p:spPr>
          <a:xfrm>
            <a:off x="3474720" y="1801368"/>
            <a:ext cx="548640" cy="365760"/>
          </a:xfrm>
          <a:prstGeom prst="rect">
            <a:avLst/>
          </a:prstGeom>
          <a:noFill/>
          <a:ln/>
        </p:spPr>
        <p:txBody>
          <a:bodyPr wrap="square" lIns="0" tIns="0" rIns="0" bIns="0" rtlCol="0" anchor="ctr"/>
          <a:lstStyle/>
          <a:p>
            <a:pPr algn="r" indent="0" marL="0">
              <a:buNone/>
            </a:pPr>
            <a:r>
              <a:rPr lang="en-US" sz="1600" b="1" dirty="0">
                <a:solidFill>
                  <a:srgbClr val="C7C9E6"/>
                </a:solidFill>
                <a:latin typeface="Cambria" pitchFamily="34" charset="0"/>
                <a:ea typeface="Cambria" pitchFamily="34" charset="-122"/>
                <a:cs typeface="Cambria" pitchFamily="34" charset="-120"/>
              </a:rPr>
              <a:t>01</a:t>
            </a:r>
            <a:endParaRPr lang="en-US" sz="1600" dirty="0"/>
          </a:p>
        </p:txBody>
      </p:sp>
      <p:sp>
        <p:nvSpPr>
          <p:cNvPr id="8" name="Text 5"/>
          <p:cNvSpPr/>
          <p:nvPr/>
        </p:nvSpPr>
        <p:spPr>
          <a:xfrm>
            <a:off x="896112" y="2514600"/>
            <a:ext cx="3008376" cy="320040"/>
          </a:xfrm>
          <a:prstGeom prst="rect">
            <a:avLst/>
          </a:prstGeom>
          <a:noFill/>
          <a:ln/>
        </p:spPr>
        <p:txBody>
          <a:bodyPr wrap="square" lIns="0" tIns="0" rIns="0" bIns="0" rtlCol="0" anchor="ctr"/>
          <a:lstStyle/>
          <a:p>
            <a:pPr indent="0" marL="0">
              <a:buNone/>
            </a:pPr>
            <a:r>
              <a:rPr lang="en-US" sz="1500" b="1" dirty="0">
                <a:solidFill>
                  <a:srgbClr val="12142E"/>
                </a:solidFill>
                <a:latin typeface="Calibri" pitchFamily="34" charset="0"/>
                <a:ea typeface="Calibri" pitchFamily="34" charset="-122"/>
                <a:cs typeface="Calibri" pitchFamily="34" charset="-120"/>
              </a:rPr>
              <a:t>Foundations</a:t>
            </a:r>
            <a:endParaRPr lang="en-US" sz="1500" dirty="0"/>
          </a:p>
        </p:txBody>
      </p:sp>
      <p:sp>
        <p:nvSpPr>
          <p:cNvPr id="9" name="Text 6"/>
          <p:cNvSpPr/>
          <p:nvPr/>
        </p:nvSpPr>
        <p:spPr>
          <a:xfrm>
            <a:off x="896112" y="2825496"/>
            <a:ext cx="3008376" cy="438912"/>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What makes something an agent — the perceive–reason–act loop</a:t>
            </a:r>
            <a:endParaRPr lang="en-US" sz="1050" dirty="0"/>
          </a:p>
        </p:txBody>
      </p:sp>
      <p:sp>
        <p:nvSpPr>
          <p:cNvPr id="10" name="Shape 7"/>
          <p:cNvSpPr/>
          <p:nvPr/>
        </p:nvSpPr>
        <p:spPr>
          <a:xfrm>
            <a:off x="4416552" y="1600200"/>
            <a:ext cx="3520440" cy="1691640"/>
          </a:xfrm>
          <a:prstGeom prst="roundRect">
            <a:avLst>
              <a:gd name="adj" fmla="val 4324"/>
            </a:avLst>
          </a:prstGeom>
          <a:solidFill>
            <a:srgbClr val="F5F6FB"/>
          </a:solidFill>
          <a:ln/>
          <a:effectLst>
            <a:outerShdw sx="100000" sy="100000" kx="0" ky="0" algn="bl" rotWithShape="0" blurRad="101600" dist="38100" dir="5400000">
              <a:srgbClr val="12142E">
                <a:alpha val="10000"/>
              </a:srgbClr>
            </a:outerShdw>
          </a:effectLst>
        </p:spPr>
      </p:sp>
      <p:sp>
        <p:nvSpPr>
          <p:cNvPr id="11" name="Shape 8"/>
          <p:cNvSpPr/>
          <p:nvPr/>
        </p:nvSpPr>
        <p:spPr>
          <a:xfrm>
            <a:off x="4672584" y="1856232"/>
            <a:ext cx="566928" cy="566928"/>
          </a:xfrm>
          <a:prstGeom prst="ellipse">
            <a:avLst/>
          </a:prstGeom>
          <a:solidFill>
            <a:srgbClr val="12142E"/>
          </a:solidFill>
          <a:ln/>
        </p:spPr>
      </p:sp>
      <p:pic>
        <p:nvPicPr>
          <p:cNvPr id="12" name="Image 1" descr="/home/claude/agents-deck/icons/memory_cyan.png">    </p:cNvPr>
          <p:cNvPicPr>
            <a:picLocks noChangeAspect="1"/>
          </p:cNvPicPr>
          <p:nvPr/>
        </p:nvPicPr>
        <p:blipFill>
          <a:blip r:embed="rId2"/>
          <a:stretch>
            <a:fillRect/>
          </a:stretch>
        </p:blipFill>
        <p:spPr>
          <a:xfrm>
            <a:off x="4819985" y="2003633"/>
            <a:ext cx="272125" cy="272125"/>
          </a:xfrm>
          <a:prstGeom prst="rect">
            <a:avLst/>
          </a:prstGeom>
        </p:spPr>
      </p:pic>
      <p:sp>
        <p:nvSpPr>
          <p:cNvPr id="13" name="Text 9"/>
          <p:cNvSpPr/>
          <p:nvPr/>
        </p:nvSpPr>
        <p:spPr>
          <a:xfrm>
            <a:off x="7251192" y="1801368"/>
            <a:ext cx="548640" cy="365760"/>
          </a:xfrm>
          <a:prstGeom prst="rect">
            <a:avLst/>
          </a:prstGeom>
          <a:noFill/>
          <a:ln/>
        </p:spPr>
        <p:txBody>
          <a:bodyPr wrap="square" lIns="0" tIns="0" rIns="0" bIns="0" rtlCol="0" anchor="ctr"/>
          <a:lstStyle/>
          <a:p>
            <a:pPr algn="r" indent="0" marL="0">
              <a:buNone/>
            </a:pPr>
            <a:r>
              <a:rPr lang="en-US" sz="1600" b="1" dirty="0">
                <a:solidFill>
                  <a:srgbClr val="C7C9E6"/>
                </a:solidFill>
                <a:latin typeface="Cambria" pitchFamily="34" charset="0"/>
                <a:ea typeface="Cambria" pitchFamily="34" charset="-122"/>
                <a:cs typeface="Cambria" pitchFamily="34" charset="-120"/>
              </a:rPr>
              <a:t>02</a:t>
            </a:r>
            <a:endParaRPr lang="en-US" sz="1600" dirty="0"/>
          </a:p>
        </p:txBody>
      </p:sp>
      <p:sp>
        <p:nvSpPr>
          <p:cNvPr id="14" name="Text 10"/>
          <p:cNvSpPr/>
          <p:nvPr/>
        </p:nvSpPr>
        <p:spPr>
          <a:xfrm>
            <a:off x="4672584" y="2514600"/>
            <a:ext cx="3008376" cy="320040"/>
          </a:xfrm>
          <a:prstGeom prst="rect">
            <a:avLst/>
          </a:prstGeom>
          <a:noFill/>
          <a:ln/>
        </p:spPr>
        <p:txBody>
          <a:bodyPr wrap="square" lIns="0" tIns="0" rIns="0" bIns="0" rtlCol="0" anchor="ctr"/>
          <a:lstStyle/>
          <a:p>
            <a:pPr indent="0" marL="0">
              <a:buNone/>
            </a:pPr>
            <a:r>
              <a:rPr lang="en-US" sz="1500" b="1" dirty="0">
                <a:solidFill>
                  <a:srgbClr val="12142E"/>
                </a:solidFill>
                <a:latin typeface="Calibri" pitchFamily="34" charset="0"/>
                <a:ea typeface="Calibri" pitchFamily="34" charset="-122"/>
                <a:cs typeface="Calibri" pitchFamily="34" charset="-120"/>
              </a:rPr>
              <a:t>Memory</a:t>
            </a:r>
            <a:endParaRPr lang="en-US" sz="1500" dirty="0"/>
          </a:p>
        </p:txBody>
      </p:sp>
      <p:sp>
        <p:nvSpPr>
          <p:cNvPr id="15" name="Text 11"/>
          <p:cNvSpPr/>
          <p:nvPr/>
        </p:nvSpPr>
        <p:spPr>
          <a:xfrm>
            <a:off x="4672584" y="2825496"/>
            <a:ext cx="3008376" cy="438912"/>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Short-term, long-term, episodic &amp; semantic memory patterns</a:t>
            </a:r>
            <a:endParaRPr lang="en-US" sz="1050" dirty="0"/>
          </a:p>
        </p:txBody>
      </p:sp>
      <p:sp>
        <p:nvSpPr>
          <p:cNvPr id="16" name="Shape 12"/>
          <p:cNvSpPr/>
          <p:nvPr/>
        </p:nvSpPr>
        <p:spPr>
          <a:xfrm>
            <a:off x="8193024" y="1600200"/>
            <a:ext cx="3520440" cy="1691640"/>
          </a:xfrm>
          <a:prstGeom prst="roundRect">
            <a:avLst>
              <a:gd name="adj" fmla="val 4324"/>
            </a:avLst>
          </a:prstGeom>
          <a:solidFill>
            <a:srgbClr val="F5F6FB"/>
          </a:solidFill>
          <a:ln/>
          <a:effectLst>
            <a:outerShdw sx="100000" sy="100000" kx="0" ky="0" algn="bl" rotWithShape="0" blurRad="101600" dist="38100" dir="5400000">
              <a:srgbClr val="12142E">
                <a:alpha val="10000"/>
              </a:srgbClr>
            </a:outerShdw>
          </a:effectLst>
        </p:spPr>
      </p:sp>
      <p:sp>
        <p:nvSpPr>
          <p:cNvPr id="17" name="Shape 13"/>
          <p:cNvSpPr/>
          <p:nvPr/>
        </p:nvSpPr>
        <p:spPr>
          <a:xfrm>
            <a:off x="8449056" y="1856232"/>
            <a:ext cx="566928" cy="566928"/>
          </a:xfrm>
          <a:prstGeom prst="ellipse">
            <a:avLst/>
          </a:prstGeom>
          <a:solidFill>
            <a:srgbClr val="12142E"/>
          </a:solidFill>
          <a:ln/>
        </p:spPr>
      </p:sp>
      <p:pic>
        <p:nvPicPr>
          <p:cNvPr id="18" name="Image 2" descr="/home/claude/agents-deck/icons/wrench_cyan.png">    </p:cNvPr>
          <p:cNvPicPr>
            <a:picLocks noChangeAspect="1"/>
          </p:cNvPicPr>
          <p:nvPr/>
        </p:nvPicPr>
        <p:blipFill>
          <a:blip r:embed="rId3"/>
          <a:stretch>
            <a:fillRect/>
          </a:stretch>
        </p:blipFill>
        <p:spPr>
          <a:xfrm>
            <a:off x="8596457" y="2003633"/>
            <a:ext cx="272125" cy="272125"/>
          </a:xfrm>
          <a:prstGeom prst="rect">
            <a:avLst/>
          </a:prstGeom>
        </p:spPr>
      </p:pic>
      <p:sp>
        <p:nvSpPr>
          <p:cNvPr id="19" name="Text 14"/>
          <p:cNvSpPr/>
          <p:nvPr/>
        </p:nvSpPr>
        <p:spPr>
          <a:xfrm>
            <a:off x="11027664" y="1801368"/>
            <a:ext cx="548640" cy="365760"/>
          </a:xfrm>
          <a:prstGeom prst="rect">
            <a:avLst/>
          </a:prstGeom>
          <a:noFill/>
          <a:ln/>
        </p:spPr>
        <p:txBody>
          <a:bodyPr wrap="square" lIns="0" tIns="0" rIns="0" bIns="0" rtlCol="0" anchor="ctr"/>
          <a:lstStyle/>
          <a:p>
            <a:pPr algn="r" indent="0" marL="0">
              <a:buNone/>
            </a:pPr>
            <a:r>
              <a:rPr lang="en-US" sz="1600" b="1" dirty="0">
                <a:solidFill>
                  <a:srgbClr val="C7C9E6"/>
                </a:solidFill>
                <a:latin typeface="Cambria" pitchFamily="34" charset="0"/>
                <a:ea typeface="Cambria" pitchFamily="34" charset="-122"/>
                <a:cs typeface="Cambria" pitchFamily="34" charset="-120"/>
              </a:rPr>
              <a:t>03</a:t>
            </a:r>
            <a:endParaRPr lang="en-US" sz="1600" dirty="0"/>
          </a:p>
        </p:txBody>
      </p:sp>
      <p:sp>
        <p:nvSpPr>
          <p:cNvPr id="20" name="Text 15"/>
          <p:cNvSpPr/>
          <p:nvPr/>
        </p:nvSpPr>
        <p:spPr>
          <a:xfrm>
            <a:off x="8449056" y="2514600"/>
            <a:ext cx="3008376" cy="320040"/>
          </a:xfrm>
          <a:prstGeom prst="rect">
            <a:avLst/>
          </a:prstGeom>
          <a:noFill/>
          <a:ln/>
        </p:spPr>
        <p:txBody>
          <a:bodyPr wrap="square" lIns="0" tIns="0" rIns="0" bIns="0" rtlCol="0" anchor="ctr"/>
          <a:lstStyle/>
          <a:p>
            <a:pPr indent="0" marL="0">
              <a:buNone/>
            </a:pPr>
            <a:r>
              <a:rPr lang="en-US" sz="1500" b="1" dirty="0">
                <a:solidFill>
                  <a:srgbClr val="12142E"/>
                </a:solidFill>
                <a:latin typeface="Calibri" pitchFamily="34" charset="0"/>
                <a:ea typeface="Calibri" pitchFamily="34" charset="-122"/>
                <a:cs typeface="Calibri" pitchFamily="34" charset="-120"/>
              </a:rPr>
              <a:t>Tool Use</a:t>
            </a:r>
            <a:endParaRPr lang="en-US" sz="1500" dirty="0"/>
          </a:p>
        </p:txBody>
      </p:sp>
      <p:sp>
        <p:nvSpPr>
          <p:cNvPr id="21" name="Text 16"/>
          <p:cNvSpPr/>
          <p:nvPr/>
        </p:nvSpPr>
        <p:spPr>
          <a:xfrm>
            <a:off x="8449056" y="2825496"/>
            <a:ext cx="3008376" cy="438912"/>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Function calling, schemas, and the ReAct loop</a:t>
            </a:r>
            <a:endParaRPr lang="en-US" sz="1050" dirty="0"/>
          </a:p>
        </p:txBody>
      </p:sp>
      <p:sp>
        <p:nvSpPr>
          <p:cNvPr id="22" name="Shape 17"/>
          <p:cNvSpPr/>
          <p:nvPr/>
        </p:nvSpPr>
        <p:spPr>
          <a:xfrm>
            <a:off x="640080" y="3474720"/>
            <a:ext cx="3520440" cy="1691640"/>
          </a:xfrm>
          <a:prstGeom prst="roundRect">
            <a:avLst>
              <a:gd name="adj" fmla="val 4324"/>
            </a:avLst>
          </a:prstGeom>
          <a:solidFill>
            <a:srgbClr val="F5F6FB"/>
          </a:solidFill>
          <a:ln/>
          <a:effectLst>
            <a:outerShdw sx="100000" sy="100000" kx="0" ky="0" algn="bl" rotWithShape="0" blurRad="101600" dist="38100" dir="5400000">
              <a:srgbClr val="12142E">
                <a:alpha val="10000"/>
              </a:srgbClr>
            </a:outerShdw>
          </a:effectLst>
        </p:spPr>
      </p:sp>
      <p:sp>
        <p:nvSpPr>
          <p:cNvPr id="23" name="Shape 18"/>
          <p:cNvSpPr/>
          <p:nvPr/>
        </p:nvSpPr>
        <p:spPr>
          <a:xfrm>
            <a:off x="896112" y="3730752"/>
            <a:ext cx="566928" cy="566928"/>
          </a:xfrm>
          <a:prstGeom prst="ellipse">
            <a:avLst/>
          </a:prstGeom>
          <a:solidFill>
            <a:srgbClr val="12142E"/>
          </a:solidFill>
          <a:ln/>
        </p:spPr>
      </p:sp>
      <p:pic>
        <p:nvPicPr>
          <p:cNvPr id="24" name="Image 3" descr="/home/claude/agents-deck/icons/sitemap_cyan.png">    </p:cNvPr>
          <p:cNvPicPr>
            <a:picLocks noChangeAspect="1"/>
          </p:cNvPicPr>
          <p:nvPr/>
        </p:nvPicPr>
        <p:blipFill>
          <a:blip r:embed="rId4"/>
          <a:stretch>
            <a:fillRect/>
          </a:stretch>
        </p:blipFill>
        <p:spPr>
          <a:xfrm>
            <a:off x="1043513" y="3878153"/>
            <a:ext cx="272125" cy="272125"/>
          </a:xfrm>
          <a:prstGeom prst="rect">
            <a:avLst/>
          </a:prstGeom>
        </p:spPr>
      </p:pic>
      <p:sp>
        <p:nvSpPr>
          <p:cNvPr id="25" name="Text 19"/>
          <p:cNvSpPr/>
          <p:nvPr/>
        </p:nvSpPr>
        <p:spPr>
          <a:xfrm>
            <a:off x="3474720" y="3675888"/>
            <a:ext cx="548640" cy="365760"/>
          </a:xfrm>
          <a:prstGeom prst="rect">
            <a:avLst/>
          </a:prstGeom>
          <a:noFill/>
          <a:ln/>
        </p:spPr>
        <p:txBody>
          <a:bodyPr wrap="square" lIns="0" tIns="0" rIns="0" bIns="0" rtlCol="0" anchor="ctr"/>
          <a:lstStyle/>
          <a:p>
            <a:pPr algn="r" indent="0" marL="0">
              <a:buNone/>
            </a:pPr>
            <a:r>
              <a:rPr lang="en-US" sz="1600" b="1" dirty="0">
                <a:solidFill>
                  <a:srgbClr val="C7C9E6"/>
                </a:solidFill>
                <a:latin typeface="Cambria" pitchFamily="34" charset="0"/>
                <a:ea typeface="Cambria" pitchFamily="34" charset="-122"/>
                <a:cs typeface="Cambria" pitchFamily="34" charset="-120"/>
              </a:rPr>
              <a:t>04</a:t>
            </a:r>
            <a:endParaRPr lang="en-US" sz="1600" dirty="0"/>
          </a:p>
        </p:txBody>
      </p:sp>
      <p:sp>
        <p:nvSpPr>
          <p:cNvPr id="26" name="Text 20"/>
          <p:cNvSpPr/>
          <p:nvPr/>
        </p:nvSpPr>
        <p:spPr>
          <a:xfrm>
            <a:off x="896112" y="4389120"/>
            <a:ext cx="3008376" cy="320040"/>
          </a:xfrm>
          <a:prstGeom prst="rect">
            <a:avLst/>
          </a:prstGeom>
          <a:noFill/>
          <a:ln/>
        </p:spPr>
        <p:txBody>
          <a:bodyPr wrap="square" lIns="0" tIns="0" rIns="0" bIns="0" rtlCol="0" anchor="ctr"/>
          <a:lstStyle/>
          <a:p>
            <a:pPr indent="0" marL="0">
              <a:buNone/>
            </a:pPr>
            <a:r>
              <a:rPr lang="en-US" sz="1500" b="1" dirty="0">
                <a:solidFill>
                  <a:srgbClr val="12142E"/>
                </a:solidFill>
                <a:latin typeface="Calibri" pitchFamily="34" charset="0"/>
                <a:ea typeface="Calibri" pitchFamily="34" charset="-122"/>
                <a:cs typeface="Calibri" pitchFamily="34" charset="-120"/>
              </a:rPr>
              <a:t>Agent Frameworks</a:t>
            </a:r>
            <a:endParaRPr lang="en-US" sz="1500" dirty="0"/>
          </a:p>
        </p:txBody>
      </p:sp>
      <p:sp>
        <p:nvSpPr>
          <p:cNvPr id="27" name="Text 21"/>
          <p:cNvSpPr/>
          <p:nvPr/>
        </p:nvSpPr>
        <p:spPr>
          <a:xfrm>
            <a:off x="896112" y="4700016"/>
            <a:ext cx="3008376" cy="438912"/>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LangGraph, CrewAI, AutoGen, and how to choose</a:t>
            </a:r>
            <a:endParaRPr lang="en-US" sz="1050" dirty="0"/>
          </a:p>
        </p:txBody>
      </p:sp>
      <p:sp>
        <p:nvSpPr>
          <p:cNvPr id="28" name="Shape 22"/>
          <p:cNvSpPr/>
          <p:nvPr/>
        </p:nvSpPr>
        <p:spPr>
          <a:xfrm>
            <a:off x="4416552" y="3474720"/>
            <a:ext cx="3520440" cy="1691640"/>
          </a:xfrm>
          <a:prstGeom prst="roundRect">
            <a:avLst>
              <a:gd name="adj" fmla="val 4324"/>
            </a:avLst>
          </a:prstGeom>
          <a:solidFill>
            <a:srgbClr val="F5F6FB"/>
          </a:solidFill>
          <a:ln/>
          <a:effectLst>
            <a:outerShdw sx="100000" sy="100000" kx="0" ky="0" algn="bl" rotWithShape="0" blurRad="101600" dist="38100" dir="5400000">
              <a:srgbClr val="12142E">
                <a:alpha val="10000"/>
              </a:srgbClr>
            </a:outerShdw>
          </a:effectLst>
        </p:spPr>
      </p:sp>
      <p:sp>
        <p:nvSpPr>
          <p:cNvPr id="29" name="Shape 23"/>
          <p:cNvSpPr/>
          <p:nvPr/>
        </p:nvSpPr>
        <p:spPr>
          <a:xfrm>
            <a:off x="4672584" y="3730752"/>
            <a:ext cx="566928" cy="566928"/>
          </a:xfrm>
          <a:prstGeom prst="ellipse">
            <a:avLst/>
          </a:prstGeom>
          <a:solidFill>
            <a:srgbClr val="12142E"/>
          </a:solidFill>
          <a:ln/>
        </p:spPr>
      </p:sp>
      <p:pic>
        <p:nvPicPr>
          <p:cNvPr id="30" name="Image 4" descr="/home/claude/agents-deck/icons/network_cyan.png">    </p:cNvPr>
          <p:cNvPicPr>
            <a:picLocks noChangeAspect="1"/>
          </p:cNvPicPr>
          <p:nvPr/>
        </p:nvPicPr>
        <p:blipFill>
          <a:blip r:embed="rId5"/>
          <a:stretch>
            <a:fillRect/>
          </a:stretch>
        </p:blipFill>
        <p:spPr>
          <a:xfrm>
            <a:off x="4819985" y="3878153"/>
            <a:ext cx="272125" cy="272125"/>
          </a:xfrm>
          <a:prstGeom prst="rect">
            <a:avLst/>
          </a:prstGeom>
        </p:spPr>
      </p:pic>
      <p:sp>
        <p:nvSpPr>
          <p:cNvPr id="31" name="Text 24"/>
          <p:cNvSpPr/>
          <p:nvPr/>
        </p:nvSpPr>
        <p:spPr>
          <a:xfrm>
            <a:off x="7251192" y="3675888"/>
            <a:ext cx="548640" cy="365760"/>
          </a:xfrm>
          <a:prstGeom prst="rect">
            <a:avLst/>
          </a:prstGeom>
          <a:noFill/>
          <a:ln/>
        </p:spPr>
        <p:txBody>
          <a:bodyPr wrap="square" lIns="0" tIns="0" rIns="0" bIns="0" rtlCol="0" anchor="ctr"/>
          <a:lstStyle/>
          <a:p>
            <a:pPr algn="r" indent="0" marL="0">
              <a:buNone/>
            </a:pPr>
            <a:r>
              <a:rPr lang="en-US" sz="1600" b="1" dirty="0">
                <a:solidFill>
                  <a:srgbClr val="C7C9E6"/>
                </a:solidFill>
                <a:latin typeface="Cambria" pitchFamily="34" charset="0"/>
                <a:ea typeface="Cambria" pitchFamily="34" charset="-122"/>
                <a:cs typeface="Cambria" pitchFamily="34" charset="-120"/>
              </a:rPr>
              <a:t>05</a:t>
            </a:r>
            <a:endParaRPr lang="en-US" sz="1600" dirty="0"/>
          </a:p>
        </p:txBody>
      </p:sp>
      <p:sp>
        <p:nvSpPr>
          <p:cNvPr id="32" name="Text 25"/>
          <p:cNvSpPr/>
          <p:nvPr/>
        </p:nvSpPr>
        <p:spPr>
          <a:xfrm>
            <a:off x="4672584" y="4389120"/>
            <a:ext cx="3008376" cy="320040"/>
          </a:xfrm>
          <a:prstGeom prst="rect">
            <a:avLst/>
          </a:prstGeom>
          <a:noFill/>
          <a:ln/>
        </p:spPr>
        <p:txBody>
          <a:bodyPr wrap="square" lIns="0" tIns="0" rIns="0" bIns="0" rtlCol="0" anchor="ctr"/>
          <a:lstStyle/>
          <a:p>
            <a:pPr indent="0" marL="0">
              <a:buNone/>
            </a:pPr>
            <a:r>
              <a:rPr lang="en-US" sz="1500" b="1" dirty="0">
                <a:solidFill>
                  <a:srgbClr val="12142E"/>
                </a:solidFill>
                <a:latin typeface="Calibri" pitchFamily="34" charset="0"/>
                <a:ea typeface="Calibri" pitchFamily="34" charset="-122"/>
                <a:cs typeface="Calibri" pitchFamily="34" charset="-120"/>
              </a:rPr>
              <a:t>Orchestration Layer</a:t>
            </a:r>
            <a:endParaRPr lang="en-US" sz="1500" dirty="0"/>
          </a:p>
        </p:txBody>
      </p:sp>
      <p:sp>
        <p:nvSpPr>
          <p:cNvPr id="33" name="Text 26"/>
          <p:cNvSpPr/>
          <p:nvPr/>
        </p:nvSpPr>
        <p:spPr>
          <a:xfrm>
            <a:off x="4672584" y="4700016"/>
            <a:ext cx="3008376" cy="438912"/>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Routing, state, and multi-agent coordination patterns</a:t>
            </a:r>
            <a:endParaRPr lang="en-US" sz="1050" dirty="0"/>
          </a:p>
        </p:txBody>
      </p:sp>
      <p:sp>
        <p:nvSpPr>
          <p:cNvPr id="34" name="Shape 27"/>
          <p:cNvSpPr/>
          <p:nvPr/>
        </p:nvSpPr>
        <p:spPr>
          <a:xfrm>
            <a:off x="8193024" y="3474720"/>
            <a:ext cx="3520440" cy="1691640"/>
          </a:xfrm>
          <a:prstGeom prst="roundRect">
            <a:avLst>
              <a:gd name="adj" fmla="val 4324"/>
            </a:avLst>
          </a:prstGeom>
          <a:solidFill>
            <a:srgbClr val="F5F6FB"/>
          </a:solidFill>
          <a:ln/>
          <a:effectLst>
            <a:outerShdw sx="100000" sy="100000" kx="0" ky="0" algn="bl" rotWithShape="0" blurRad="101600" dist="38100" dir="5400000">
              <a:srgbClr val="12142E">
                <a:alpha val="10000"/>
              </a:srgbClr>
            </a:outerShdw>
          </a:effectLst>
        </p:spPr>
      </p:sp>
      <p:sp>
        <p:nvSpPr>
          <p:cNvPr id="35" name="Shape 28"/>
          <p:cNvSpPr/>
          <p:nvPr/>
        </p:nvSpPr>
        <p:spPr>
          <a:xfrm>
            <a:off x="8449056" y="3730752"/>
            <a:ext cx="566928" cy="566928"/>
          </a:xfrm>
          <a:prstGeom prst="ellipse">
            <a:avLst/>
          </a:prstGeom>
          <a:solidFill>
            <a:srgbClr val="12142E"/>
          </a:solidFill>
          <a:ln/>
        </p:spPr>
      </p:sp>
      <p:pic>
        <p:nvPicPr>
          <p:cNvPr id="36" name="Image 5" descr="/home/claude/agents-deck/icons/route_cyan.png">    </p:cNvPr>
          <p:cNvPicPr>
            <a:picLocks noChangeAspect="1"/>
          </p:cNvPicPr>
          <p:nvPr/>
        </p:nvPicPr>
        <p:blipFill>
          <a:blip r:embed="rId6"/>
          <a:stretch>
            <a:fillRect/>
          </a:stretch>
        </p:blipFill>
        <p:spPr>
          <a:xfrm>
            <a:off x="8596457" y="3878153"/>
            <a:ext cx="272125" cy="272125"/>
          </a:xfrm>
          <a:prstGeom prst="rect">
            <a:avLst/>
          </a:prstGeom>
        </p:spPr>
      </p:pic>
      <p:sp>
        <p:nvSpPr>
          <p:cNvPr id="37" name="Text 29"/>
          <p:cNvSpPr/>
          <p:nvPr/>
        </p:nvSpPr>
        <p:spPr>
          <a:xfrm>
            <a:off x="11027664" y="3675888"/>
            <a:ext cx="548640" cy="365760"/>
          </a:xfrm>
          <a:prstGeom prst="rect">
            <a:avLst/>
          </a:prstGeom>
          <a:noFill/>
          <a:ln/>
        </p:spPr>
        <p:txBody>
          <a:bodyPr wrap="square" lIns="0" tIns="0" rIns="0" bIns="0" rtlCol="0" anchor="ctr"/>
          <a:lstStyle/>
          <a:p>
            <a:pPr algn="r" indent="0" marL="0">
              <a:buNone/>
            </a:pPr>
            <a:r>
              <a:rPr lang="en-US" sz="1600" b="1" dirty="0">
                <a:solidFill>
                  <a:srgbClr val="C7C9E6"/>
                </a:solidFill>
                <a:latin typeface="Cambria" pitchFamily="34" charset="0"/>
                <a:ea typeface="Cambria" pitchFamily="34" charset="-122"/>
                <a:cs typeface="Cambria" pitchFamily="34" charset="-120"/>
              </a:rPr>
              <a:t>06</a:t>
            </a:r>
            <a:endParaRPr lang="en-US" sz="1600" dirty="0"/>
          </a:p>
        </p:txBody>
      </p:sp>
      <p:sp>
        <p:nvSpPr>
          <p:cNvPr id="38" name="Text 30"/>
          <p:cNvSpPr/>
          <p:nvPr/>
        </p:nvSpPr>
        <p:spPr>
          <a:xfrm>
            <a:off x="8449056" y="4389120"/>
            <a:ext cx="3008376" cy="320040"/>
          </a:xfrm>
          <a:prstGeom prst="rect">
            <a:avLst/>
          </a:prstGeom>
          <a:noFill/>
          <a:ln/>
        </p:spPr>
        <p:txBody>
          <a:bodyPr wrap="square" lIns="0" tIns="0" rIns="0" bIns="0" rtlCol="0" anchor="ctr"/>
          <a:lstStyle/>
          <a:p>
            <a:pPr indent="0" marL="0">
              <a:buNone/>
            </a:pPr>
            <a:r>
              <a:rPr lang="en-US" sz="1500" b="1" dirty="0">
                <a:solidFill>
                  <a:srgbClr val="12142E"/>
                </a:solidFill>
                <a:latin typeface="Calibri" pitchFamily="34" charset="0"/>
                <a:ea typeface="Calibri" pitchFamily="34" charset="-122"/>
                <a:cs typeface="Calibri" pitchFamily="34" charset="-120"/>
              </a:rPr>
              <a:t>Workflows</a:t>
            </a:r>
            <a:endParaRPr lang="en-US" sz="1500" dirty="0"/>
          </a:p>
        </p:txBody>
      </p:sp>
      <p:sp>
        <p:nvSpPr>
          <p:cNvPr id="39" name="Text 31"/>
          <p:cNvSpPr/>
          <p:nvPr/>
        </p:nvSpPr>
        <p:spPr>
          <a:xfrm>
            <a:off x="8449056" y="4700016"/>
            <a:ext cx="3008376" cy="438912"/>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Composable patterns: chaining, parallelization, evaluator-optimizer</a:t>
            </a:r>
            <a:endParaRPr lang="en-US" sz="1050" dirty="0"/>
          </a:p>
        </p:txBody>
      </p:sp>
      <p:sp>
        <p:nvSpPr>
          <p:cNvPr id="40" name="Shape 32"/>
          <p:cNvSpPr/>
          <p:nvPr/>
        </p:nvSpPr>
        <p:spPr>
          <a:xfrm>
            <a:off x="640080" y="5349240"/>
            <a:ext cx="3520440" cy="1691640"/>
          </a:xfrm>
          <a:prstGeom prst="roundRect">
            <a:avLst>
              <a:gd name="adj" fmla="val 4324"/>
            </a:avLst>
          </a:prstGeom>
          <a:solidFill>
            <a:srgbClr val="F5F6FB"/>
          </a:solidFill>
          <a:ln/>
          <a:effectLst>
            <a:outerShdw sx="100000" sy="100000" kx="0" ky="0" algn="bl" rotWithShape="0" blurRad="101600" dist="38100" dir="5400000">
              <a:srgbClr val="12142E">
                <a:alpha val="10000"/>
              </a:srgbClr>
            </a:outerShdw>
          </a:effectLst>
        </p:spPr>
      </p:sp>
      <p:sp>
        <p:nvSpPr>
          <p:cNvPr id="41" name="Shape 33"/>
          <p:cNvSpPr/>
          <p:nvPr/>
        </p:nvSpPr>
        <p:spPr>
          <a:xfrm>
            <a:off x="896112" y="5605272"/>
            <a:ext cx="566928" cy="566928"/>
          </a:xfrm>
          <a:prstGeom prst="ellipse">
            <a:avLst/>
          </a:prstGeom>
          <a:solidFill>
            <a:srgbClr val="12142E"/>
          </a:solidFill>
          <a:ln/>
        </p:spPr>
      </p:sp>
      <p:pic>
        <p:nvPicPr>
          <p:cNvPr id="42" name="Image 6" descr="/home/claude/agents-deck/icons/shield_cyan.png">    </p:cNvPr>
          <p:cNvPicPr>
            <a:picLocks noChangeAspect="1"/>
          </p:cNvPicPr>
          <p:nvPr/>
        </p:nvPicPr>
        <p:blipFill>
          <a:blip r:embed="rId7"/>
          <a:stretch>
            <a:fillRect/>
          </a:stretch>
        </p:blipFill>
        <p:spPr>
          <a:xfrm>
            <a:off x="1043513" y="5752673"/>
            <a:ext cx="272125" cy="272125"/>
          </a:xfrm>
          <a:prstGeom prst="rect">
            <a:avLst/>
          </a:prstGeom>
        </p:spPr>
      </p:pic>
      <p:sp>
        <p:nvSpPr>
          <p:cNvPr id="43" name="Text 34"/>
          <p:cNvSpPr/>
          <p:nvPr/>
        </p:nvSpPr>
        <p:spPr>
          <a:xfrm>
            <a:off x="3474720" y="5550408"/>
            <a:ext cx="548640" cy="365760"/>
          </a:xfrm>
          <a:prstGeom prst="rect">
            <a:avLst/>
          </a:prstGeom>
          <a:noFill/>
          <a:ln/>
        </p:spPr>
        <p:txBody>
          <a:bodyPr wrap="square" lIns="0" tIns="0" rIns="0" bIns="0" rtlCol="0" anchor="ctr"/>
          <a:lstStyle/>
          <a:p>
            <a:pPr algn="r" indent="0" marL="0">
              <a:buNone/>
            </a:pPr>
            <a:r>
              <a:rPr lang="en-US" sz="1600" b="1" dirty="0">
                <a:solidFill>
                  <a:srgbClr val="C7C9E6"/>
                </a:solidFill>
                <a:latin typeface="Cambria" pitchFamily="34" charset="0"/>
                <a:ea typeface="Cambria" pitchFamily="34" charset="-122"/>
                <a:cs typeface="Cambria" pitchFamily="34" charset="-120"/>
              </a:rPr>
              <a:t>07</a:t>
            </a:r>
            <a:endParaRPr lang="en-US" sz="1600" dirty="0"/>
          </a:p>
        </p:txBody>
      </p:sp>
      <p:sp>
        <p:nvSpPr>
          <p:cNvPr id="44" name="Text 35"/>
          <p:cNvSpPr/>
          <p:nvPr/>
        </p:nvSpPr>
        <p:spPr>
          <a:xfrm>
            <a:off x="896112" y="6263640"/>
            <a:ext cx="3008376" cy="320040"/>
          </a:xfrm>
          <a:prstGeom prst="rect">
            <a:avLst/>
          </a:prstGeom>
          <a:noFill/>
          <a:ln/>
        </p:spPr>
        <p:txBody>
          <a:bodyPr wrap="square" lIns="0" tIns="0" rIns="0" bIns="0" rtlCol="0" anchor="ctr"/>
          <a:lstStyle/>
          <a:p>
            <a:pPr indent="0" marL="0">
              <a:buNone/>
            </a:pPr>
            <a:r>
              <a:rPr lang="en-US" sz="1500" b="1" dirty="0">
                <a:solidFill>
                  <a:srgbClr val="12142E"/>
                </a:solidFill>
                <a:latin typeface="Calibri" pitchFamily="34" charset="0"/>
                <a:ea typeface="Calibri" pitchFamily="34" charset="-122"/>
                <a:cs typeface="Calibri" pitchFamily="34" charset="-120"/>
              </a:rPr>
              <a:t>Governance</a:t>
            </a:r>
            <a:endParaRPr lang="en-US" sz="1500" dirty="0"/>
          </a:p>
        </p:txBody>
      </p:sp>
      <p:sp>
        <p:nvSpPr>
          <p:cNvPr id="45" name="Text 36"/>
          <p:cNvSpPr/>
          <p:nvPr/>
        </p:nvSpPr>
        <p:spPr>
          <a:xfrm>
            <a:off x="896112" y="6574536"/>
            <a:ext cx="3008376" cy="438912"/>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Guardrails, observability, permissions, and cost control</a:t>
            </a:r>
            <a:endParaRPr lang="en-US" sz="1050" dirty="0"/>
          </a:p>
        </p:txBody>
      </p:sp>
      <p:sp>
        <p:nvSpPr>
          <p:cNvPr id="46" name="Text 37"/>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1</a:t>
            </a:r>
            <a:endParaRPr lang="en-US" sz="1000" dirty="0"/>
          </a:p>
        </p:txBody>
      </p:sp>
      <p:sp>
        <p:nvSpPr>
          <p:cNvPr id="47" name="Text 38"/>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42E"/>
        </a:solidFill>
      </p:bgPr>
    </p:bg>
    <p:spTree>
      <p:nvGrpSpPr>
        <p:cNvPr id="1" name=""/>
        <p:cNvGrpSpPr/>
        <p:nvPr/>
      </p:nvGrpSpPr>
      <p:grpSpPr>
        <a:xfrm>
          <a:off x="0" y="0"/>
          <a:ext cx="0" cy="0"/>
          <a:chOff x="0" y="0"/>
          <a:chExt cx="0" cy="0"/>
        </a:xfrm>
      </p:grpSpPr>
      <p:sp>
        <p:nvSpPr>
          <p:cNvPr id="2" name="Shape 0"/>
          <p:cNvSpPr/>
          <p:nvPr/>
        </p:nvSpPr>
        <p:spPr>
          <a:xfrm>
            <a:off x="914400" y="914400"/>
            <a:ext cx="54864" cy="54864"/>
          </a:xfrm>
          <a:prstGeom prst="ellipse">
            <a:avLst/>
          </a:prstGeom>
          <a:solidFill>
            <a:srgbClr val="2A2D5C"/>
          </a:solidFill>
          <a:ln/>
        </p:spPr>
      </p:sp>
      <p:sp>
        <p:nvSpPr>
          <p:cNvPr id="3" name="Shape 1"/>
          <p:cNvSpPr/>
          <p:nvPr/>
        </p:nvSpPr>
        <p:spPr>
          <a:xfrm>
            <a:off x="1463040" y="2194560"/>
            <a:ext cx="54864" cy="54864"/>
          </a:xfrm>
          <a:prstGeom prst="ellipse">
            <a:avLst/>
          </a:prstGeom>
          <a:solidFill>
            <a:srgbClr val="2A2D5C"/>
          </a:solidFill>
          <a:ln/>
        </p:spPr>
      </p:sp>
      <p:sp>
        <p:nvSpPr>
          <p:cNvPr id="4" name="Shape 2"/>
          <p:cNvSpPr/>
          <p:nvPr/>
        </p:nvSpPr>
        <p:spPr>
          <a:xfrm>
            <a:off x="731520" y="3840480"/>
            <a:ext cx="54864" cy="54864"/>
          </a:xfrm>
          <a:prstGeom prst="ellipse">
            <a:avLst/>
          </a:prstGeom>
          <a:solidFill>
            <a:srgbClr val="2A2D5C"/>
          </a:solidFill>
          <a:ln/>
        </p:spPr>
      </p:sp>
      <p:sp>
        <p:nvSpPr>
          <p:cNvPr id="5" name="Shape 3"/>
          <p:cNvSpPr/>
          <p:nvPr/>
        </p:nvSpPr>
        <p:spPr>
          <a:xfrm>
            <a:off x="1737360" y="5120640"/>
            <a:ext cx="54864" cy="54864"/>
          </a:xfrm>
          <a:prstGeom prst="ellipse">
            <a:avLst/>
          </a:prstGeom>
          <a:solidFill>
            <a:srgbClr val="2A2D5C"/>
          </a:solidFill>
          <a:ln/>
        </p:spPr>
      </p:sp>
      <p:sp>
        <p:nvSpPr>
          <p:cNvPr id="6" name="Shape 4"/>
          <p:cNvSpPr/>
          <p:nvPr/>
        </p:nvSpPr>
        <p:spPr>
          <a:xfrm>
            <a:off x="2377440" y="1463040"/>
            <a:ext cx="54864" cy="54864"/>
          </a:xfrm>
          <a:prstGeom prst="ellipse">
            <a:avLst/>
          </a:prstGeom>
          <a:solidFill>
            <a:srgbClr val="2A2D5C"/>
          </a:solidFill>
          <a:ln/>
        </p:spPr>
      </p:sp>
      <p:sp>
        <p:nvSpPr>
          <p:cNvPr id="7" name="Shape 5"/>
          <p:cNvSpPr/>
          <p:nvPr/>
        </p:nvSpPr>
        <p:spPr>
          <a:xfrm>
            <a:off x="10789920" y="1097280"/>
            <a:ext cx="54864" cy="54864"/>
          </a:xfrm>
          <a:prstGeom prst="ellipse">
            <a:avLst/>
          </a:prstGeom>
          <a:solidFill>
            <a:srgbClr val="2A2D5C"/>
          </a:solidFill>
          <a:ln/>
        </p:spPr>
      </p:sp>
      <p:sp>
        <p:nvSpPr>
          <p:cNvPr id="8" name="Shape 6"/>
          <p:cNvSpPr/>
          <p:nvPr/>
        </p:nvSpPr>
        <p:spPr>
          <a:xfrm>
            <a:off x="11338560" y="2743200"/>
            <a:ext cx="54864" cy="54864"/>
          </a:xfrm>
          <a:prstGeom prst="ellipse">
            <a:avLst/>
          </a:prstGeom>
          <a:solidFill>
            <a:srgbClr val="2A2D5C"/>
          </a:solidFill>
          <a:ln/>
        </p:spPr>
      </p:sp>
      <p:sp>
        <p:nvSpPr>
          <p:cNvPr id="9" name="Shape 7"/>
          <p:cNvSpPr/>
          <p:nvPr/>
        </p:nvSpPr>
        <p:spPr>
          <a:xfrm>
            <a:off x="10515600" y="4572000"/>
            <a:ext cx="54864" cy="54864"/>
          </a:xfrm>
          <a:prstGeom prst="ellipse">
            <a:avLst/>
          </a:prstGeom>
          <a:solidFill>
            <a:srgbClr val="2A2D5C"/>
          </a:solidFill>
          <a:ln/>
        </p:spPr>
      </p:sp>
      <p:sp>
        <p:nvSpPr>
          <p:cNvPr id="10" name="Shape 8"/>
          <p:cNvSpPr/>
          <p:nvPr/>
        </p:nvSpPr>
        <p:spPr>
          <a:xfrm>
            <a:off x="11521440" y="5577840"/>
            <a:ext cx="54864" cy="54864"/>
          </a:xfrm>
          <a:prstGeom prst="ellipse">
            <a:avLst/>
          </a:prstGeom>
          <a:solidFill>
            <a:srgbClr val="2A2D5C"/>
          </a:solidFill>
          <a:ln/>
        </p:spPr>
      </p:sp>
      <p:sp>
        <p:nvSpPr>
          <p:cNvPr id="11" name="Shape 9"/>
          <p:cNvSpPr/>
          <p:nvPr/>
        </p:nvSpPr>
        <p:spPr>
          <a:xfrm>
            <a:off x="9966960" y="2011680"/>
            <a:ext cx="54864" cy="54864"/>
          </a:xfrm>
          <a:prstGeom prst="ellipse">
            <a:avLst/>
          </a:prstGeom>
          <a:solidFill>
            <a:srgbClr val="2A2D5C"/>
          </a:solidFill>
          <a:ln/>
        </p:spPr>
      </p:sp>
      <p:sp>
        <p:nvSpPr>
          <p:cNvPr id="12" name="Text 10"/>
          <p:cNvSpPr/>
          <p:nvPr/>
        </p:nvSpPr>
        <p:spPr>
          <a:xfrm>
            <a:off x="914400" y="2331720"/>
            <a:ext cx="5486400" cy="365760"/>
          </a:xfrm>
          <a:prstGeom prst="rect">
            <a:avLst/>
          </a:prstGeom>
          <a:noFill/>
          <a:ln/>
        </p:spPr>
        <p:txBody>
          <a:bodyPr wrap="square" lIns="0" tIns="0" rIns="0" bIns="0" rtlCol="0" anchor="ctr"/>
          <a:lstStyle/>
          <a:p>
            <a:pPr indent="0" marL="0">
              <a:buNone/>
            </a:pPr>
            <a:r>
              <a:rPr lang="en-US" sz="1300" b="1" spc="300" kern="0" dirty="0">
                <a:solidFill>
                  <a:srgbClr val="22D3EE"/>
                </a:solidFill>
                <a:latin typeface="Calibri" pitchFamily="34" charset="0"/>
                <a:ea typeface="Calibri" pitchFamily="34" charset="-122"/>
                <a:cs typeface="Calibri" pitchFamily="34" charset="-120"/>
              </a:rPr>
              <a:t>SECTION 1 / 7</a:t>
            </a:r>
            <a:endParaRPr lang="en-US" sz="1300" dirty="0"/>
          </a:p>
        </p:txBody>
      </p:sp>
      <p:sp>
        <p:nvSpPr>
          <p:cNvPr id="13" name="Shape 11"/>
          <p:cNvSpPr/>
          <p:nvPr/>
        </p:nvSpPr>
        <p:spPr>
          <a:xfrm>
            <a:off x="9692640" y="2148840"/>
            <a:ext cx="1234440" cy="1234440"/>
          </a:xfrm>
          <a:prstGeom prst="ellipse">
            <a:avLst/>
          </a:prstGeom>
          <a:solidFill>
            <a:srgbClr val="1C1F47"/>
          </a:solidFill>
          <a:ln/>
        </p:spPr>
      </p:sp>
      <p:pic>
        <p:nvPicPr>
          <p:cNvPr id="14" name="Image 0" descr="/home/claude/agents-deck/icons/brain_cyan.png">    </p:cNvPr>
          <p:cNvPicPr>
            <a:picLocks noChangeAspect="1"/>
          </p:cNvPicPr>
          <p:nvPr/>
        </p:nvPicPr>
        <p:blipFill>
          <a:blip r:embed="rId1"/>
          <a:stretch>
            <a:fillRect/>
          </a:stretch>
        </p:blipFill>
        <p:spPr>
          <a:xfrm>
            <a:off x="10013594" y="2469794"/>
            <a:ext cx="592531" cy="592531"/>
          </a:xfrm>
          <a:prstGeom prst="rect">
            <a:avLst/>
          </a:prstGeom>
        </p:spPr>
      </p:pic>
      <p:sp>
        <p:nvSpPr>
          <p:cNvPr id="15" name="Text 12"/>
          <p:cNvSpPr/>
          <p:nvPr/>
        </p:nvSpPr>
        <p:spPr>
          <a:xfrm>
            <a:off x="914400" y="2697480"/>
            <a:ext cx="841248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Foundations</a:t>
            </a:r>
            <a:endParaRPr lang="en-US" sz="4400" dirty="0"/>
          </a:p>
        </p:txBody>
      </p:sp>
      <p:sp>
        <p:nvSpPr>
          <p:cNvPr id="16" name="Text 13"/>
          <p:cNvSpPr/>
          <p:nvPr/>
        </p:nvSpPr>
        <p:spPr>
          <a:xfrm>
            <a:off x="914400" y="3794760"/>
            <a:ext cx="7863840" cy="731520"/>
          </a:xfrm>
          <a:prstGeom prst="rect">
            <a:avLst/>
          </a:prstGeom>
          <a:noFill/>
          <a:ln/>
        </p:spPr>
        <p:txBody>
          <a:bodyPr wrap="square" lIns="0" tIns="0" rIns="0" bIns="0" rtlCol="0" anchor="ctr"/>
          <a:lstStyle/>
          <a:p>
            <a:pPr indent="0" marL="0">
              <a:buNone/>
            </a:pPr>
            <a:r>
              <a:rPr lang="en-US" sz="1600" dirty="0">
                <a:solidFill>
                  <a:srgbClr val="8B90B3"/>
                </a:solidFill>
                <a:latin typeface="Calibri" pitchFamily="34" charset="0"/>
                <a:ea typeface="Calibri" pitchFamily="34" charset="-122"/>
                <a:cs typeface="Calibri" pitchFamily="34" charset="-120"/>
              </a:rPr>
              <a:t>Defining the agent loop and what separates an agent from a script.</a:t>
            </a:r>
            <a:endParaRPr lang="en-US" sz="1600" dirty="0"/>
          </a:p>
        </p:txBody>
      </p:sp>
      <p:sp>
        <p:nvSpPr>
          <p:cNvPr id="17" name="Text 14"/>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5A5E8C"/>
                </a:solidFill>
                <a:latin typeface="Calibri" pitchFamily="34" charset="0"/>
                <a:ea typeface="Calibri" pitchFamily="34" charset="-122"/>
                <a:cs typeface="Calibri" pitchFamily="34" charset="-120"/>
              </a:rPr>
              <a:t>2</a:t>
            </a:r>
            <a:endParaRPr lang="en-US" sz="1000" dirty="0"/>
          </a:p>
        </p:txBody>
      </p:sp>
      <p:sp>
        <p:nvSpPr>
          <p:cNvPr id="18" name="Text 15"/>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4A4E7A"/>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What Is an AI Agent?</a:t>
            </a:r>
            <a:endParaRPr lang="en-US" sz="3000" dirty="0"/>
          </a:p>
        </p:txBody>
      </p:sp>
      <p:sp>
        <p:nvSpPr>
          <p:cNvPr id="4" name="Text 2"/>
          <p:cNvSpPr/>
          <p:nvPr/>
        </p:nvSpPr>
        <p:spPr>
          <a:xfrm>
            <a:off x="640080" y="1417320"/>
            <a:ext cx="5029200" cy="1463040"/>
          </a:xfrm>
          <a:prstGeom prst="rect">
            <a:avLst/>
          </a:prstGeom>
          <a:noFill/>
          <a:ln/>
        </p:spPr>
        <p:txBody>
          <a:bodyPr wrap="square" lIns="0" tIns="0" rIns="0" bIns="0" rtlCol="0" anchor="ctr"/>
          <a:lstStyle/>
          <a:p>
            <a:pPr indent="0" marL="0">
              <a:lnSpc>
                <a:spcPct val="125000"/>
              </a:lnSpc>
              <a:buNone/>
            </a:pPr>
            <a:r>
              <a:rPr lang="en-US" sz="1500" dirty="0">
                <a:solidFill>
                  <a:srgbClr val="475569"/>
                </a:solidFill>
                <a:latin typeface="Calibri" pitchFamily="34" charset="0"/>
                <a:ea typeface="Calibri" pitchFamily="34" charset="-122"/>
                <a:cs typeface="Calibri" pitchFamily="34" charset="-120"/>
              </a:rPr>
              <a:t>A system where an LLM decides </a:t>
            </a:r>
            <a:pPr indent="0" marL="0">
              <a:lnSpc>
                <a:spcPct val="125000"/>
              </a:lnSpc>
              <a:buNone/>
            </a:pPr>
            <a:r>
              <a:rPr lang="en-US" sz="1500" i="1" dirty="0">
                <a:solidFill>
                  <a:srgbClr val="4F5BD5"/>
                </a:solidFill>
                <a:latin typeface="Calibri" pitchFamily="34" charset="0"/>
                <a:ea typeface="Calibri" pitchFamily="34" charset="-122"/>
                <a:cs typeface="Calibri" pitchFamily="34" charset="-120"/>
              </a:rPr>
              <a:t>what to do next</a:t>
            </a:r>
            <a:pPr indent="0" marL="0">
              <a:lnSpc>
                <a:spcPct val="125000"/>
              </a:lnSpc>
              <a:buNone/>
            </a:pPr>
            <a:r>
              <a:rPr lang="en-US" sz="1500" dirty="0">
                <a:solidFill>
                  <a:srgbClr val="475569"/>
                </a:solidFill>
                <a:latin typeface="Calibri" pitchFamily="34" charset="0"/>
                <a:ea typeface="Calibri" pitchFamily="34" charset="-122"/>
                <a:cs typeface="Calibri" pitchFamily="34" charset="-120"/>
              </a:rPr>
              <a:t> — not just what to say — by choosing actions, calling tools, and using the results to decide its next step.</a:t>
            </a:r>
            <a:endParaRPr lang="en-US" sz="1500" dirty="0"/>
          </a:p>
        </p:txBody>
      </p:sp>
      <p:sp>
        <p:nvSpPr>
          <p:cNvPr id="5" name="Shape 3"/>
          <p:cNvSpPr/>
          <p:nvPr/>
        </p:nvSpPr>
        <p:spPr>
          <a:xfrm>
            <a:off x="640080" y="3063240"/>
            <a:ext cx="457200" cy="457200"/>
          </a:xfrm>
          <a:prstGeom prst="ellipse">
            <a:avLst/>
          </a:prstGeom>
          <a:solidFill>
            <a:srgbClr val="F5F6FB"/>
          </a:solidFill>
          <a:ln/>
        </p:spPr>
      </p:sp>
      <p:pic>
        <p:nvPicPr>
          <p:cNvPr id="6" name="Image 0" descr="/home/claude/agents-deck/icons/compass_indigo.png">    </p:cNvPr>
          <p:cNvPicPr>
            <a:picLocks noChangeAspect="1"/>
          </p:cNvPicPr>
          <p:nvPr/>
        </p:nvPicPr>
        <p:blipFill>
          <a:blip r:embed="rId1"/>
          <a:stretch>
            <a:fillRect/>
          </a:stretch>
        </p:blipFill>
        <p:spPr>
          <a:xfrm>
            <a:off x="758952" y="3182112"/>
            <a:ext cx="219456" cy="219456"/>
          </a:xfrm>
          <a:prstGeom prst="rect">
            <a:avLst/>
          </a:prstGeom>
        </p:spPr>
      </p:pic>
      <p:sp>
        <p:nvSpPr>
          <p:cNvPr id="7" name="Text 4"/>
          <p:cNvSpPr/>
          <p:nvPr/>
        </p:nvSpPr>
        <p:spPr>
          <a:xfrm>
            <a:off x="1261872" y="3044952"/>
            <a:ext cx="1828800" cy="274320"/>
          </a:xfrm>
          <a:prstGeom prst="rect">
            <a:avLst/>
          </a:prstGeom>
          <a:noFill/>
          <a:ln/>
        </p:spPr>
        <p:txBody>
          <a:bodyPr wrap="square" lIns="0" tIns="0" rIns="0" bIns="0" rtlCol="0" anchor="ctr"/>
          <a:lstStyle/>
          <a:p>
            <a:pPr indent="0" marL="0">
              <a:buNone/>
            </a:pPr>
            <a:r>
              <a:rPr lang="en-US" sz="1300" b="1" dirty="0">
                <a:solidFill>
                  <a:srgbClr val="12142E"/>
                </a:solidFill>
                <a:latin typeface="Calibri" pitchFamily="34" charset="0"/>
                <a:ea typeface="Calibri" pitchFamily="34" charset="-122"/>
                <a:cs typeface="Calibri" pitchFamily="34" charset="-120"/>
              </a:rPr>
              <a:t>Goal-directed</a:t>
            </a:r>
            <a:endParaRPr lang="en-US" sz="1300" dirty="0"/>
          </a:p>
        </p:txBody>
      </p:sp>
      <p:sp>
        <p:nvSpPr>
          <p:cNvPr id="8" name="Text 5"/>
          <p:cNvSpPr/>
          <p:nvPr/>
        </p:nvSpPr>
        <p:spPr>
          <a:xfrm>
            <a:off x="1261872" y="3291840"/>
            <a:ext cx="4206240" cy="3200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Works toward an objective, not a single turn</a:t>
            </a:r>
            <a:endParaRPr lang="en-US" sz="1050" dirty="0"/>
          </a:p>
        </p:txBody>
      </p:sp>
      <p:sp>
        <p:nvSpPr>
          <p:cNvPr id="9" name="Shape 6"/>
          <p:cNvSpPr/>
          <p:nvPr/>
        </p:nvSpPr>
        <p:spPr>
          <a:xfrm>
            <a:off x="640080" y="3721608"/>
            <a:ext cx="457200" cy="457200"/>
          </a:xfrm>
          <a:prstGeom prst="ellipse">
            <a:avLst/>
          </a:prstGeom>
          <a:solidFill>
            <a:srgbClr val="F5F6FB"/>
          </a:solidFill>
          <a:ln/>
        </p:spPr>
      </p:sp>
      <p:pic>
        <p:nvPicPr>
          <p:cNvPr id="10" name="Image 1" descr="/home/claude/agents-deck/icons/route_indigo.png">    </p:cNvPr>
          <p:cNvPicPr>
            <a:picLocks noChangeAspect="1"/>
          </p:cNvPicPr>
          <p:nvPr/>
        </p:nvPicPr>
        <p:blipFill>
          <a:blip r:embed="rId2"/>
          <a:stretch>
            <a:fillRect/>
          </a:stretch>
        </p:blipFill>
        <p:spPr>
          <a:xfrm>
            <a:off x="758952" y="3840480"/>
            <a:ext cx="219456" cy="219456"/>
          </a:xfrm>
          <a:prstGeom prst="rect">
            <a:avLst/>
          </a:prstGeom>
        </p:spPr>
      </p:pic>
      <p:sp>
        <p:nvSpPr>
          <p:cNvPr id="11" name="Text 7"/>
          <p:cNvSpPr/>
          <p:nvPr/>
        </p:nvSpPr>
        <p:spPr>
          <a:xfrm>
            <a:off x="1261872" y="3703320"/>
            <a:ext cx="1828800" cy="274320"/>
          </a:xfrm>
          <a:prstGeom prst="rect">
            <a:avLst/>
          </a:prstGeom>
          <a:noFill/>
          <a:ln/>
        </p:spPr>
        <p:txBody>
          <a:bodyPr wrap="square" lIns="0" tIns="0" rIns="0" bIns="0" rtlCol="0" anchor="ctr"/>
          <a:lstStyle/>
          <a:p>
            <a:pPr indent="0" marL="0">
              <a:buNone/>
            </a:pPr>
            <a:r>
              <a:rPr lang="en-US" sz="1300" b="1" dirty="0">
                <a:solidFill>
                  <a:srgbClr val="12142E"/>
                </a:solidFill>
                <a:latin typeface="Calibri" pitchFamily="34" charset="0"/>
                <a:ea typeface="Calibri" pitchFamily="34" charset="-122"/>
                <a:cs typeface="Calibri" pitchFamily="34" charset="-120"/>
              </a:rPr>
              <a:t>Multi-step</a:t>
            </a:r>
            <a:endParaRPr lang="en-US" sz="1300" dirty="0"/>
          </a:p>
        </p:txBody>
      </p:sp>
      <p:sp>
        <p:nvSpPr>
          <p:cNvPr id="12" name="Text 8"/>
          <p:cNvSpPr/>
          <p:nvPr/>
        </p:nvSpPr>
        <p:spPr>
          <a:xfrm>
            <a:off x="1261872" y="3950208"/>
            <a:ext cx="4206240" cy="3200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Plans and sequences its own actions</a:t>
            </a:r>
            <a:endParaRPr lang="en-US" sz="1050" dirty="0"/>
          </a:p>
        </p:txBody>
      </p:sp>
      <p:sp>
        <p:nvSpPr>
          <p:cNvPr id="13" name="Shape 9"/>
          <p:cNvSpPr/>
          <p:nvPr/>
        </p:nvSpPr>
        <p:spPr>
          <a:xfrm>
            <a:off x="640080" y="4379976"/>
            <a:ext cx="457200" cy="457200"/>
          </a:xfrm>
          <a:prstGeom prst="ellipse">
            <a:avLst/>
          </a:prstGeom>
          <a:solidFill>
            <a:srgbClr val="F5F6FB"/>
          </a:solidFill>
          <a:ln/>
        </p:spPr>
      </p:sp>
      <p:pic>
        <p:nvPicPr>
          <p:cNvPr id="14" name="Image 2" descr="/home/claude/agents-deck/icons/wrench_indigo.png">    </p:cNvPr>
          <p:cNvPicPr>
            <a:picLocks noChangeAspect="1"/>
          </p:cNvPicPr>
          <p:nvPr/>
        </p:nvPicPr>
        <p:blipFill>
          <a:blip r:embed="rId3"/>
          <a:stretch>
            <a:fillRect/>
          </a:stretch>
        </p:blipFill>
        <p:spPr>
          <a:xfrm>
            <a:off x="758952" y="4498848"/>
            <a:ext cx="219456" cy="219456"/>
          </a:xfrm>
          <a:prstGeom prst="rect">
            <a:avLst/>
          </a:prstGeom>
        </p:spPr>
      </p:pic>
      <p:sp>
        <p:nvSpPr>
          <p:cNvPr id="15" name="Text 10"/>
          <p:cNvSpPr/>
          <p:nvPr/>
        </p:nvSpPr>
        <p:spPr>
          <a:xfrm>
            <a:off x="1261872" y="4361688"/>
            <a:ext cx="1828800" cy="274320"/>
          </a:xfrm>
          <a:prstGeom prst="rect">
            <a:avLst/>
          </a:prstGeom>
          <a:noFill/>
          <a:ln/>
        </p:spPr>
        <p:txBody>
          <a:bodyPr wrap="square" lIns="0" tIns="0" rIns="0" bIns="0" rtlCol="0" anchor="ctr"/>
          <a:lstStyle/>
          <a:p>
            <a:pPr indent="0" marL="0">
              <a:buNone/>
            </a:pPr>
            <a:r>
              <a:rPr lang="en-US" sz="1300" b="1" dirty="0">
                <a:solidFill>
                  <a:srgbClr val="12142E"/>
                </a:solidFill>
                <a:latin typeface="Calibri" pitchFamily="34" charset="0"/>
                <a:ea typeface="Calibri" pitchFamily="34" charset="-122"/>
                <a:cs typeface="Calibri" pitchFamily="34" charset="-120"/>
              </a:rPr>
              <a:t>Tool-using</a:t>
            </a:r>
            <a:endParaRPr lang="en-US" sz="1300" dirty="0"/>
          </a:p>
        </p:txBody>
      </p:sp>
      <p:sp>
        <p:nvSpPr>
          <p:cNvPr id="16" name="Text 11"/>
          <p:cNvSpPr/>
          <p:nvPr/>
        </p:nvSpPr>
        <p:spPr>
          <a:xfrm>
            <a:off x="1261872" y="4608576"/>
            <a:ext cx="4206240" cy="3200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Calls functions, APIs, or other agents</a:t>
            </a:r>
            <a:endParaRPr lang="en-US" sz="1050" dirty="0"/>
          </a:p>
        </p:txBody>
      </p:sp>
      <p:sp>
        <p:nvSpPr>
          <p:cNvPr id="17" name="Shape 12"/>
          <p:cNvSpPr/>
          <p:nvPr/>
        </p:nvSpPr>
        <p:spPr>
          <a:xfrm>
            <a:off x="640080" y="5038344"/>
            <a:ext cx="457200" cy="457200"/>
          </a:xfrm>
          <a:prstGeom prst="ellipse">
            <a:avLst/>
          </a:prstGeom>
          <a:solidFill>
            <a:srgbClr val="F5F6FB"/>
          </a:solidFill>
          <a:ln/>
        </p:spPr>
      </p:sp>
      <p:pic>
        <p:nvPicPr>
          <p:cNvPr id="18" name="Image 3" descr="/home/claude/agents-deck/icons/eye_indigo.png">    </p:cNvPr>
          <p:cNvPicPr>
            <a:picLocks noChangeAspect="1"/>
          </p:cNvPicPr>
          <p:nvPr/>
        </p:nvPicPr>
        <p:blipFill>
          <a:blip r:embed="rId4"/>
          <a:stretch>
            <a:fillRect/>
          </a:stretch>
        </p:blipFill>
        <p:spPr>
          <a:xfrm>
            <a:off x="758952" y="5157216"/>
            <a:ext cx="219456" cy="219456"/>
          </a:xfrm>
          <a:prstGeom prst="rect">
            <a:avLst/>
          </a:prstGeom>
        </p:spPr>
      </p:pic>
      <p:sp>
        <p:nvSpPr>
          <p:cNvPr id="19" name="Text 13"/>
          <p:cNvSpPr/>
          <p:nvPr/>
        </p:nvSpPr>
        <p:spPr>
          <a:xfrm>
            <a:off x="1261872" y="5020056"/>
            <a:ext cx="1828800" cy="274320"/>
          </a:xfrm>
          <a:prstGeom prst="rect">
            <a:avLst/>
          </a:prstGeom>
          <a:noFill/>
          <a:ln/>
        </p:spPr>
        <p:txBody>
          <a:bodyPr wrap="square" lIns="0" tIns="0" rIns="0" bIns="0" rtlCol="0" anchor="ctr"/>
          <a:lstStyle/>
          <a:p>
            <a:pPr indent="0" marL="0">
              <a:buNone/>
            </a:pPr>
            <a:r>
              <a:rPr lang="en-US" sz="1300" b="1" dirty="0">
                <a:solidFill>
                  <a:srgbClr val="12142E"/>
                </a:solidFill>
                <a:latin typeface="Calibri" pitchFamily="34" charset="0"/>
                <a:ea typeface="Calibri" pitchFamily="34" charset="-122"/>
                <a:cs typeface="Calibri" pitchFamily="34" charset="-120"/>
              </a:rPr>
              <a:t>Environment-aware</a:t>
            </a:r>
            <a:endParaRPr lang="en-US" sz="1300" dirty="0"/>
          </a:p>
        </p:txBody>
      </p:sp>
      <p:sp>
        <p:nvSpPr>
          <p:cNvPr id="20" name="Text 14"/>
          <p:cNvSpPr/>
          <p:nvPr/>
        </p:nvSpPr>
        <p:spPr>
          <a:xfrm>
            <a:off x="1261872" y="5266944"/>
            <a:ext cx="4206240" cy="3200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Observes results and adapts the plan</a:t>
            </a:r>
            <a:endParaRPr lang="en-US" sz="1050" dirty="0"/>
          </a:p>
        </p:txBody>
      </p:sp>
      <p:sp>
        <p:nvSpPr>
          <p:cNvPr id="21" name="Shape 15"/>
          <p:cNvSpPr/>
          <p:nvPr/>
        </p:nvSpPr>
        <p:spPr>
          <a:xfrm>
            <a:off x="6035040" y="1371600"/>
            <a:ext cx="5486400" cy="4937760"/>
          </a:xfrm>
          <a:prstGeom prst="roundRect">
            <a:avLst>
              <a:gd name="adj" fmla="val 1481"/>
            </a:avLst>
          </a:prstGeom>
          <a:solidFill>
            <a:srgbClr val="12142E"/>
          </a:solidFill>
          <a:ln/>
          <a:effectLst>
            <a:outerShdw sx="100000" sy="100000" kx="0" ky="0" algn="bl" rotWithShape="0" blurRad="101600" dist="38100" dir="5400000">
              <a:srgbClr val="12142E">
                <a:alpha val="10000"/>
              </a:srgbClr>
            </a:outerShdw>
          </a:effectLst>
        </p:spPr>
      </p:sp>
      <p:sp>
        <p:nvSpPr>
          <p:cNvPr id="22" name="Text 16"/>
          <p:cNvSpPr/>
          <p:nvPr/>
        </p:nvSpPr>
        <p:spPr>
          <a:xfrm>
            <a:off x="6309360" y="1600200"/>
            <a:ext cx="4572000" cy="274320"/>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THE AGENT LOOP</a:t>
            </a:r>
            <a:endParaRPr lang="en-US" sz="1100" dirty="0"/>
          </a:p>
        </p:txBody>
      </p:sp>
      <p:sp>
        <p:nvSpPr>
          <p:cNvPr id="23" name="Shape 17"/>
          <p:cNvSpPr/>
          <p:nvPr/>
        </p:nvSpPr>
        <p:spPr>
          <a:xfrm>
            <a:off x="8275320" y="1508760"/>
            <a:ext cx="1005840" cy="1005840"/>
          </a:xfrm>
          <a:prstGeom prst="ellipse">
            <a:avLst/>
          </a:prstGeom>
          <a:solidFill>
            <a:srgbClr val="1C1F47"/>
          </a:solidFill>
          <a:ln/>
        </p:spPr>
      </p:sp>
      <p:pic>
        <p:nvPicPr>
          <p:cNvPr id="24" name="Image 4" descr="/home/claude/agents-deck/icons/search_cyan.png">    </p:cNvPr>
          <p:cNvPicPr>
            <a:picLocks noChangeAspect="1"/>
          </p:cNvPicPr>
          <p:nvPr/>
        </p:nvPicPr>
        <p:blipFill>
          <a:blip r:embed="rId5"/>
          <a:stretch>
            <a:fillRect/>
          </a:stretch>
        </p:blipFill>
        <p:spPr>
          <a:xfrm>
            <a:off x="8536838" y="1770278"/>
            <a:ext cx="482803" cy="482803"/>
          </a:xfrm>
          <a:prstGeom prst="rect">
            <a:avLst/>
          </a:prstGeom>
        </p:spPr>
      </p:pic>
      <p:sp>
        <p:nvSpPr>
          <p:cNvPr id="25" name="Text 18"/>
          <p:cNvSpPr/>
          <p:nvPr/>
        </p:nvSpPr>
        <p:spPr>
          <a:xfrm>
            <a:off x="7909560" y="2551176"/>
            <a:ext cx="173736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Perceive</a:t>
            </a:r>
            <a:endParaRPr lang="en-US" sz="1250" dirty="0"/>
          </a:p>
        </p:txBody>
      </p:sp>
      <p:sp>
        <p:nvSpPr>
          <p:cNvPr id="26" name="Shape 19"/>
          <p:cNvSpPr/>
          <p:nvPr/>
        </p:nvSpPr>
        <p:spPr>
          <a:xfrm>
            <a:off x="9829800" y="3063240"/>
            <a:ext cx="1005840" cy="1005840"/>
          </a:xfrm>
          <a:prstGeom prst="ellipse">
            <a:avLst/>
          </a:prstGeom>
          <a:solidFill>
            <a:srgbClr val="1C1F47"/>
          </a:solidFill>
          <a:ln/>
        </p:spPr>
      </p:sp>
      <p:pic>
        <p:nvPicPr>
          <p:cNvPr id="27" name="Image 5" descr="/home/claude/agents-deck/icons/brain_cyan.png">    </p:cNvPr>
          <p:cNvPicPr>
            <a:picLocks noChangeAspect="1"/>
          </p:cNvPicPr>
          <p:nvPr/>
        </p:nvPicPr>
        <p:blipFill>
          <a:blip r:embed="rId6"/>
          <a:stretch>
            <a:fillRect/>
          </a:stretch>
        </p:blipFill>
        <p:spPr>
          <a:xfrm>
            <a:off x="10091318" y="3324758"/>
            <a:ext cx="482803" cy="482803"/>
          </a:xfrm>
          <a:prstGeom prst="rect">
            <a:avLst/>
          </a:prstGeom>
        </p:spPr>
      </p:pic>
      <p:sp>
        <p:nvSpPr>
          <p:cNvPr id="28" name="Text 20"/>
          <p:cNvSpPr/>
          <p:nvPr/>
        </p:nvSpPr>
        <p:spPr>
          <a:xfrm>
            <a:off x="9464040" y="4105656"/>
            <a:ext cx="173736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Reason</a:t>
            </a:r>
            <a:endParaRPr lang="en-US" sz="1250" dirty="0"/>
          </a:p>
        </p:txBody>
      </p:sp>
      <p:sp>
        <p:nvSpPr>
          <p:cNvPr id="29" name="Shape 21"/>
          <p:cNvSpPr/>
          <p:nvPr/>
        </p:nvSpPr>
        <p:spPr>
          <a:xfrm>
            <a:off x="8275320" y="4617720"/>
            <a:ext cx="1005840" cy="1005840"/>
          </a:xfrm>
          <a:prstGeom prst="ellipse">
            <a:avLst/>
          </a:prstGeom>
          <a:solidFill>
            <a:srgbClr val="1C1F47"/>
          </a:solidFill>
          <a:ln/>
        </p:spPr>
      </p:sp>
      <p:pic>
        <p:nvPicPr>
          <p:cNvPr id="30" name="Image 6" descr="/home/claude/agents-deck/icons/bolt_cyan.png">    </p:cNvPr>
          <p:cNvPicPr>
            <a:picLocks noChangeAspect="1"/>
          </p:cNvPicPr>
          <p:nvPr/>
        </p:nvPicPr>
        <p:blipFill>
          <a:blip r:embed="rId7"/>
          <a:stretch>
            <a:fillRect/>
          </a:stretch>
        </p:blipFill>
        <p:spPr>
          <a:xfrm>
            <a:off x="8536838" y="4879238"/>
            <a:ext cx="482803" cy="482803"/>
          </a:xfrm>
          <a:prstGeom prst="rect">
            <a:avLst/>
          </a:prstGeom>
        </p:spPr>
      </p:pic>
      <p:sp>
        <p:nvSpPr>
          <p:cNvPr id="31" name="Text 22"/>
          <p:cNvSpPr/>
          <p:nvPr/>
        </p:nvSpPr>
        <p:spPr>
          <a:xfrm>
            <a:off x="7909560" y="5660136"/>
            <a:ext cx="173736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Act</a:t>
            </a:r>
            <a:endParaRPr lang="en-US" sz="1250" dirty="0"/>
          </a:p>
        </p:txBody>
      </p:sp>
      <p:sp>
        <p:nvSpPr>
          <p:cNvPr id="32" name="Shape 23"/>
          <p:cNvSpPr/>
          <p:nvPr/>
        </p:nvSpPr>
        <p:spPr>
          <a:xfrm>
            <a:off x="6720840" y="3063240"/>
            <a:ext cx="1005840" cy="1005840"/>
          </a:xfrm>
          <a:prstGeom prst="ellipse">
            <a:avLst/>
          </a:prstGeom>
          <a:solidFill>
            <a:srgbClr val="1C1F47"/>
          </a:solidFill>
          <a:ln/>
        </p:spPr>
      </p:sp>
      <p:pic>
        <p:nvPicPr>
          <p:cNvPr id="33" name="Image 7" descr="/home/claude/agents-deck/icons/eye_cyan.png">    </p:cNvPr>
          <p:cNvPicPr>
            <a:picLocks noChangeAspect="1"/>
          </p:cNvPicPr>
          <p:nvPr/>
        </p:nvPicPr>
        <p:blipFill>
          <a:blip r:embed="rId8"/>
          <a:stretch>
            <a:fillRect/>
          </a:stretch>
        </p:blipFill>
        <p:spPr>
          <a:xfrm>
            <a:off x="6982358" y="3324758"/>
            <a:ext cx="482803" cy="482803"/>
          </a:xfrm>
          <a:prstGeom prst="rect">
            <a:avLst/>
          </a:prstGeom>
        </p:spPr>
      </p:pic>
      <p:sp>
        <p:nvSpPr>
          <p:cNvPr id="34" name="Text 24"/>
          <p:cNvSpPr/>
          <p:nvPr/>
        </p:nvSpPr>
        <p:spPr>
          <a:xfrm>
            <a:off x="6355080" y="4105656"/>
            <a:ext cx="173736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Observe</a:t>
            </a:r>
            <a:endParaRPr lang="en-US" sz="1250" dirty="0"/>
          </a:p>
        </p:txBody>
      </p:sp>
      <p:sp>
        <p:nvSpPr>
          <p:cNvPr id="35" name="Shape 25"/>
          <p:cNvSpPr/>
          <p:nvPr/>
        </p:nvSpPr>
        <p:spPr>
          <a:xfrm>
            <a:off x="9762798" y="2417010"/>
            <a:ext cx="164592" cy="164592"/>
          </a:xfrm>
          <a:prstGeom prst="ellipse">
            <a:avLst/>
          </a:prstGeom>
          <a:solidFill>
            <a:srgbClr val="4F5BD5"/>
          </a:solidFill>
          <a:ln/>
        </p:spPr>
      </p:sp>
      <p:sp>
        <p:nvSpPr>
          <p:cNvPr id="36" name="Shape 26"/>
          <p:cNvSpPr/>
          <p:nvPr/>
        </p:nvSpPr>
        <p:spPr>
          <a:xfrm>
            <a:off x="9762798" y="4550718"/>
            <a:ext cx="164592" cy="164592"/>
          </a:xfrm>
          <a:prstGeom prst="ellipse">
            <a:avLst/>
          </a:prstGeom>
          <a:solidFill>
            <a:srgbClr val="4F5BD5"/>
          </a:solidFill>
          <a:ln/>
        </p:spPr>
      </p:sp>
      <p:sp>
        <p:nvSpPr>
          <p:cNvPr id="37" name="Shape 27"/>
          <p:cNvSpPr/>
          <p:nvPr/>
        </p:nvSpPr>
        <p:spPr>
          <a:xfrm>
            <a:off x="7629090" y="4550718"/>
            <a:ext cx="164592" cy="164592"/>
          </a:xfrm>
          <a:prstGeom prst="ellipse">
            <a:avLst/>
          </a:prstGeom>
          <a:solidFill>
            <a:srgbClr val="4F5BD5"/>
          </a:solidFill>
          <a:ln/>
        </p:spPr>
      </p:sp>
      <p:sp>
        <p:nvSpPr>
          <p:cNvPr id="38" name="Shape 28"/>
          <p:cNvSpPr/>
          <p:nvPr/>
        </p:nvSpPr>
        <p:spPr>
          <a:xfrm>
            <a:off x="7629090" y="2417010"/>
            <a:ext cx="164592" cy="164592"/>
          </a:xfrm>
          <a:prstGeom prst="ellipse">
            <a:avLst/>
          </a:prstGeom>
          <a:solidFill>
            <a:srgbClr val="4F5BD5"/>
          </a:solidFill>
          <a:ln/>
        </p:spPr>
      </p:sp>
      <p:sp>
        <p:nvSpPr>
          <p:cNvPr id="39" name="Text 29"/>
          <p:cNvSpPr/>
          <p:nvPr/>
        </p:nvSpPr>
        <p:spPr>
          <a:xfrm>
            <a:off x="8412480" y="3364992"/>
            <a:ext cx="731520" cy="402336"/>
          </a:xfrm>
          <a:prstGeom prst="rect">
            <a:avLst/>
          </a:prstGeom>
          <a:noFill/>
          <a:ln/>
        </p:spPr>
        <p:txBody>
          <a:bodyPr wrap="square" lIns="0" tIns="0" rIns="0" bIns="0" rtlCol="0" anchor="ctr"/>
          <a:lstStyle/>
          <a:p>
            <a:pPr algn="ctr" indent="0" marL="0">
              <a:buNone/>
            </a:pPr>
            <a:r>
              <a:rPr lang="en-US" sz="1500" b="1" dirty="0">
                <a:solidFill>
                  <a:srgbClr val="12142E"/>
                </a:solidFill>
                <a:latin typeface="Cambria" pitchFamily="34" charset="0"/>
                <a:ea typeface="Cambria" pitchFamily="34" charset="-122"/>
                <a:cs typeface="Cambria" pitchFamily="34" charset="-120"/>
              </a:rPr>
              <a:t>LLM</a:t>
            </a:r>
            <a:endParaRPr lang="en-US" sz="1500" dirty="0"/>
          </a:p>
        </p:txBody>
      </p:sp>
      <p:sp>
        <p:nvSpPr>
          <p:cNvPr id="40" name="Shape 30"/>
          <p:cNvSpPr/>
          <p:nvPr/>
        </p:nvSpPr>
        <p:spPr>
          <a:xfrm>
            <a:off x="8394192" y="3182112"/>
            <a:ext cx="768096" cy="768096"/>
          </a:xfrm>
          <a:prstGeom prst="ellipse">
            <a:avLst/>
          </a:prstGeom>
          <a:solidFill>
            <a:srgbClr val="22D3EE"/>
          </a:solidFill>
          <a:ln/>
        </p:spPr>
      </p:sp>
      <p:sp>
        <p:nvSpPr>
          <p:cNvPr id="41" name="Text 31"/>
          <p:cNvSpPr/>
          <p:nvPr/>
        </p:nvSpPr>
        <p:spPr>
          <a:xfrm>
            <a:off x="8394192" y="3182112"/>
            <a:ext cx="768096" cy="768096"/>
          </a:xfrm>
          <a:prstGeom prst="rect">
            <a:avLst/>
          </a:prstGeom>
          <a:noFill/>
          <a:ln/>
        </p:spPr>
        <p:txBody>
          <a:bodyPr wrap="square" lIns="0" tIns="0" rIns="0" bIns="0" rtlCol="0" anchor="ctr"/>
          <a:lstStyle/>
          <a:p>
            <a:pPr algn="ctr" indent="0" marL="0">
              <a:buNone/>
            </a:pPr>
            <a:r>
              <a:rPr lang="en-US" sz="1400" b="1" dirty="0">
                <a:solidFill>
                  <a:srgbClr val="12142E"/>
                </a:solidFill>
                <a:latin typeface="Cambria" pitchFamily="34" charset="0"/>
                <a:ea typeface="Cambria" pitchFamily="34" charset="-122"/>
                <a:cs typeface="Cambria" pitchFamily="34" charset="-120"/>
              </a:rPr>
              <a:t>LLM</a:t>
            </a:r>
            <a:endParaRPr lang="en-US" sz="1400" dirty="0"/>
          </a:p>
        </p:txBody>
      </p:sp>
      <p:sp>
        <p:nvSpPr>
          <p:cNvPr id="42" name="Text 32"/>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3</a:t>
            </a:r>
            <a:endParaRPr lang="en-US" sz="1000" dirty="0"/>
          </a:p>
        </p:txBody>
      </p:sp>
      <p:sp>
        <p:nvSpPr>
          <p:cNvPr id="43" name="Text 33"/>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Agents vs. Scripts vs. Chatbots</a:t>
            </a:r>
            <a:endParaRPr lang="en-US" sz="3000" dirty="0"/>
          </a:p>
        </p:txBody>
      </p:sp>
      <p:sp>
        <p:nvSpPr>
          <p:cNvPr id="4" name="Shape 2"/>
          <p:cNvSpPr/>
          <p:nvPr/>
        </p:nvSpPr>
        <p:spPr>
          <a:xfrm>
            <a:off x="640080" y="1554480"/>
            <a:ext cx="3520440" cy="4206240"/>
          </a:xfrm>
          <a:prstGeom prst="roundRect">
            <a:avLst>
              <a:gd name="adj" fmla="val 2078"/>
            </a:avLst>
          </a:prstGeom>
          <a:solidFill>
            <a:srgbClr val="F5F6FB"/>
          </a:solidFill>
          <a:ln/>
          <a:effectLst>
            <a:outerShdw sx="100000" sy="100000" kx="0" ky="0" algn="bl" rotWithShape="0" blurRad="101600" dist="38100" dir="5400000">
              <a:srgbClr val="12142E">
                <a:alpha val="10000"/>
              </a:srgbClr>
            </a:outerShdw>
          </a:effectLst>
        </p:spPr>
      </p:sp>
      <p:sp>
        <p:nvSpPr>
          <p:cNvPr id="5" name="Shape 3"/>
          <p:cNvSpPr/>
          <p:nvPr/>
        </p:nvSpPr>
        <p:spPr>
          <a:xfrm>
            <a:off x="896112" y="1810512"/>
            <a:ext cx="548640" cy="548640"/>
          </a:xfrm>
          <a:prstGeom prst="ellipse">
            <a:avLst/>
          </a:prstGeom>
          <a:solidFill>
            <a:srgbClr val="FFFFFF"/>
          </a:solidFill>
          <a:ln/>
        </p:spPr>
      </p:sp>
      <p:pic>
        <p:nvPicPr>
          <p:cNvPr id="6" name="Image 0" descr="/home/claude/agents-deck/icons/code_navy.png">    </p:cNvPr>
          <p:cNvPicPr>
            <a:picLocks noChangeAspect="1"/>
          </p:cNvPicPr>
          <p:nvPr/>
        </p:nvPicPr>
        <p:blipFill>
          <a:blip r:embed="rId1"/>
          <a:stretch>
            <a:fillRect/>
          </a:stretch>
        </p:blipFill>
        <p:spPr>
          <a:xfrm>
            <a:off x="1038758" y="1953158"/>
            <a:ext cx="263347" cy="263347"/>
          </a:xfrm>
          <a:prstGeom prst="rect">
            <a:avLst/>
          </a:prstGeom>
        </p:spPr>
      </p:pic>
      <p:sp>
        <p:nvSpPr>
          <p:cNvPr id="7" name="Text 4"/>
          <p:cNvSpPr/>
          <p:nvPr/>
        </p:nvSpPr>
        <p:spPr>
          <a:xfrm>
            <a:off x="896112" y="2468880"/>
            <a:ext cx="3008376" cy="502920"/>
          </a:xfrm>
          <a:prstGeom prst="rect">
            <a:avLst/>
          </a:prstGeom>
          <a:noFill/>
          <a:ln/>
        </p:spPr>
        <p:txBody>
          <a:bodyPr wrap="square" lIns="0" tIns="0" rIns="0" bIns="0" rtlCol="0" anchor="ctr"/>
          <a:lstStyle/>
          <a:p>
            <a:pPr indent="0" marL="0">
              <a:buNone/>
            </a:pPr>
            <a:r>
              <a:rPr lang="en-US" sz="1600" b="1" dirty="0">
                <a:solidFill>
                  <a:srgbClr val="12142E"/>
                </a:solidFill>
                <a:latin typeface="Calibri" pitchFamily="34" charset="0"/>
                <a:ea typeface="Calibri" pitchFamily="34" charset="-122"/>
                <a:cs typeface="Calibri" pitchFamily="34" charset="-120"/>
              </a:rPr>
              <a:t>Fixed Script</a:t>
            </a:r>
            <a:endParaRPr lang="en-US" sz="1600" dirty="0"/>
          </a:p>
        </p:txBody>
      </p:sp>
      <p:sp>
        <p:nvSpPr>
          <p:cNvPr id="8" name="Text 5"/>
          <p:cNvSpPr/>
          <p:nvPr/>
        </p:nvSpPr>
        <p:spPr>
          <a:xfrm>
            <a:off x="896112" y="3063240"/>
            <a:ext cx="3008376" cy="246888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475569"/>
                </a:solidFill>
                <a:latin typeface="Calibri" pitchFamily="34" charset="0"/>
                <a:ea typeface="Calibri" pitchFamily="34" charset="-122"/>
                <a:cs typeface="Calibri" pitchFamily="34" charset="-120"/>
              </a:rPr>
              <a:t>Predefined steps</a:t>
            </a:r>
            <a:endParaRPr lang="en-US" sz="1200" dirty="0"/>
          </a:p>
          <a:p>
            <a:pPr marL="342900" indent="-342900">
              <a:spcAft>
                <a:spcPts val="1000"/>
              </a:spcAft>
              <a:buSzPct val="100000"/>
              <a:buChar char="–"/>
            </a:pPr>
            <a:r>
              <a:rPr lang="en-US" sz="1200" dirty="0">
                <a:solidFill>
                  <a:srgbClr val="475569"/>
                </a:solidFill>
                <a:latin typeface="Calibri" pitchFamily="34" charset="0"/>
                <a:ea typeface="Calibri" pitchFamily="34" charset="-122"/>
                <a:cs typeface="Calibri" pitchFamily="34" charset="-120"/>
              </a:rPr>
              <a:t>No reasoning</a:t>
            </a:r>
            <a:endParaRPr lang="en-US" sz="1200" dirty="0"/>
          </a:p>
          <a:p>
            <a:pPr marL="342900" indent="-342900">
              <a:spcAft>
                <a:spcPts val="1000"/>
              </a:spcAft>
              <a:buSzPct val="100000"/>
              <a:buChar char="–"/>
            </a:pPr>
            <a:r>
              <a:rPr lang="en-US" sz="1200" dirty="0">
                <a:solidFill>
                  <a:srgbClr val="475569"/>
                </a:solidFill>
                <a:latin typeface="Calibri" pitchFamily="34" charset="0"/>
                <a:ea typeface="Calibri" pitchFamily="34" charset="-122"/>
                <a:cs typeface="Calibri" pitchFamily="34" charset="-120"/>
              </a:rPr>
              <a:t>Breaks on the unexpected</a:t>
            </a:r>
            <a:endParaRPr lang="en-US" sz="1200" dirty="0"/>
          </a:p>
          <a:p>
            <a:pPr marL="342900" indent="-342900">
              <a:spcAft>
                <a:spcPts val="1000"/>
              </a:spcAft>
              <a:buSzPct val="100000"/>
              <a:buChar char="–"/>
            </a:pPr>
            <a:r>
              <a:rPr lang="en-US" sz="1200" dirty="0">
                <a:solidFill>
                  <a:srgbClr val="475569"/>
                </a:solidFill>
                <a:latin typeface="Calibri" pitchFamily="34" charset="0"/>
                <a:ea typeface="Calibri" pitchFamily="34" charset="-122"/>
                <a:cs typeface="Calibri" pitchFamily="34" charset="-120"/>
              </a:rPr>
              <a:t>Fully deterministic</a:t>
            </a:r>
            <a:endParaRPr lang="en-US" sz="1200" dirty="0"/>
          </a:p>
        </p:txBody>
      </p:sp>
      <p:sp>
        <p:nvSpPr>
          <p:cNvPr id="9" name="Shape 6"/>
          <p:cNvSpPr/>
          <p:nvPr/>
        </p:nvSpPr>
        <p:spPr>
          <a:xfrm>
            <a:off x="4416552" y="1554480"/>
            <a:ext cx="3520440" cy="4206240"/>
          </a:xfrm>
          <a:prstGeom prst="roundRect">
            <a:avLst>
              <a:gd name="adj" fmla="val 2078"/>
            </a:avLst>
          </a:prstGeom>
          <a:solidFill>
            <a:srgbClr val="F5F6FB"/>
          </a:solidFill>
          <a:ln/>
          <a:effectLst>
            <a:outerShdw sx="100000" sy="100000" kx="0" ky="0" algn="bl" rotWithShape="0" blurRad="101600" dist="38100" dir="5400000">
              <a:srgbClr val="12142E">
                <a:alpha val="10000"/>
              </a:srgbClr>
            </a:outerShdw>
          </a:effectLst>
        </p:spPr>
      </p:sp>
      <p:sp>
        <p:nvSpPr>
          <p:cNvPr id="10" name="Shape 7"/>
          <p:cNvSpPr/>
          <p:nvPr/>
        </p:nvSpPr>
        <p:spPr>
          <a:xfrm>
            <a:off x="4672584" y="1810512"/>
            <a:ext cx="548640" cy="548640"/>
          </a:xfrm>
          <a:prstGeom prst="ellipse">
            <a:avLst/>
          </a:prstGeom>
          <a:solidFill>
            <a:srgbClr val="FFFFFF"/>
          </a:solidFill>
          <a:ln/>
        </p:spPr>
      </p:sp>
      <p:pic>
        <p:nvPicPr>
          <p:cNvPr id="11" name="Image 1" descr="/home/claude/agents-deck/icons/comments_indigo.png">    </p:cNvPr>
          <p:cNvPicPr>
            <a:picLocks noChangeAspect="1"/>
          </p:cNvPicPr>
          <p:nvPr/>
        </p:nvPicPr>
        <p:blipFill>
          <a:blip r:embed="rId2"/>
          <a:stretch>
            <a:fillRect/>
          </a:stretch>
        </p:blipFill>
        <p:spPr>
          <a:xfrm>
            <a:off x="4815230" y="1953158"/>
            <a:ext cx="263347" cy="263347"/>
          </a:xfrm>
          <a:prstGeom prst="rect">
            <a:avLst/>
          </a:prstGeom>
        </p:spPr>
      </p:pic>
      <p:sp>
        <p:nvSpPr>
          <p:cNvPr id="12" name="Text 8"/>
          <p:cNvSpPr/>
          <p:nvPr/>
        </p:nvSpPr>
        <p:spPr>
          <a:xfrm>
            <a:off x="4672584" y="2468880"/>
            <a:ext cx="3008376" cy="502920"/>
          </a:xfrm>
          <a:prstGeom prst="rect">
            <a:avLst/>
          </a:prstGeom>
          <a:noFill/>
          <a:ln/>
        </p:spPr>
        <p:txBody>
          <a:bodyPr wrap="square" lIns="0" tIns="0" rIns="0" bIns="0" rtlCol="0" anchor="ctr"/>
          <a:lstStyle/>
          <a:p>
            <a:pPr indent="0" marL="0">
              <a:buNone/>
            </a:pPr>
            <a:r>
              <a:rPr lang="en-US" sz="1600" b="1" dirty="0">
                <a:solidFill>
                  <a:srgbClr val="12142E"/>
                </a:solidFill>
                <a:latin typeface="Calibri" pitchFamily="34" charset="0"/>
                <a:ea typeface="Calibri" pitchFamily="34" charset="-122"/>
                <a:cs typeface="Calibri" pitchFamily="34" charset="-120"/>
              </a:rPr>
              <a:t>Chatbot / Single-Turn LLM</a:t>
            </a:r>
            <a:endParaRPr lang="en-US" sz="1600" dirty="0"/>
          </a:p>
        </p:txBody>
      </p:sp>
      <p:sp>
        <p:nvSpPr>
          <p:cNvPr id="13" name="Text 9"/>
          <p:cNvSpPr/>
          <p:nvPr/>
        </p:nvSpPr>
        <p:spPr>
          <a:xfrm>
            <a:off x="4672584" y="3063240"/>
            <a:ext cx="3008376" cy="246888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475569"/>
                </a:solidFill>
                <a:latin typeface="Calibri" pitchFamily="34" charset="0"/>
                <a:ea typeface="Calibri" pitchFamily="34" charset="-122"/>
                <a:cs typeface="Calibri" pitchFamily="34" charset="-120"/>
              </a:rPr>
              <a:t>Responds per message</a:t>
            </a:r>
            <a:endParaRPr lang="en-US" sz="1200" dirty="0"/>
          </a:p>
          <a:p>
            <a:pPr marL="342900" indent="-342900">
              <a:spcAft>
                <a:spcPts val="1000"/>
              </a:spcAft>
              <a:buSzPct val="100000"/>
              <a:buChar char="–"/>
            </a:pPr>
            <a:r>
              <a:rPr lang="en-US" sz="1200" dirty="0">
                <a:solidFill>
                  <a:srgbClr val="475569"/>
                </a:solidFill>
                <a:latin typeface="Calibri" pitchFamily="34" charset="0"/>
                <a:ea typeface="Calibri" pitchFamily="34" charset="-122"/>
                <a:cs typeface="Calibri" pitchFamily="34" charset="-120"/>
              </a:rPr>
              <a:t>No persistent goal</a:t>
            </a:r>
            <a:endParaRPr lang="en-US" sz="1200" dirty="0"/>
          </a:p>
          <a:p>
            <a:pPr marL="342900" indent="-342900">
              <a:spcAft>
                <a:spcPts val="1000"/>
              </a:spcAft>
              <a:buSzPct val="100000"/>
              <a:buChar char="–"/>
            </a:pPr>
            <a:r>
              <a:rPr lang="en-US" sz="1200" dirty="0">
                <a:solidFill>
                  <a:srgbClr val="475569"/>
                </a:solidFill>
                <a:latin typeface="Calibri" pitchFamily="34" charset="0"/>
                <a:ea typeface="Calibri" pitchFamily="34" charset="-122"/>
                <a:cs typeface="Calibri" pitchFamily="34" charset="-120"/>
              </a:rPr>
              <a:t>No autonomous actions</a:t>
            </a:r>
            <a:endParaRPr lang="en-US" sz="1200" dirty="0"/>
          </a:p>
          <a:p>
            <a:pPr marL="342900" indent="-342900">
              <a:spcAft>
                <a:spcPts val="1000"/>
              </a:spcAft>
              <a:buSzPct val="100000"/>
              <a:buChar char="–"/>
            </a:pPr>
            <a:r>
              <a:rPr lang="en-US" sz="1200" dirty="0">
                <a:solidFill>
                  <a:srgbClr val="475569"/>
                </a:solidFill>
                <a:latin typeface="Calibri" pitchFamily="34" charset="0"/>
                <a:ea typeface="Calibri" pitchFamily="34" charset="-122"/>
                <a:cs typeface="Calibri" pitchFamily="34" charset="-120"/>
              </a:rPr>
              <a:t>Human drives every step</a:t>
            </a:r>
            <a:endParaRPr lang="en-US" sz="1200" dirty="0"/>
          </a:p>
        </p:txBody>
      </p:sp>
      <p:sp>
        <p:nvSpPr>
          <p:cNvPr id="14" name="Shape 10"/>
          <p:cNvSpPr/>
          <p:nvPr/>
        </p:nvSpPr>
        <p:spPr>
          <a:xfrm>
            <a:off x="8193024" y="1554480"/>
            <a:ext cx="3520440" cy="4206240"/>
          </a:xfrm>
          <a:prstGeom prst="roundRect">
            <a:avLst>
              <a:gd name="adj" fmla="val 2078"/>
            </a:avLst>
          </a:prstGeom>
          <a:solidFill>
            <a:srgbClr val="12142E"/>
          </a:solidFill>
          <a:ln/>
          <a:effectLst>
            <a:outerShdw sx="100000" sy="100000" kx="0" ky="0" algn="bl" rotWithShape="0" blurRad="101600" dist="38100" dir="5400000">
              <a:srgbClr val="12142E">
                <a:alpha val="10000"/>
              </a:srgbClr>
            </a:outerShdw>
          </a:effectLst>
        </p:spPr>
      </p:sp>
      <p:sp>
        <p:nvSpPr>
          <p:cNvPr id="15" name="Shape 11"/>
          <p:cNvSpPr/>
          <p:nvPr/>
        </p:nvSpPr>
        <p:spPr>
          <a:xfrm>
            <a:off x="8449056" y="1810512"/>
            <a:ext cx="548640" cy="548640"/>
          </a:xfrm>
          <a:prstGeom prst="ellipse">
            <a:avLst/>
          </a:prstGeom>
          <a:solidFill>
            <a:srgbClr val="1C1F47"/>
          </a:solidFill>
          <a:ln/>
        </p:spPr>
      </p:sp>
      <p:pic>
        <p:nvPicPr>
          <p:cNvPr id="16" name="Image 2" descr="/home/claude/agents-deck/icons/robot_cyan.png">    </p:cNvPr>
          <p:cNvPicPr>
            <a:picLocks noChangeAspect="1"/>
          </p:cNvPicPr>
          <p:nvPr/>
        </p:nvPicPr>
        <p:blipFill>
          <a:blip r:embed="rId3"/>
          <a:stretch>
            <a:fillRect/>
          </a:stretch>
        </p:blipFill>
        <p:spPr>
          <a:xfrm>
            <a:off x="8591702" y="1953158"/>
            <a:ext cx="263347" cy="263347"/>
          </a:xfrm>
          <a:prstGeom prst="rect">
            <a:avLst/>
          </a:prstGeom>
        </p:spPr>
      </p:pic>
      <p:sp>
        <p:nvSpPr>
          <p:cNvPr id="17" name="Text 12"/>
          <p:cNvSpPr/>
          <p:nvPr/>
        </p:nvSpPr>
        <p:spPr>
          <a:xfrm>
            <a:off x="8449056" y="2468880"/>
            <a:ext cx="3008376"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AI Agent</a:t>
            </a:r>
            <a:endParaRPr lang="en-US" sz="1600" dirty="0"/>
          </a:p>
        </p:txBody>
      </p:sp>
      <p:sp>
        <p:nvSpPr>
          <p:cNvPr id="18" name="Text 13"/>
          <p:cNvSpPr/>
          <p:nvPr/>
        </p:nvSpPr>
        <p:spPr>
          <a:xfrm>
            <a:off x="8449056" y="3063240"/>
            <a:ext cx="3008376" cy="246888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C7C9E6"/>
                </a:solidFill>
                <a:latin typeface="Calibri" pitchFamily="34" charset="0"/>
                <a:ea typeface="Calibri" pitchFamily="34" charset="-122"/>
                <a:cs typeface="Calibri" pitchFamily="34" charset="-120"/>
              </a:rPr>
              <a:t>Pursues a goal across steps</a:t>
            </a:r>
            <a:endParaRPr lang="en-US" sz="1200" dirty="0"/>
          </a:p>
          <a:p>
            <a:pPr marL="342900" indent="-342900">
              <a:spcAft>
                <a:spcPts val="1000"/>
              </a:spcAft>
              <a:buSzPct val="100000"/>
              <a:buChar char="–"/>
            </a:pPr>
            <a:r>
              <a:rPr lang="en-US" sz="1200" dirty="0">
                <a:solidFill>
                  <a:srgbClr val="C7C9E6"/>
                </a:solidFill>
                <a:latin typeface="Calibri" pitchFamily="34" charset="0"/>
                <a:ea typeface="Calibri" pitchFamily="34" charset="-122"/>
                <a:cs typeface="Calibri" pitchFamily="34" charset="-120"/>
              </a:rPr>
              <a:t>Chooses its own actions</a:t>
            </a:r>
            <a:endParaRPr lang="en-US" sz="1200" dirty="0"/>
          </a:p>
          <a:p>
            <a:pPr marL="342900" indent="-342900">
              <a:spcAft>
                <a:spcPts val="1000"/>
              </a:spcAft>
              <a:buSzPct val="100000"/>
              <a:buChar char="–"/>
            </a:pPr>
            <a:r>
              <a:rPr lang="en-US" sz="1200" dirty="0">
                <a:solidFill>
                  <a:srgbClr val="C7C9E6"/>
                </a:solidFill>
                <a:latin typeface="Calibri" pitchFamily="34" charset="0"/>
                <a:ea typeface="Calibri" pitchFamily="34" charset="-122"/>
                <a:cs typeface="Calibri" pitchFamily="34" charset="-120"/>
              </a:rPr>
              <a:t>Calls tools, checks results</a:t>
            </a:r>
            <a:endParaRPr lang="en-US" sz="1200" dirty="0"/>
          </a:p>
          <a:p>
            <a:pPr marL="342900" indent="-342900">
              <a:spcAft>
                <a:spcPts val="1000"/>
              </a:spcAft>
              <a:buSzPct val="100000"/>
              <a:buChar char="–"/>
            </a:pPr>
            <a:r>
              <a:rPr lang="en-US" sz="1200" dirty="0">
                <a:solidFill>
                  <a:srgbClr val="C7C9E6"/>
                </a:solidFill>
                <a:latin typeface="Calibri" pitchFamily="34" charset="0"/>
                <a:ea typeface="Calibri" pitchFamily="34" charset="-122"/>
                <a:cs typeface="Calibri" pitchFamily="34" charset="-120"/>
              </a:rPr>
              <a:t>Adapts plan as it learns</a:t>
            </a:r>
            <a:endParaRPr lang="en-US" sz="1200" dirty="0"/>
          </a:p>
        </p:txBody>
      </p:sp>
      <p:sp>
        <p:nvSpPr>
          <p:cNvPr id="19" name="Text 14"/>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4</a:t>
            </a:r>
            <a:endParaRPr lang="en-US" sz="1000" dirty="0"/>
          </a:p>
        </p:txBody>
      </p:sp>
      <p:sp>
        <p:nvSpPr>
          <p:cNvPr id="20" name="Text 15"/>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Anatomy of an Agent</a:t>
            </a:r>
            <a:endParaRPr lang="en-US" sz="3000" dirty="0"/>
          </a:p>
        </p:txBody>
      </p:sp>
      <p:sp>
        <p:nvSpPr>
          <p:cNvPr id="4" name="Shape 2"/>
          <p:cNvSpPr/>
          <p:nvPr/>
        </p:nvSpPr>
        <p:spPr>
          <a:xfrm>
            <a:off x="640080" y="1508760"/>
            <a:ext cx="10881360" cy="4343400"/>
          </a:xfrm>
          <a:prstGeom prst="roundRect">
            <a:avLst>
              <a:gd name="adj" fmla="val 1684"/>
            </a:avLst>
          </a:prstGeom>
          <a:solidFill>
            <a:srgbClr val="12142E"/>
          </a:solidFill>
          <a:ln/>
          <a:effectLst>
            <a:outerShdw sx="100000" sy="100000" kx="0" ky="0" algn="bl" rotWithShape="0" blurRad="101600" dist="38100" dir="5400000">
              <a:srgbClr val="12142E">
                <a:alpha val="10000"/>
              </a:srgbClr>
            </a:outerShdw>
          </a:effectLst>
        </p:spPr>
      </p:sp>
      <p:sp>
        <p:nvSpPr>
          <p:cNvPr id="5" name="Shape 3"/>
          <p:cNvSpPr/>
          <p:nvPr/>
        </p:nvSpPr>
        <p:spPr>
          <a:xfrm>
            <a:off x="5212080" y="2788920"/>
            <a:ext cx="1737360" cy="1737360"/>
          </a:xfrm>
          <a:prstGeom prst="ellipse">
            <a:avLst/>
          </a:prstGeom>
          <a:solidFill>
            <a:srgbClr val="1C1F47"/>
          </a:solidFill>
          <a:ln w="19050">
            <a:solidFill>
              <a:srgbClr val="22D3EE"/>
            </a:solidFill>
            <a:prstDash val="solid"/>
          </a:ln>
        </p:spPr>
      </p:sp>
      <p:sp>
        <p:nvSpPr>
          <p:cNvPr id="6" name="Text 4"/>
          <p:cNvSpPr/>
          <p:nvPr/>
        </p:nvSpPr>
        <p:spPr>
          <a:xfrm>
            <a:off x="5212080" y="2788920"/>
            <a:ext cx="1737360" cy="17373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LLM</a:t>
            </a: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Core</a:t>
            </a:r>
            <a:endParaRPr lang="en-US" sz="1600" dirty="0"/>
          </a:p>
        </p:txBody>
      </p:sp>
      <p:sp>
        <p:nvSpPr>
          <p:cNvPr id="7" name="Shape 5"/>
          <p:cNvSpPr/>
          <p:nvPr/>
        </p:nvSpPr>
        <p:spPr>
          <a:xfrm>
            <a:off x="1508760" y="1508760"/>
            <a:ext cx="914400" cy="914400"/>
          </a:xfrm>
          <a:prstGeom prst="ellipse">
            <a:avLst/>
          </a:prstGeom>
          <a:solidFill>
            <a:srgbClr val="1C1F47"/>
          </a:solidFill>
          <a:ln/>
        </p:spPr>
      </p:sp>
      <p:pic>
        <p:nvPicPr>
          <p:cNvPr id="8" name="Image 0" descr="/home/claude/agents-deck/icons/memory_cyan.png">    </p:cNvPr>
          <p:cNvPicPr>
            <a:picLocks noChangeAspect="1"/>
          </p:cNvPicPr>
          <p:nvPr/>
        </p:nvPicPr>
        <p:blipFill>
          <a:blip r:embed="rId1"/>
          <a:stretch>
            <a:fillRect/>
          </a:stretch>
        </p:blipFill>
        <p:spPr>
          <a:xfrm>
            <a:off x="1746504" y="1746504"/>
            <a:ext cx="438912" cy="438912"/>
          </a:xfrm>
          <a:prstGeom prst="rect">
            <a:avLst/>
          </a:prstGeom>
        </p:spPr>
      </p:pic>
      <p:sp>
        <p:nvSpPr>
          <p:cNvPr id="9" name="Text 6"/>
          <p:cNvSpPr/>
          <p:nvPr/>
        </p:nvSpPr>
        <p:spPr>
          <a:xfrm>
            <a:off x="777240" y="2532888"/>
            <a:ext cx="23774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Memory</a:t>
            </a:r>
            <a:endParaRPr lang="en-US" sz="1300" dirty="0"/>
          </a:p>
        </p:txBody>
      </p:sp>
      <p:sp>
        <p:nvSpPr>
          <p:cNvPr id="10" name="Text 7"/>
          <p:cNvSpPr/>
          <p:nvPr/>
        </p:nvSpPr>
        <p:spPr>
          <a:xfrm>
            <a:off x="777240" y="2843784"/>
            <a:ext cx="2377440" cy="457200"/>
          </a:xfrm>
          <a:prstGeom prst="rect">
            <a:avLst/>
          </a:prstGeom>
          <a:noFill/>
          <a:ln/>
        </p:spPr>
        <p:txBody>
          <a:bodyPr wrap="square" lIns="0" tIns="0" rIns="0" bIns="0" rtlCol="0" anchor="ctr"/>
          <a:lstStyle/>
          <a:p>
            <a:pPr algn="ctr" indent="0" marL="0">
              <a:lnSpc>
                <a:spcPct val="110000"/>
              </a:lnSpc>
              <a:buNone/>
            </a:pPr>
            <a:r>
              <a:rPr lang="en-US" sz="1000" dirty="0">
                <a:solidFill>
                  <a:srgbClr val="8B90B3"/>
                </a:solidFill>
                <a:latin typeface="Calibri" pitchFamily="34" charset="0"/>
                <a:ea typeface="Calibri" pitchFamily="34" charset="-122"/>
                <a:cs typeface="Calibri" pitchFamily="34" charset="-120"/>
              </a:rPr>
              <a:t>Context, history, retrieved facts</a:t>
            </a:r>
            <a:endParaRPr lang="en-US" sz="1000" dirty="0"/>
          </a:p>
        </p:txBody>
      </p:sp>
      <p:sp>
        <p:nvSpPr>
          <p:cNvPr id="11" name="Shape 8"/>
          <p:cNvSpPr/>
          <p:nvPr/>
        </p:nvSpPr>
        <p:spPr>
          <a:xfrm>
            <a:off x="1965960" y="1965960"/>
            <a:ext cx="4114800" cy="1691640"/>
          </a:xfrm>
          <a:prstGeom prst="line">
            <a:avLst/>
          </a:prstGeom>
          <a:noFill/>
          <a:ln w="12700">
            <a:solidFill>
              <a:srgbClr val="35386E"/>
            </a:solidFill>
            <a:prstDash val="solid"/>
          </a:ln>
        </p:spPr>
      </p:sp>
      <p:sp>
        <p:nvSpPr>
          <p:cNvPr id="12" name="Shape 9"/>
          <p:cNvSpPr/>
          <p:nvPr/>
        </p:nvSpPr>
        <p:spPr>
          <a:xfrm>
            <a:off x="8915400" y="1508760"/>
            <a:ext cx="914400" cy="914400"/>
          </a:xfrm>
          <a:prstGeom prst="ellipse">
            <a:avLst/>
          </a:prstGeom>
          <a:solidFill>
            <a:srgbClr val="1C1F47"/>
          </a:solidFill>
          <a:ln/>
        </p:spPr>
      </p:sp>
      <p:pic>
        <p:nvPicPr>
          <p:cNvPr id="13" name="Image 1" descr="/home/claude/agents-deck/icons/wrench_cyan.png">    </p:cNvPr>
          <p:cNvPicPr>
            <a:picLocks noChangeAspect="1"/>
          </p:cNvPicPr>
          <p:nvPr/>
        </p:nvPicPr>
        <p:blipFill>
          <a:blip r:embed="rId2"/>
          <a:stretch>
            <a:fillRect/>
          </a:stretch>
        </p:blipFill>
        <p:spPr>
          <a:xfrm>
            <a:off x="9153144" y="1746504"/>
            <a:ext cx="438912" cy="438912"/>
          </a:xfrm>
          <a:prstGeom prst="rect">
            <a:avLst/>
          </a:prstGeom>
        </p:spPr>
      </p:pic>
      <p:sp>
        <p:nvSpPr>
          <p:cNvPr id="14" name="Text 10"/>
          <p:cNvSpPr/>
          <p:nvPr/>
        </p:nvSpPr>
        <p:spPr>
          <a:xfrm>
            <a:off x="8183880" y="2532888"/>
            <a:ext cx="23774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Tools</a:t>
            </a:r>
            <a:endParaRPr lang="en-US" sz="1300" dirty="0"/>
          </a:p>
        </p:txBody>
      </p:sp>
      <p:sp>
        <p:nvSpPr>
          <p:cNvPr id="15" name="Text 11"/>
          <p:cNvSpPr/>
          <p:nvPr/>
        </p:nvSpPr>
        <p:spPr>
          <a:xfrm>
            <a:off x="8183880" y="2843784"/>
            <a:ext cx="2377440" cy="457200"/>
          </a:xfrm>
          <a:prstGeom prst="rect">
            <a:avLst/>
          </a:prstGeom>
          <a:noFill/>
          <a:ln/>
        </p:spPr>
        <p:txBody>
          <a:bodyPr wrap="square" lIns="0" tIns="0" rIns="0" bIns="0" rtlCol="0" anchor="ctr"/>
          <a:lstStyle/>
          <a:p>
            <a:pPr algn="ctr" indent="0" marL="0">
              <a:lnSpc>
                <a:spcPct val="110000"/>
              </a:lnSpc>
              <a:buNone/>
            </a:pPr>
            <a:r>
              <a:rPr lang="en-US" sz="1000" dirty="0">
                <a:solidFill>
                  <a:srgbClr val="8B90B3"/>
                </a:solidFill>
                <a:latin typeface="Calibri" pitchFamily="34" charset="0"/>
                <a:ea typeface="Calibri" pitchFamily="34" charset="-122"/>
                <a:cs typeface="Calibri" pitchFamily="34" charset="-120"/>
              </a:rPr>
              <a:t>Functions, APIs, other agents</a:t>
            </a:r>
            <a:endParaRPr lang="en-US" sz="1000" dirty="0"/>
          </a:p>
        </p:txBody>
      </p:sp>
      <p:sp>
        <p:nvSpPr>
          <p:cNvPr id="16" name="Shape 12"/>
          <p:cNvSpPr/>
          <p:nvPr/>
        </p:nvSpPr>
        <p:spPr>
          <a:xfrm flipV="1">
            <a:off x="6080760" y="1965960"/>
            <a:ext cx="3291840" cy="1691640"/>
          </a:xfrm>
          <a:prstGeom prst="line">
            <a:avLst/>
          </a:prstGeom>
          <a:noFill/>
          <a:ln w="12700">
            <a:solidFill>
              <a:srgbClr val="35386E"/>
            </a:solidFill>
            <a:prstDash val="solid"/>
          </a:ln>
        </p:spPr>
      </p:sp>
      <p:sp>
        <p:nvSpPr>
          <p:cNvPr id="17" name="Shape 13"/>
          <p:cNvSpPr/>
          <p:nvPr/>
        </p:nvSpPr>
        <p:spPr>
          <a:xfrm>
            <a:off x="1508760" y="4617720"/>
            <a:ext cx="914400" cy="914400"/>
          </a:xfrm>
          <a:prstGeom prst="ellipse">
            <a:avLst/>
          </a:prstGeom>
          <a:solidFill>
            <a:srgbClr val="1C1F47"/>
          </a:solidFill>
          <a:ln/>
        </p:spPr>
      </p:sp>
      <p:pic>
        <p:nvPicPr>
          <p:cNvPr id="18" name="Image 2" descr="/home/claude/agents-deck/icons/list_cyan.png">    </p:cNvPr>
          <p:cNvPicPr>
            <a:picLocks noChangeAspect="1"/>
          </p:cNvPicPr>
          <p:nvPr/>
        </p:nvPicPr>
        <p:blipFill>
          <a:blip r:embed="rId3"/>
          <a:stretch>
            <a:fillRect/>
          </a:stretch>
        </p:blipFill>
        <p:spPr>
          <a:xfrm>
            <a:off x="1746504" y="4855464"/>
            <a:ext cx="438912" cy="438912"/>
          </a:xfrm>
          <a:prstGeom prst="rect">
            <a:avLst/>
          </a:prstGeom>
        </p:spPr>
      </p:pic>
      <p:sp>
        <p:nvSpPr>
          <p:cNvPr id="19" name="Text 14"/>
          <p:cNvSpPr/>
          <p:nvPr/>
        </p:nvSpPr>
        <p:spPr>
          <a:xfrm>
            <a:off x="777240" y="4050792"/>
            <a:ext cx="23774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Planner</a:t>
            </a:r>
            <a:endParaRPr lang="en-US" sz="1300" dirty="0"/>
          </a:p>
        </p:txBody>
      </p:sp>
      <p:sp>
        <p:nvSpPr>
          <p:cNvPr id="20" name="Text 15"/>
          <p:cNvSpPr/>
          <p:nvPr/>
        </p:nvSpPr>
        <p:spPr>
          <a:xfrm>
            <a:off x="777240" y="4361688"/>
            <a:ext cx="2377440" cy="457200"/>
          </a:xfrm>
          <a:prstGeom prst="rect">
            <a:avLst/>
          </a:prstGeom>
          <a:noFill/>
          <a:ln/>
        </p:spPr>
        <p:txBody>
          <a:bodyPr wrap="square" lIns="0" tIns="0" rIns="0" bIns="0" rtlCol="0" anchor="ctr"/>
          <a:lstStyle/>
          <a:p>
            <a:pPr algn="ctr" indent="0" marL="0">
              <a:lnSpc>
                <a:spcPct val="110000"/>
              </a:lnSpc>
              <a:buNone/>
            </a:pPr>
            <a:r>
              <a:rPr lang="en-US" sz="1000" dirty="0">
                <a:solidFill>
                  <a:srgbClr val="8B90B3"/>
                </a:solidFill>
                <a:latin typeface="Calibri" pitchFamily="34" charset="0"/>
                <a:ea typeface="Calibri" pitchFamily="34" charset="-122"/>
                <a:cs typeface="Calibri" pitchFamily="34" charset="-120"/>
              </a:rPr>
              <a:t>Decomposes goals into steps</a:t>
            </a:r>
            <a:endParaRPr lang="en-US" sz="1000" dirty="0"/>
          </a:p>
        </p:txBody>
      </p:sp>
      <p:sp>
        <p:nvSpPr>
          <p:cNvPr id="21" name="Shape 16"/>
          <p:cNvSpPr/>
          <p:nvPr/>
        </p:nvSpPr>
        <p:spPr>
          <a:xfrm flipV="1">
            <a:off x="1965960" y="3657600"/>
            <a:ext cx="4114800" cy="1417320"/>
          </a:xfrm>
          <a:prstGeom prst="line">
            <a:avLst/>
          </a:prstGeom>
          <a:noFill/>
          <a:ln w="12700">
            <a:solidFill>
              <a:srgbClr val="35386E"/>
            </a:solidFill>
            <a:prstDash val="solid"/>
          </a:ln>
        </p:spPr>
      </p:sp>
      <p:sp>
        <p:nvSpPr>
          <p:cNvPr id="22" name="Shape 17"/>
          <p:cNvSpPr/>
          <p:nvPr/>
        </p:nvSpPr>
        <p:spPr>
          <a:xfrm>
            <a:off x="8915400" y="4617720"/>
            <a:ext cx="914400" cy="914400"/>
          </a:xfrm>
          <a:prstGeom prst="ellipse">
            <a:avLst/>
          </a:prstGeom>
          <a:solidFill>
            <a:srgbClr val="1C1F47"/>
          </a:solidFill>
          <a:ln/>
        </p:spPr>
      </p:sp>
      <p:pic>
        <p:nvPicPr>
          <p:cNvPr id="23" name="Image 3" descr="/home/claude/agents-deck/icons/network_cyan.png">    </p:cNvPr>
          <p:cNvPicPr>
            <a:picLocks noChangeAspect="1"/>
          </p:cNvPicPr>
          <p:nvPr/>
        </p:nvPicPr>
        <p:blipFill>
          <a:blip r:embed="rId4"/>
          <a:stretch>
            <a:fillRect/>
          </a:stretch>
        </p:blipFill>
        <p:spPr>
          <a:xfrm>
            <a:off x="9153144" y="4855464"/>
            <a:ext cx="438912" cy="438912"/>
          </a:xfrm>
          <a:prstGeom prst="rect">
            <a:avLst/>
          </a:prstGeom>
        </p:spPr>
      </p:pic>
      <p:sp>
        <p:nvSpPr>
          <p:cNvPr id="24" name="Text 18"/>
          <p:cNvSpPr/>
          <p:nvPr/>
        </p:nvSpPr>
        <p:spPr>
          <a:xfrm>
            <a:off x="8183880" y="4050792"/>
            <a:ext cx="23774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Orchestration</a:t>
            </a:r>
            <a:endParaRPr lang="en-US" sz="1300" dirty="0"/>
          </a:p>
        </p:txBody>
      </p:sp>
      <p:sp>
        <p:nvSpPr>
          <p:cNvPr id="25" name="Text 19"/>
          <p:cNvSpPr/>
          <p:nvPr/>
        </p:nvSpPr>
        <p:spPr>
          <a:xfrm>
            <a:off x="8183880" y="4361688"/>
            <a:ext cx="2377440" cy="457200"/>
          </a:xfrm>
          <a:prstGeom prst="rect">
            <a:avLst/>
          </a:prstGeom>
          <a:noFill/>
          <a:ln/>
        </p:spPr>
        <p:txBody>
          <a:bodyPr wrap="square" lIns="0" tIns="0" rIns="0" bIns="0" rtlCol="0" anchor="ctr"/>
          <a:lstStyle/>
          <a:p>
            <a:pPr algn="ctr" indent="0" marL="0">
              <a:lnSpc>
                <a:spcPct val="110000"/>
              </a:lnSpc>
              <a:buNone/>
            </a:pPr>
            <a:r>
              <a:rPr lang="en-US" sz="1000" dirty="0">
                <a:solidFill>
                  <a:srgbClr val="8B90B3"/>
                </a:solidFill>
                <a:latin typeface="Calibri" pitchFamily="34" charset="0"/>
                <a:ea typeface="Calibri" pitchFamily="34" charset="-122"/>
                <a:cs typeface="Calibri" pitchFamily="34" charset="-120"/>
              </a:rPr>
              <a:t>Coordinates steps &amp; sub-agents</a:t>
            </a:r>
            <a:endParaRPr lang="en-US" sz="1000" dirty="0"/>
          </a:p>
        </p:txBody>
      </p:sp>
      <p:sp>
        <p:nvSpPr>
          <p:cNvPr id="26" name="Shape 20"/>
          <p:cNvSpPr/>
          <p:nvPr/>
        </p:nvSpPr>
        <p:spPr>
          <a:xfrm>
            <a:off x="6080760" y="3657600"/>
            <a:ext cx="3291840" cy="1417320"/>
          </a:xfrm>
          <a:prstGeom prst="line">
            <a:avLst/>
          </a:prstGeom>
          <a:noFill/>
          <a:ln w="12700">
            <a:solidFill>
              <a:srgbClr val="35386E"/>
            </a:solidFill>
            <a:prstDash val="solid"/>
          </a:ln>
        </p:spPr>
      </p:sp>
      <p:sp>
        <p:nvSpPr>
          <p:cNvPr id="27" name="Text 21"/>
          <p:cNvSpPr/>
          <p:nvPr/>
        </p:nvSpPr>
        <p:spPr>
          <a:xfrm>
            <a:off x="640080" y="6035040"/>
            <a:ext cx="10881360" cy="548640"/>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The LLM core reasons over the goal and current state; the four modules around it give it memory, the ability to act, a way to plan, and a way to coordinate with other agents.</a:t>
            </a:r>
            <a:endParaRPr lang="en-US" sz="1150" dirty="0"/>
          </a:p>
        </p:txBody>
      </p:sp>
      <p:sp>
        <p:nvSpPr>
          <p:cNvPr id="28" name="Text 22"/>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5</a:t>
            </a:r>
            <a:endParaRPr lang="en-US" sz="1000" dirty="0"/>
          </a:p>
        </p:txBody>
      </p:sp>
      <p:sp>
        <p:nvSpPr>
          <p:cNvPr id="29" name="Text 23"/>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42E"/>
        </a:solidFill>
      </p:bgPr>
    </p:bg>
    <p:spTree>
      <p:nvGrpSpPr>
        <p:cNvPr id="1" name=""/>
        <p:cNvGrpSpPr/>
        <p:nvPr/>
      </p:nvGrpSpPr>
      <p:grpSpPr>
        <a:xfrm>
          <a:off x="0" y="0"/>
          <a:ext cx="0" cy="0"/>
          <a:chOff x="0" y="0"/>
          <a:chExt cx="0" cy="0"/>
        </a:xfrm>
      </p:grpSpPr>
      <p:sp>
        <p:nvSpPr>
          <p:cNvPr id="2" name="Shape 0"/>
          <p:cNvSpPr/>
          <p:nvPr/>
        </p:nvSpPr>
        <p:spPr>
          <a:xfrm>
            <a:off x="914400" y="914400"/>
            <a:ext cx="54864" cy="54864"/>
          </a:xfrm>
          <a:prstGeom prst="ellipse">
            <a:avLst/>
          </a:prstGeom>
          <a:solidFill>
            <a:srgbClr val="2A2D5C"/>
          </a:solidFill>
          <a:ln/>
        </p:spPr>
      </p:sp>
      <p:sp>
        <p:nvSpPr>
          <p:cNvPr id="3" name="Shape 1"/>
          <p:cNvSpPr/>
          <p:nvPr/>
        </p:nvSpPr>
        <p:spPr>
          <a:xfrm>
            <a:off x="1463040" y="2194560"/>
            <a:ext cx="54864" cy="54864"/>
          </a:xfrm>
          <a:prstGeom prst="ellipse">
            <a:avLst/>
          </a:prstGeom>
          <a:solidFill>
            <a:srgbClr val="2A2D5C"/>
          </a:solidFill>
          <a:ln/>
        </p:spPr>
      </p:sp>
      <p:sp>
        <p:nvSpPr>
          <p:cNvPr id="4" name="Shape 2"/>
          <p:cNvSpPr/>
          <p:nvPr/>
        </p:nvSpPr>
        <p:spPr>
          <a:xfrm>
            <a:off x="731520" y="3840480"/>
            <a:ext cx="54864" cy="54864"/>
          </a:xfrm>
          <a:prstGeom prst="ellipse">
            <a:avLst/>
          </a:prstGeom>
          <a:solidFill>
            <a:srgbClr val="2A2D5C"/>
          </a:solidFill>
          <a:ln/>
        </p:spPr>
      </p:sp>
      <p:sp>
        <p:nvSpPr>
          <p:cNvPr id="5" name="Shape 3"/>
          <p:cNvSpPr/>
          <p:nvPr/>
        </p:nvSpPr>
        <p:spPr>
          <a:xfrm>
            <a:off x="1737360" y="5120640"/>
            <a:ext cx="54864" cy="54864"/>
          </a:xfrm>
          <a:prstGeom prst="ellipse">
            <a:avLst/>
          </a:prstGeom>
          <a:solidFill>
            <a:srgbClr val="2A2D5C"/>
          </a:solidFill>
          <a:ln/>
        </p:spPr>
      </p:sp>
      <p:sp>
        <p:nvSpPr>
          <p:cNvPr id="6" name="Shape 4"/>
          <p:cNvSpPr/>
          <p:nvPr/>
        </p:nvSpPr>
        <p:spPr>
          <a:xfrm>
            <a:off x="2377440" y="1463040"/>
            <a:ext cx="54864" cy="54864"/>
          </a:xfrm>
          <a:prstGeom prst="ellipse">
            <a:avLst/>
          </a:prstGeom>
          <a:solidFill>
            <a:srgbClr val="2A2D5C"/>
          </a:solidFill>
          <a:ln/>
        </p:spPr>
      </p:sp>
      <p:sp>
        <p:nvSpPr>
          <p:cNvPr id="7" name="Shape 5"/>
          <p:cNvSpPr/>
          <p:nvPr/>
        </p:nvSpPr>
        <p:spPr>
          <a:xfrm>
            <a:off x="10789920" y="1097280"/>
            <a:ext cx="54864" cy="54864"/>
          </a:xfrm>
          <a:prstGeom prst="ellipse">
            <a:avLst/>
          </a:prstGeom>
          <a:solidFill>
            <a:srgbClr val="2A2D5C"/>
          </a:solidFill>
          <a:ln/>
        </p:spPr>
      </p:sp>
      <p:sp>
        <p:nvSpPr>
          <p:cNvPr id="8" name="Shape 6"/>
          <p:cNvSpPr/>
          <p:nvPr/>
        </p:nvSpPr>
        <p:spPr>
          <a:xfrm>
            <a:off x="11338560" y="2743200"/>
            <a:ext cx="54864" cy="54864"/>
          </a:xfrm>
          <a:prstGeom prst="ellipse">
            <a:avLst/>
          </a:prstGeom>
          <a:solidFill>
            <a:srgbClr val="2A2D5C"/>
          </a:solidFill>
          <a:ln/>
        </p:spPr>
      </p:sp>
      <p:sp>
        <p:nvSpPr>
          <p:cNvPr id="9" name="Shape 7"/>
          <p:cNvSpPr/>
          <p:nvPr/>
        </p:nvSpPr>
        <p:spPr>
          <a:xfrm>
            <a:off x="10515600" y="4572000"/>
            <a:ext cx="54864" cy="54864"/>
          </a:xfrm>
          <a:prstGeom prst="ellipse">
            <a:avLst/>
          </a:prstGeom>
          <a:solidFill>
            <a:srgbClr val="2A2D5C"/>
          </a:solidFill>
          <a:ln/>
        </p:spPr>
      </p:sp>
      <p:sp>
        <p:nvSpPr>
          <p:cNvPr id="10" name="Shape 8"/>
          <p:cNvSpPr/>
          <p:nvPr/>
        </p:nvSpPr>
        <p:spPr>
          <a:xfrm>
            <a:off x="11521440" y="5577840"/>
            <a:ext cx="54864" cy="54864"/>
          </a:xfrm>
          <a:prstGeom prst="ellipse">
            <a:avLst/>
          </a:prstGeom>
          <a:solidFill>
            <a:srgbClr val="2A2D5C"/>
          </a:solidFill>
          <a:ln/>
        </p:spPr>
      </p:sp>
      <p:sp>
        <p:nvSpPr>
          <p:cNvPr id="11" name="Shape 9"/>
          <p:cNvSpPr/>
          <p:nvPr/>
        </p:nvSpPr>
        <p:spPr>
          <a:xfrm>
            <a:off x="9966960" y="2011680"/>
            <a:ext cx="54864" cy="54864"/>
          </a:xfrm>
          <a:prstGeom prst="ellipse">
            <a:avLst/>
          </a:prstGeom>
          <a:solidFill>
            <a:srgbClr val="2A2D5C"/>
          </a:solidFill>
          <a:ln/>
        </p:spPr>
      </p:sp>
      <p:sp>
        <p:nvSpPr>
          <p:cNvPr id="12" name="Text 10"/>
          <p:cNvSpPr/>
          <p:nvPr/>
        </p:nvSpPr>
        <p:spPr>
          <a:xfrm>
            <a:off x="914400" y="2331720"/>
            <a:ext cx="5486400" cy="365760"/>
          </a:xfrm>
          <a:prstGeom prst="rect">
            <a:avLst/>
          </a:prstGeom>
          <a:noFill/>
          <a:ln/>
        </p:spPr>
        <p:txBody>
          <a:bodyPr wrap="square" lIns="0" tIns="0" rIns="0" bIns="0" rtlCol="0" anchor="ctr"/>
          <a:lstStyle/>
          <a:p>
            <a:pPr indent="0" marL="0">
              <a:buNone/>
            </a:pPr>
            <a:r>
              <a:rPr lang="en-US" sz="1300" b="1" spc="300" kern="0" dirty="0">
                <a:solidFill>
                  <a:srgbClr val="22D3EE"/>
                </a:solidFill>
                <a:latin typeface="Calibri" pitchFamily="34" charset="0"/>
                <a:ea typeface="Calibri" pitchFamily="34" charset="-122"/>
                <a:cs typeface="Calibri" pitchFamily="34" charset="-120"/>
              </a:rPr>
              <a:t>SECTION 2 / 7</a:t>
            </a:r>
            <a:endParaRPr lang="en-US" sz="1300" dirty="0"/>
          </a:p>
        </p:txBody>
      </p:sp>
      <p:sp>
        <p:nvSpPr>
          <p:cNvPr id="13" name="Shape 11"/>
          <p:cNvSpPr/>
          <p:nvPr/>
        </p:nvSpPr>
        <p:spPr>
          <a:xfrm>
            <a:off x="9692640" y="2148840"/>
            <a:ext cx="1234440" cy="1234440"/>
          </a:xfrm>
          <a:prstGeom prst="ellipse">
            <a:avLst/>
          </a:prstGeom>
          <a:solidFill>
            <a:srgbClr val="1C1F47"/>
          </a:solidFill>
          <a:ln/>
        </p:spPr>
      </p:sp>
      <p:pic>
        <p:nvPicPr>
          <p:cNvPr id="14" name="Image 0" descr="/home/claude/agents-deck/icons/memory_cyan.png">    </p:cNvPr>
          <p:cNvPicPr>
            <a:picLocks noChangeAspect="1"/>
          </p:cNvPicPr>
          <p:nvPr/>
        </p:nvPicPr>
        <p:blipFill>
          <a:blip r:embed="rId1"/>
          <a:stretch>
            <a:fillRect/>
          </a:stretch>
        </p:blipFill>
        <p:spPr>
          <a:xfrm>
            <a:off x="10013594" y="2469794"/>
            <a:ext cx="592531" cy="592531"/>
          </a:xfrm>
          <a:prstGeom prst="rect">
            <a:avLst/>
          </a:prstGeom>
        </p:spPr>
      </p:pic>
      <p:sp>
        <p:nvSpPr>
          <p:cNvPr id="15" name="Text 12"/>
          <p:cNvSpPr/>
          <p:nvPr/>
        </p:nvSpPr>
        <p:spPr>
          <a:xfrm>
            <a:off x="914400" y="2697480"/>
            <a:ext cx="841248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Memory</a:t>
            </a:r>
            <a:endParaRPr lang="en-US" sz="4400" dirty="0"/>
          </a:p>
        </p:txBody>
      </p:sp>
      <p:sp>
        <p:nvSpPr>
          <p:cNvPr id="16" name="Text 13"/>
          <p:cNvSpPr/>
          <p:nvPr/>
        </p:nvSpPr>
        <p:spPr>
          <a:xfrm>
            <a:off x="914400" y="3794760"/>
            <a:ext cx="7863840" cy="731520"/>
          </a:xfrm>
          <a:prstGeom prst="rect">
            <a:avLst/>
          </a:prstGeom>
          <a:noFill/>
          <a:ln/>
        </p:spPr>
        <p:txBody>
          <a:bodyPr wrap="square" lIns="0" tIns="0" rIns="0" bIns="0" rtlCol="0" anchor="ctr"/>
          <a:lstStyle/>
          <a:p>
            <a:pPr indent="0" marL="0">
              <a:buNone/>
            </a:pPr>
            <a:r>
              <a:rPr lang="en-US" sz="1600" dirty="0">
                <a:solidFill>
                  <a:srgbClr val="8B90B3"/>
                </a:solidFill>
                <a:latin typeface="Calibri" pitchFamily="34" charset="0"/>
                <a:ea typeface="Calibri" pitchFamily="34" charset="-122"/>
                <a:cs typeface="Calibri" pitchFamily="34" charset="-120"/>
              </a:rPr>
              <a:t>Giving an agent state: what to remember, for how long, and how to retrieve it.</a:t>
            </a:r>
            <a:endParaRPr lang="en-US" sz="1600" dirty="0"/>
          </a:p>
        </p:txBody>
      </p:sp>
      <p:sp>
        <p:nvSpPr>
          <p:cNvPr id="17" name="Text 14"/>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5A5E8C"/>
                </a:solidFill>
                <a:latin typeface="Calibri" pitchFamily="34" charset="0"/>
                <a:ea typeface="Calibri" pitchFamily="34" charset="-122"/>
                <a:cs typeface="Calibri" pitchFamily="34" charset="-120"/>
              </a:rPr>
              <a:t>6</a:t>
            </a:r>
            <a:endParaRPr lang="en-US" sz="1000" dirty="0"/>
          </a:p>
        </p:txBody>
      </p:sp>
      <p:sp>
        <p:nvSpPr>
          <p:cNvPr id="18" name="Text 15"/>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4A4E7A"/>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MEMORY</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Memory Types</a:t>
            </a:r>
            <a:endParaRPr lang="en-US" sz="3000" dirty="0"/>
          </a:p>
        </p:txBody>
      </p:sp>
      <p:sp>
        <p:nvSpPr>
          <p:cNvPr id="4" name="Shape 2"/>
          <p:cNvSpPr/>
          <p:nvPr/>
        </p:nvSpPr>
        <p:spPr>
          <a:xfrm>
            <a:off x="640080" y="1554480"/>
            <a:ext cx="5257800" cy="2148840"/>
          </a:xfrm>
          <a:prstGeom prst="roundRect">
            <a:avLst>
              <a:gd name="adj" fmla="val 3404"/>
            </a:avLst>
          </a:prstGeom>
          <a:solidFill>
            <a:srgbClr val="F5F6FB"/>
          </a:solidFill>
          <a:ln/>
          <a:effectLst>
            <a:outerShdw sx="100000" sy="100000" kx="0" ky="0" algn="bl" rotWithShape="0" blurRad="101600" dist="38100" dir="5400000">
              <a:srgbClr val="12142E">
                <a:alpha val="10000"/>
              </a:srgbClr>
            </a:outerShdw>
          </a:effectLst>
        </p:spPr>
      </p:sp>
      <p:sp>
        <p:nvSpPr>
          <p:cNvPr id="5" name="Shape 3"/>
          <p:cNvSpPr/>
          <p:nvPr/>
        </p:nvSpPr>
        <p:spPr>
          <a:xfrm>
            <a:off x="932688" y="1847088"/>
            <a:ext cx="621792" cy="621792"/>
          </a:xfrm>
          <a:prstGeom prst="ellipse">
            <a:avLst/>
          </a:prstGeom>
          <a:solidFill>
            <a:srgbClr val="12142E"/>
          </a:solidFill>
          <a:ln/>
        </p:spPr>
      </p:sp>
      <p:pic>
        <p:nvPicPr>
          <p:cNvPr id="6" name="Image 0" descr="/home/claude/agents-deck/icons/clock_cyan.png">    </p:cNvPr>
          <p:cNvPicPr>
            <a:picLocks noChangeAspect="1"/>
          </p:cNvPicPr>
          <p:nvPr/>
        </p:nvPicPr>
        <p:blipFill>
          <a:blip r:embed="rId1"/>
          <a:stretch>
            <a:fillRect/>
          </a:stretch>
        </p:blipFill>
        <p:spPr>
          <a:xfrm>
            <a:off x="1094354" y="2008754"/>
            <a:ext cx="298460" cy="298460"/>
          </a:xfrm>
          <a:prstGeom prst="rect">
            <a:avLst/>
          </a:prstGeom>
        </p:spPr>
      </p:pic>
      <p:sp>
        <p:nvSpPr>
          <p:cNvPr id="7" name="Text 4"/>
          <p:cNvSpPr/>
          <p:nvPr/>
        </p:nvSpPr>
        <p:spPr>
          <a:xfrm>
            <a:off x="1737360" y="1865376"/>
            <a:ext cx="3886200" cy="365760"/>
          </a:xfrm>
          <a:prstGeom prst="rect">
            <a:avLst/>
          </a:prstGeom>
          <a:noFill/>
          <a:ln/>
        </p:spPr>
        <p:txBody>
          <a:bodyPr wrap="square" lIns="0" tIns="0" rIns="0" bIns="0" rtlCol="0" anchor="ctr"/>
          <a:lstStyle/>
          <a:p>
            <a:pPr indent="0" marL="0">
              <a:buNone/>
            </a:pPr>
            <a:r>
              <a:rPr lang="en-US" sz="1550" b="1" dirty="0">
                <a:solidFill>
                  <a:srgbClr val="12142E"/>
                </a:solidFill>
                <a:latin typeface="Calibri" pitchFamily="34" charset="0"/>
                <a:ea typeface="Calibri" pitchFamily="34" charset="-122"/>
                <a:cs typeface="Calibri" pitchFamily="34" charset="-120"/>
              </a:rPr>
              <a:t>Short-Term / Working</a:t>
            </a:r>
            <a:endParaRPr lang="en-US" sz="1550" dirty="0"/>
          </a:p>
        </p:txBody>
      </p:sp>
      <p:sp>
        <p:nvSpPr>
          <p:cNvPr id="8" name="Text 5"/>
          <p:cNvSpPr/>
          <p:nvPr/>
        </p:nvSpPr>
        <p:spPr>
          <a:xfrm>
            <a:off x="932688" y="2606040"/>
            <a:ext cx="4672584" cy="960120"/>
          </a:xfrm>
          <a:prstGeom prst="rect">
            <a:avLst/>
          </a:prstGeom>
          <a:noFill/>
          <a:ln/>
        </p:spPr>
        <p:txBody>
          <a:bodyPr wrap="square" lIns="0" tIns="0" rIns="0" bIns="0" rtlCol="0" anchor="ctr"/>
          <a:lstStyle/>
          <a:p>
            <a:pPr indent="0" marL="0">
              <a:lnSpc>
                <a:spcPct val="120000"/>
              </a:lnSpc>
              <a:buNone/>
            </a:pPr>
            <a:r>
              <a:rPr lang="en-US" sz="1150" dirty="0">
                <a:solidFill>
                  <a:srgbClr val="475569"/>
                </a:solidFill>
                <a:latin typeface="Calibri" pitchFamily="34" charset="0"/>
                <a:ea typeface="Calibri" pitchFamily="34" charset="-122"/>
                <a:cs typeface="Calibri" pitchFamily="34" charset="-120"/>
              </a:rPr>
              <a:t>The active context window — current conversation, recent tool results, scratch notes for the task at hand.</a:t>
            </a:r>
            <a:endParaRPr lang="en-US" sz="1150" dirty="0"/>
          </a:p>
        </p:txBody>
      </p:sp>
      <p:sp>
        <p:nvSpPr>
          <p:cNvPr id="9" name="Shape 6"/>
          <p:cNvSpPr/>
          <p:nvPr/>
        </p:nvSpPr>
        <p:spPr>
          <a:xfrm>
            <a:off x="6263640" y="1554480"/>
            <a:ext cx="5257800" cy="2148840"/>
          </a:xfrm>
          <a:prstGeom prst="roundRect">
            <a:avLst>
              <a:gd name="adj" fmla="val 3404"/>
            </a:avLst>
          </a:prstGeom>
          <a:solidFill>
            <a:srgbClr val="F5F6FB"/>
          </a:solidFill>
          <a:ln/>
          <a:effectLst>
            <a:outerShdw sx="100000" sy="100000" kx="0" ky="0" algn="bl" rotWithShape="0" blurRad="101600" dist="38100" dir="5400000">
              <a:srgbClr val="12142E">
                <a:alpha val="10000"/>
              </a:srgbClr>
            </a:outerShdw>
          </a:effectLst>
        </p:spPr>
      </p:sp>
      <p:sp>
        <p:nvSpPr>
          <p:cNvPr id="10" name="Shape 7"/>
          <p:cNvSpPr/>
          <p:nvPr/>
        </p:nvSpPr>
        <p:spPr>
          <a:xfrm>
            <a:off x="6556248" y="1847088"/>
            <a:ext cx="621792" cy="621792"/>
          </a:xfrm>
          <a:prstGeom prst="ellipse">
            <a:avLst/>
          </a:prstGeom>
          <a:solidFill>
            <a:srgbClr val="12142E"/>
          </a:solidFill>
          <a:ln/>
        </p:spPr>
      </p:sp>
      <p:pic>
        <p:nvPicPr>
          <p:cNvPr id="11" name="Image 1" descr="/home/claude/agents-deck/icons/history_cyan.png">    </p:cNvPr>
          <p:cNvPicPr>
            <a:picLocks noChangeAspect="1"/>
          </p:cNvPicPr>
          <p:nvPr/>
        </p:nvPicPr>
        <p:blipFill>
          <a:blip r:embed="rId2"/>
          <a:stretch>
            <a:fillRect/>
          </a:stretch>
        </p:blipFill>
        <p:spPr>
          <a:xfrm>
            <a:off x="6717914" y="2008754"/>
            <a:ext cx="298460" cy="298460"/>
          </a:xfrm>
          <a:prstGeom prst="rect">
            <a:avLst/>
          </a:prstGeom>
        </p:spPr>
      </p:pic>
      <p:sp>
        <p:nvSpPr>
          <p:cNvPr id="12" name="Text 8"/>
          <p:cNvSpPr/>
          <p:nvPr/>
        </p:nvSpPr>
        <p:spPr>
          <a:xfrm>
            <a:off x="7360920" y="1865376"/>
            <a:ext cx="3886200" cy="365760"/>
          </a:xfrm>
          <a:prstGeom prst="rect">
            <a:avLst/>
          </a:prstGeom>
          <a:noFill/>
          <a:ln/>
        </p:spPr>
        <p:txBody>
          <a:bodyPr wrap="square" lIns="0" tIns="0" rIns="0" bIns="0" rtlCol="0" anchor="ctr"/>
          <a:lstStyle/>
          <a:p>
            <a:pPr indent="0" marL="0">
              <a:buNone/>
            </a:pPr>
            <a:r>
              <a:rPr lang="en-US" sz="1550" b="1" dirty="0">
                <a:solidFill>
                  <a:srgbClr val="12142E"/>
                </a:solidFill>
                <a:latin typeface="Calibri" pitchFamily="34" charset="0"/>
                <a:ea typeface="Calibri" pitchFamily="34" charset="-122"/>
                <a:cs typeface="Calibri" pitchFamily="34" charset="-120"/>
              </a:rPr>
              <a:t>Episodic</a:t>
            </a:r>
            <a:endParaRPr lang="en-US" sz="1550" dirty="0"/>
          </a:p>
        </p:txBody>
      </p:sp>
      <p:sp>
        <p:nvSpPr>
          <p:cNvPr id="13" name="Text 9"/>
          <p:cNvSpPr/>
          <p:nvPr/>
        </p:nvSpPr>
        <p:spPr>
          <a:xfrm>
            <a:off x="6556248" y="2606040"/>
            <a:ext cx="4672584" cy="960120"/>
          </a:xfrm>
          <a:prstGeom prst="rect">
            <a:avLst/>
          </a:prstGeom>
          <a:noFill/>
          <a:ln/>
        </p:spPr>
        <p:txBody>
          <a:bodyPr wrap="square" lIns="0" tIns="0" rIns="0" bIns="0" rtlCol="0" anchor="ctr"/>
          <a:lstStyle/>
          <a:p>
            <a:pPr indent="0" marL="0">
              <a:lnSpc>
                <a:spcPct val="120000"/>
              </a:lnSpc>
              <a:buNone/>
            </a:pPr>
            <a:r>
              <a:rPr lang="en-US" sz="1150" dirty="0">
                <a:solidFill>
                  <a:srgbClr val="475569"/>
                </a:solidFill>
                <a:latin typeface="Calibri" pitchFamily="34" charset="0"/>
                <a:ea typeface="Calibri" pitchFamily="34" charset="-122"/>
                <a:cs typeface="Calibri" pitchFamily="34" charset="-120"/>
              </a:rPr>
              <a:t>Records of past interactions or task runs — 'what happened last time' — used to inform similar future situations.</a:t>
            </a:r>
            <a:endParaRPr lang="en-US" sz="1150" dirty="0"/>
          </a:p>
        </p:txBody>
      </p:sp>
      <p:sp>
        <p:nvSpPr>
          <p:cNvPr id="14" name="Shape 10"/>
          <p:cNvSpPr/>
          <p:nvPr/>
        </p:nvSpPr>
        <p:spPr>
          <a:xfrm>
            <a:off x="640080" y="3977640"/>
            <a:ext cx="5257800" cy="2148840"/>
          </a:xfrm>
          <a:prstGeom prst="roundRect">
            <a:avLst>
              <a:gd name="adj" fmla="val 3404"/>
            </a:avLst>
          </a:prstGeom>
          <a:solidFill>
            <a:srgbClr val="F5F6FB"/>
          </a:solidFill>
          <a:ln/>
          <a:effectLst>
            <a:outerShdw sx="100000" sy="100000" kx="0" ky="0" algn="bl" rotWithShape="0" blurRad="101600" dist="38100" dir="5400000">
              <a:srgbClr val="12142E">
                <a:alpha val="10000"/>
              </a:srgbClr>
            </a:outerShdw>
          </a:effectLst>
        </p:spPr>
      </p:sp>
      <p:sp>
        <p:nvSpPr>
          <p:cNvPr id="15" name="Shape 11"/>
          <p:cNvSpPr/>
          <p:nvPr/>
        </p:nvSpPr>
        <p:spPr>
          <a:xfrm>
            <a:off x="932688" y="4270248"/>
            <a:ext cx="621792" cy="621792"/>
          </a:xfrm>
          <a:prstGeom prst="ellipse">
            <a:avLst/>
          </a:prstGeom>
          <a:solidFill>
            <a:srgbClr val="12142E"/>
          </a:solidFill>
          <a:ln/>
        </p:spPr>
      </p:sp>
      <p:pic>
        <p:nvPicPr>
          <p:cNvPr id="16" name="Image 2" descr="/home/claude/agents-deck/icons/book_cyan.png">    </p:cNvPr>
          <p:cNvPicPr>
            <a:picLocks noChangeAspect="1"/>
          </p:cNvPicPr>
          <p:nvPr/>
        </p:nvPicPr>
        <p:blipFill>
          <a:blip r:embed="rId3"/>
          <a:stretch>
            <a:fillRect/>
          </a:stretch>
        </p:blipFill>
        <p:spPr>
          <a:xfrm>
            <a:off x="1094354" y="4431914"/>
            <a:ext cx="298460" cy="298460"/>
          </a:xfrm>
          <a:prstGeom prst="rect">
            <a:avLst/>
          </a:prstGeom>
        </p:spPr>
      </p:pic>
      <p:sp>
        <p:nvSpPr>
          <p:cNvPr id="17" name="Text 12"/>
          <p:cNvSpPr/>
          <p:nvPr/>
        </p:nvSpPr>
        <p:spPr>
          <a:xfrm>
            <a:off x="1737360" y="4288536"/>
            <a:ext cx="3886200" cy="365760"/>
          </a:xfrm>
          <a:prstGeom prst="rect">
            <a:avLst/>
          </a:prstGeom>
          <a:noFill/>
          <a:ln/>
        </p:spPr>
        <p:txBody>
          <a:bodyPr wrap="square" lIns="0" tIns="0" rIns="0" bIns="0" rtlCol="0" anchor="ctr"/>
          <a:lstStyle/>
          <a:p>
            <a:pPr indent="0" marL="0">
              <a:buNone/>
            </a:pPr>
            <a:r>
              <a:rPr lang="en-US" sz="1550" b="1" dirty="0">
                <a:solidFill>
                  <a:srgbClr val="12142E"/>
                </a:solidFill>
                <a:latin typeface="Calibri" pitchFamily="34" charset="0"/>
                <a:ea typeface="Calibri" pitchFamily="34" charset="-122"/>
                <a:cs typeface="Calibri" pitchFamily="34" charset="-120"/>
              </a:rPr>
              <a:t>Semantic / Long-Term</a:t>
            </a:r>
            <a:endParaRPr lang="en-US" sz="1550" dirty="0"/>
          </a:p>
        </p:txBody>
      </p:sp>
      <p:sp>
        <p:nvSpPr>
          <p:cNvPr id="18" name="Text 13"/>
          <p:cNvSpPr/>
          <p:nvPr/>
        </p:nvSpPr>
        <p:spPr>
          <a:xfrm>
            <a:off x="932688" y="5029200"/>
            <a:ext cx="4672584" cy="960120"/>
          </a:xfrm>
          <a:prstGeom prst="rect">
            <a:avLst/>
          </a:prstGeom>
          <a:noFill/>
          <a:ln/>
        </p:spPr>
        <p:txBody>
          <a:bodyPr wrap="square" lIns="0" tIns="0" rIns="0" bIns="0" rtlCol="0" anchor="ctr"/>
          <a:lstStyle/>
          <a:p>
            <a:pPr indent="0" marL="0">
              <a:lnSpc>
                <a:spcPct val="120000"/>
              </a:lnSpc>
              <a:buNone/>
            </a:pPr>
            <a:r>
              <a:rPr lang="en-US" sz="1150" dirty="0">
                <a:solidFill>
                  <a:srgbClr val="475569"/>
                </a:solidFill>
                <a:latin typeface="Calibri" pitchFamily="34" charset="0"/>
                <a:ea typeface="Calibri" pitchFamily="34" charset="-122"/>
                <a:cs typeface="Calibri" pitchFamily="34" charset="-120"/>
              </a:rPr>
              <a:t>Durable facts and knowledge — user preferences, domain knowledge — typically stored outside the model in a retrievable store.</a:t>
            </a:r>
            <a:endParaRPr lang="en-US" sz="1150" dirty="0"/>
          </a:p>
        </p:txBody>
      </p:sp>
      <p:sp>
        <p:nvSpPr>
          <p:cNvPr id="19" name="Shape 14"/>
          <p:cNvSpPr/>
          <p:nvPr/>
        </p:nvSpPr>
        <p:spPr>
          <a:xfrm>
            <a:off x="6263640" y="3977640"/>
            <a:ext cx="5257800" cy="2148840"/>
          </a:xfrm>
          <a:prstGeom prst="roundRect">
            <a:avLst>
              <a:gd name="adj" fmla="val 3404"/>
            </a:avLst>
          </a:prstGeom>
          <a:solidFill>
            <a:srgbClr val="F5F6FB"/>
          </a:solidFill>
          <a:ln/>
          <a:effectLst>
            <a:outerShdw sx="100000" sy="100000" kx="0" ky="0" algn="bl" rotWithShape="0" blurRad="101600" dist="38100" dir="5400000">
              <a:srgbClr val="12142E">
                <a:alpha val="10000"/>
              </a:srgbClr>
            </a:outerShdw>
          </a:effectLst>
        </p:spPr>
      </p:sp>
      <p:sp>
        <p:nvSpPr>
          <p:cNvPr id="20" name="Shape 15"/>
          <p:cNvSpPr/>
          <p:nvPr/>
        </p:nvSpPr>
        <p:spPr>
          <a:xfrm>
            <a:off x="6556248" y="4270248"/>
            <a:ext cx="621792" cy="621792"/>
          </a:xfrm>
          <a:prstGeom prst="ellipse">
            <a:avLst/>
          </a:prstGeom>
          <a:solidFill>
            <a:srgbClr val="12142E"/>
          </a:solidFill>
          <a:ln/>
        </p:spPr>
      </p:sp>
      <p:pic>
        <p:nvPicPr>
          <p:cNvPr id="21" name="Image 3" descr="/home/claude/agents-deck/icons/list_cyan.png">    </p:cNvPr>
          <p:cNvPicPr>
            <a:picLocks noChangeAspect="1"/>
          </p:cNvPicPr>
          <p:nvPr/>
        </p:nvPicPr>
        <p:blipFill>
          <a:blip r:embed="rId4"/>
          <a:stretch>
            <a:fillRect/>
          </a:stretch>
        </p:blipFill>
        <p:spPr>
          <a:xfrm>
            <a:off x="6717914" y="4431914"/>
            <a:ext cx="298460" cy="298460"/>
          </a:xfrm>
          <a:prstGeom prst="rect">
            <a:avLst/>
          </a:prstGeom>
        </p:spPr>
      </p:pic>
      <p:sp>
        <p:nvSpPr>
          <p:cNvPr id="22" name="Text 16"/>
          <p:cNvSpPr/>
          <p:nvPr/>
        </p:nvSpPr>
        <p:spPr>
          <a:xfrm>
            <a:off x="7360920" y="4288536"/>
            <a:ext cx="3886200" cy="365760"/>
          </a:xfrm>
          <a:prstGeom prst="rect">
            <a:avLst/>
          </a:prstGeom>
          <a:noFill/>
          <a:ln/>
        </p:spPr>
        <p:txBody>
          <a:bodyPr wrap="square" lIns="0" tIns="0" rIns="0" bIns="0" rtlCol="0" anchor="ctr"/>
          <a:lstStyle/>
          <a:p>
            <a:pPr indent="0" marL="0">
              <a:buNone/>
            </a:pPr>
            <a:r>
              <a:rPr lang="en-US" sz="1550" b="1" dirty="0">
                <a:solidFill>
                  <a:srgbClr val="12142E"/>
                </a:solidFill>
                <a:latin typeface="Calibri" pitchFamily="34" charset="0"/>
                <a:ea typeface="Calibri" pitchFamily="34" charset="-122"/>
                <a:cs typeface="Calibri" pitchFamily="34" charset="-120"/>
              </a:rPr>
              <a:t>Procedural</a:t>
            </a:r>
            <a:endParaRPr lang="en-US" sz="1550" dirty="0"/>
          </a:p>
        </p:txBody>
      </p:sp>
      <p:sp>
        <p:nvSpPr>
          <p:cNvPr id="23" name="Text 17"/>
          <p:cNvSpPr/>
          <p:nvPr/>
        </p:nvSpPr>
        <p:spPr>
          <a:xfrm>
            <a:off x="6556248" y="5029200"/>
            <a:ext cx="4672584" cy="960120"/>
          </a:xfrm>
          <a:prstGeom prst="rect">
            <a:avLst/>
          </a:prstGeom>
          <a:noFill/>
          <a:ln/>
        </p:spPr>
        <p:txBody>
          <a:bodyPr wrap="square" lIns="0" tIns="0" rIns="0" bIns="0" rtlCol="0" anchor="ctr"/>
          <a:lstStyle/>
          <a:p>
            <a:pPr indent="0" marL="0">
              <a:lnSpc>
                <a:spcPct val="120000"/>
              </a:lnSpc>
              <a:buNone/>
            </a:pPr>
            <a:r>
              <a:rPr lang="en-US" sz="1150" dirty="0">
                <a:solidFill>
                  <a:srgbClr val="475569"/>
                </a:solidFill>
                <a:latin typeface="Calibri" pitchFamily="34" charset="0"/>
                <a:ea typeface="Calibri" pitchFamily="34" charset="-122"/>
                <a:cs typeface="Calibri" pitchFamily="34" charset="-120"/>
              </a:rPr>
              <a:t>Learned or defined patterns of behavior — how to perform a task — often encoded as instructions, tools, or fine-tuning.</a:t>
            </a:r>
            <a:endParaRPr lang="en-US" sz="1150" dirty="0"/>
          </a:p>
        </p:txBody>
      </p:sp>
      <p:sp>
        <p:nvSpPr>
          <p:cNvPr id="24" name="Text 18"/>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7</a:t>
            </a:r>
            <a:endParaRPr lang="en-US" sz="1000" dirty="0"/>
          </a:p>
        </p:txBody>
      </p:sp>
      <p:sp>
        <p:nvSpPr>
          <p:cNvPr id="25" name="Text 19"/>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MEMORY</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Implementation Patterns</a:t>
            </a:r>
            <a:endParaRPr lang="en-US" sz="3000" dirty="0"/>
          </a:p>
        </p:txBody>
      </p:sp>
      <p:sp>
        <p:nvSpPr>
          <p:cNvPr id="4" name="Shape 2"/>
          <p:cNvSpPr/>
          <p:nvPr/>
        </p:nvSpPr>
        <p:spPr>
          <a:xfrm>
            <a:off x="640080" y="1417320"/>
            <a:ext cx="10881360" cy="1042416"/>
          </a:xfrm>
          <a:prstGeom prst="roundRect">
            <a:avLst>
              <a:gd name="adj" fmla="val 7018"/>
            </a:avLst>
          </a:prstGeom>
          <a:solidFill>
            <a:srgbClr val="F5F6FB"/>
          </a:solidFill>
          <a:ln/>
          <a:effectLst>
            <a:outerShdw sx="100000" sy="100000" kx="0" ky="0" algn="bl" rotWithShape="0" blurRad="101600" dist="38100" dir="5400000">
              <a:srgbClr val="12142E">
                <a:alpha val="10000"/>
              </a:srgbClr>
            </a:outerShdw>
          </a:effectLst>
        </p:spPr>
      </p:sp>
      <p:sp>
        <p:nvSpPr>
          <p:cNvPr id="5" name="Shape 3"/>
          <p:cNvSpPr/>
          <p:nvPr/>
        </p:nvSpPr>
        <p:spPr>
          <a:xfrm>
            <a:off x="914400" y="1655064"/>
            <a:ext cx="566928" cy="566928"/>
          </a:xfrm>
          <a:prstGeom prst="ellipse">
            <a:avLst/>
          </a:prstGeom>
          <a:solidFill>
            <a:srgbClr val="FFFFFF"/>
          </a:solidFill>
          <a:ln/>
        </p:spPr>
      </p:sp>
      <p:pic>
        <p:nvPicPr>
          <p:cNvPr id="6" name="Image 0" descr="/home/claude/agents-deck/icons/layers_indigo.png">    </p:cNvPr>
          <p:cNvPicPr>
            <a:picLocks noChangeAspect="1"/>
          </p:cNvPicPr>
          <p:nvPr/>
        </p:nvPicPr>
        <p:blipFill>
          <a:blip r:embed="rId1"/>
          <a:stretch>
            <a:fillRect/>
          </a:stretch>
        </p:blipFill>
        <p:spPr>
          <a:xfrm>
            <a:off x="1061801" y="1802465"/>
            <a:ext cx="272125" cy="272125"/>
          </a:xfrm>
          <a:prstGeom prst="rect">
            <a:avLst/>
          </a:prstGeom>
        </p:spPr>
      </p:pic>
      <p:sp>
        <p:nvSpPr>
          <p:cNvPr id="7" name="Text 4"/>
          <p:cNvSpPr/>
          <p:nvPr/>
        </p:nvSpPr>
        <p:spPr>
          <a:xfrm>
            <a:off x="1691640" y="1527048"/>
            <a:ext cx="3291840" cy="822960"/>
          </a:xfrm>
          <a:prstGeom prst="rect">
            <a:avLst/>
          </a:prstGeom>
          <a:noFill/>
          <a:ln/>
        </p:spPr>
        <p:txBody>
          <a:bodyPr wrap="square" lIns="0" tIns="0" rIns="0" bIns="0" rtlCol="0" anchor="ctr"/>
          <a:lstStyle/>
          <a:p>
            <a:pPr indent="0" marL="0">
              <a:buNone/>
            </a:pPr>
            <a:r>
              <a:rPr lang="en-US" sz="1350" b="1" dirty="0">
                <a:solidFill>
                  <a:srgbClr val="12142E"/>
                </a:solidFill>
                <a:latin typeface="Calibri" pitchFamily="34" charset="0"/>
                <a:ea typeface="Calibri" pitchFamily="34" charset="-122"/>
                <a:cs typeface="Calibri" pitchFamily="34" charset="-120"/>
              </a:rPr>
              <a:t>Context Window Management</a:t>
            </a:r>
            <a:endParaRPr lang="en-US" sz="1350" dirty="0"/>
          </a:p>
        </p:txBody>
      </p:sp>
      <p:sp>
        <p:nvSpPr>
          <p:cNvPr id="8" name="Text 5"/>
          <p:cNvSpPr/>
          <p:nvPr/>
        </p:nvSpPr>
        <p:spPr>
          <a:xfrm>
            <a:off x="5074920" y="1527048"/>
            <a:ext cx="6263640" cy="822960"/>
          </a:xfrm>
          <a:prstGeom prst="rect">
            <a:avLst/>
          </a:prstGeom>
          <a:noFill/>
          <a:ln/>
        </p:spPr>
        <p:txBody>
          <a:bodyPr wrap="square" lIns="0" tIns="0" rIns="0" bIns="0" rtlCol="0" anchor="ctr"/>
          <a:lstStyle/>
          <a:p>
            <a:pPr indent="0" marL="0">
              <a:lnSpc>
                <a:spcPct val="115000"/>
              </a:lnSpc>
              <a:buNone/>
            </a:pPr>
            <a:r>
              <a:rPr lang="en-US" sz="1150" dirty="0">
                <a:solidFill>
                  <a:srgbClr val="475569"/>
                </a:solidFill>
                <a:latin typeface="Calibri" pitchFamily="34" charset="0"/>
                <a:ea typeface="Calibri" pitchFamily="34" charset="-122"/>
                <a:cs typeface="Calibri" pitchFamily="34" charset="-120"/>
              </a:rPr>
              <a:t>Keep the working set small: sliding windows, truncation, and priority-ordering of what stays in-context.</a:t>
            </a:r>
            <a:endParaRPr lang="en-US" sz="1150" dirty="0"/>
          </a:p>
        </p:txBody>
      </p:sp>
      <p:sp>
        <p:nvSpPr>
          <p:cNvPr id="9" name="Shape 6"/>
          <p:cNvSpPr/>
          <p:nvPr/>
        </p:nvSpPr>
        <p:spPr>
          <a:xfrm>
            <a:off x="640080" y="2569464"/>
            <a:ext cx="10881360" cy="1042416"/>
          </a:xfrm>
          <a:prstGeom prst="roundRect">
            <a:avLst>
              <a:gd name="adj" fmla="val 7018"/>
            </a:avLst>
          </a:prstGeom>
          <a:solidFill>
            <a:srgbClr val="F5F6FB"/>
          </a:solidFill>
          <a:ln/>
          <a:effectLst>
            <a:outerShdw sx="100000" sy="100000" kx="0" ky="0" algn="bl" rotWithShape="0" blurRad="101600" dist="38100" dir="5400000">
              <a:srgbClr val="12142E">
                <a:alpha val="10000"/>
              </a:srgbClr>
            </a:outerShdw>
          </a:effectLst>
        </p:spPr>
      </p:sp>
      <p:sp>
        <p:nvSpPr>
          <p:cNvPr id="10" name="Shape 7"/>
          <p:cNvSpPr/>
          <p:nvPr/>
        </p:nvSpPr>
        <p:spPr>
          <a:xfrm>
            <a:off x="914400" y="2807208"/>
            <a:ext cx="566928" cy="566928"/>
          </a:xfrm>
          <a:prstGeom prst="ellipse">
            <a:avLst/>
          </a:prstGeom>
          <a:solidFill>
            <a:srgbClr val="FFFFFF"/>
          </a:solidFill>
          <a:ln/>
        </p:spPr>
      </p:sp>
      <p:pic>
        <p:nvPicPr>
          <p:cNvPr id="11" name="Image 1" descr="/home/claude/agents-deck/icons/search_indigo.png">    </p:cNvPr>
          <p:cNvPicPr>
            <a:picLocks noChangeAspect="1"/>
          </p:cNvPicPr>
          <p:nvPr/>
        </p:nvPicPr>
        <p:blipFill>
          <a:blip r:embed="rId2"/>
          <a:stretch>
            <a:fillRect/>
          </a:stretch>
        </p:blipFill>
        <p:spPr>
          <a:xfrm>
            <a:off x="1061801" y="2954609"/>
            <a:ext cx="272125" cy="272125"/>
          </a:xfrm>
          <a:prstGeom prst="rect">
            <a:avLst/>
          </a:prstGeom>
        </p:spPr>
      </p:pic>
      <p:sp>
        <p:nvSpPr>
          <p:cNvPr id="12" name="Text 8"/>
          <p:cNvSpPr/>
          <p:nvPr/>
        </p:nvSpPr>
        <p:spPr>
          <a:xfrm>
            <a:off x="1691640" y="2679192"/>
            <a:ext cx="3291840" cy="822960"/>
          </a:xfrm>
          <a:prstGeom prst="rect">
            <a:avLst/>
          </a:prstGeom>
          <a:noFill/>
          <a:ln/>
        </p:spPr>
        <p:txBody>
          <a:bodyPr wrap="square" lIns="0" tIns="0" rIns="0" bIns="0" rtlCol="0" anchor="ctr"/>
          <a:lstStyle/>
          <a:p>
            <a:pPr indent="0" marL="0">
              <a:buNone/>
            </a:pPr>
            <a:r>
              <a:rPr lang="en-US" sz="1350" b="1" dirty="0">
                <a:solidFill>
                  <a:srgbClr val="12142E"/>
                </a:solidFill>
                <a:latin typeface="Calibri" pitchFamily="34" charset="0"/>
                <a:ea typeface="Calibri" pitchFamily="34" charset="-122"/>
                <a:cs typeface="Calibri" pitchFamily="34" charset="-120"/>
              </a:rPr>
              <a:t>Retrieval / RAG</a:t>
            </a:r>
            <a:endParaRPr lang="en-US" sz="1350" dirty="0"/>
          </a:p>
        </p:txBody>
      </p:sp>
      <p:sp>
        <p:nvSpPr>
          <p:cNvPr id="13" name="Text 9"/>
          <p:cNvSpPr/>
          <p:nvPr/>
        </p:nvSpPr>
        <p:spPr>
          <a:xfrm>
            <a:off x="5074920" y="2679192"/>
            <a:ext cx="6263640" cy="822960"/>
          </a:xfrm>
          <a:prstGeom prst="rect">
            <a:avLst/>
          </a:prstGeom>
          <a:noFill/>
          <a:ln/>
        </p:spPr>
        <p:txBody>
          <a:bodyPr wrap="square" lIns="0" tIns="0" rIns="0" bIns="0" rtlCol="0" anchor="ctr"/>
          <a:lstStyle/>
          <a:p>
            <a:pPr indent="0" marL="0">
              <a:lnSpc>
                <a:spcPct val="115000"/>
              </a:lnSpc>
              <a:buNone/>
            </a:pPr>
            <a:r>
              <a:rPr lang="en-US" sz="1150" dirty="0">
                <a:solidFill>
                  <a:srgbClr val="475569"/>
                </a:solidFill>
                <a:latin typeface="Calibri" pitchFamily="34" charset="0"/>
                <a:ea typeface="Calibri" pitchFamily="34" charset="-122"/>
                <a:cs typeface="Calibri" pitchFamily="34" charset="-120"/>
              </a:rPr>
              <a:t>Embed &amp; index long-term knowledge in a vector store; retrieve top-k relevant chunks per turn rather than loading everything.</a:t>
            </a:r>
            <a:endParaRPr lang="en-US" sz="1150" dirty="0"/>
          </a:p>
        </p:txBody>
      </p:sp>
      <p:sp>
        <p:nvSpPr>
          <p:cNvPr id="14" name="Shape 10"/>
          <p:cNvSpPr/>
          <p:nvPr/>
        </p:nvSpPr>
        <p:spPr>
          <a:xfrm>
            <a:off x="640080" y="3721608"/>
            <a:ext cx="10881360" cy="1042416"/>
          </a:xfrm>
          <a:prstGeom prst="roundRect">
            <a:avLst>
              <a:gd name="adj" fmla="val 7018"/>
            </a:avLst>
          </a:prstGeom>
          <a:solidFill>
            <a:srgbClr val="F5F6FB"/>
          </a:solidFill>
          <a:ln/>
          <a:effectLst>
            <a:outerShdw sx="100000" sy="100000" kx="0" ky="0" algn="bl" rotWithShape="0" blurRad="101600" dist="38100" dir="5400000">
              <a:srgbClr val="12142E">
                <a:alpha val="10000"/>
              </a:srgbClr>
            </a:outerShdw>
          </a:effectLst>
        </p:spPr>
      </p:sp>
      <p:sp>
        <p:nvSpPr>
          <p:cNvPr id="15" name="Shape 11"/>
          <p:cNvSpPr/>
          <p:nvPr/>
        </p:nvSpPr>
        <p:spPr>
          <a:xfrm>
            <a:off x="914400" y="3959352"/>
            <a:ext cx="566928" cy="566928"/>
          </a:xfrm>
          <a:prstGeom prst="ellipse">
            <a:avLst/>
          </a:prstGeom>
          <a:solidFill>
            <a:srgbClr val="FFFFFF"/>
          </a:solidFill>
          <a:ln/>
        </p:spPr>
      </p:sp>
      <p:pic>
        <p:nvPicPr>
          <p:cNvPr id="16" name="Image 2" descr="/home/claude/agents-deck/icons/file_indigo.png">    </p:cNvPr>
          <p:cNvPicPr>
            <a:picLocks noChangeAspect="1"/>
          </p:cNvPicPr>
          <p:nvPr/>
        </p:nvPicPr>
        <p:blipFill>
          <a:blip r:embed="rId3"/>
          <a:stretch>
            <a:fillRect/>
          </a:stretch>
        </p:blipFill>
        <p:spPr>
          <a:xfrm>
            <a:off x="1061801" y="4106753"/>
            <a:ext cx="272125" cy="272125"/>
          </a:xfrm>
          <a:prstGeom prst="rect">
            <a:avLst/>
          </a:prstGeom>
        </p:spPr>
      </p:pic>
      <p:sp>
        <p:nvSpPr>
          <p:cNvPr id="17" name="Text 12"/>
          <p:cNvSpPr/>
          <p:nvPr/>
        </p:nvSpPr>
        <p:spPr>
          <a:xfrm>
            <a:off x="1691640" y="3831336"/>
            <a:ext cx="3291840" cy="822960"/>
          </a:xfrm>
          <a:prstGeom prst="rect">
            <a:avLst/>
          </a:prstGeom>
          <a:noFill/>
          <a:ln/>
        </p:spPr>
        <p:txBody>
          <a:bodyPr wrap="square" lIns="0" tIns="0" rIns="0" bIns="0" rtlCol="0" anchor="ctr"/>
          <a:lstStyle/>
          <a:p>
            <a:pPr indent="0" marL="0">
              <a:buNone/>
            </a:pPr>
            <a:r>
              <a:rPr lang="en-US" sz="1350" b="1" dirty="0">
                <a:solidFill>
                  <a:srgbClr val="12142E"/>
                </a:solidFill>
                <a:latin typeface="Calibri" pitchFamily="34" charset="0"/>
                <a:ea typeface="Calibri" pitchFamily="34" charset="-122"/>
                <a:cs typeface="Calibri" pitchFamily="34" charset="-120"/>
              </a:rPr>
              <a:t>Summarization &amp; Compaction</a:t>
            </a:r>
            <a:endParaRPr lang="en-US" sz="1350" dirty="0"/>
          </a:p>
        </p:txBody>
      </p:sp>
      <p:sp>
        <p:nvSpPr>
          <p:cNvPr id="18" name="Text 13"/>
          <p:cNvSpPr/>
          <p:nvPr/>
        </p:nvSpPr>
        <p:spPr>
          <a:xfrm>
            <a:off x="5074920" y="3831336"/>
            <a:ext cx="6263640" cy="822960"/>
          </a:xfrm>
          <a:prstGeom prst="rect">
            <a:avLst/>
          </a:prstGeom>
          <a:noFill/>
          <a:ln/>
        </p:spPr>
        <p:txBody>
          <a:bodyPr wrap="square" lIns="0" tIns="0" rIns="0" bIns="0" rtlCol="0" anchor="ctr"/>
          <a:lstStyle/>
          <a:p>
            <a:pPr indent="0" marL="0">
              <a:lnSpc>
                <a:spcPct val="115000"/>
              </a:lnSpc>
              <a:buNone/>
            </a:pPr>
            <a:r>
              <a:rPr lang="en-US" sz="1150" dirty="0">
                <a:solidFill>
                  <a:srgbClr val="475569"/>
                </a:solidFill>
                <a:latin typeface="Calibri" pitchFamily="34" charset="0"/>
                <a:ea typeface="Calibri" pitchFamily="34" charset="-122"/>
                <a:cs typeface="Calibri" pitchFamily="34" charset="-120"/>
              </a:rPr>
              <a:t>Periodically compress history into a running summary so older turns don't consume the whole context budget.</a:t>
            </a:r>
            <a:endParaRPr lang="en-US" sz="1150" dirty="0"/>
          </a:p>
        </p:txBody>
      </p:sp>
      <p:sp>
        <p:nvSpPr>
          <p:cNvPr id="19" name="Shape 14"/>
          <p:cNvSpPr/>
          <p:nvPr/>
        </p:nvSpPr>
        <p:spPr>
          <a:xfrm>
            <a:off x="640080" y="4873752"/>
            <a:ext cx="10881360" cy="1042416"/>
          </a:xfrm>
          <a:prstGeom prst="roundRect">
            <a:avLst>
              <a:gd name="adj" fmla="val 7018"/>
            </a:avLst>
          </a:prstGeom>
          <a:solidFill>
            <a:srgbClr val="F5F6FB"/>
          </a:solidFill>
          <a:ln/>
          <a:effectLst>
            <a:outerShdw sx="100000" sy="100000" kx="0" ky="0" algn="bl" rotWithShape="0" blurRad="101600" dist="38100" dir="5400000">
              <a:srgbClr val="12142E">
                <a:alpha val="10000"/>
              </a:srgbClr>
            </a:outerShdw>
          </a:effectLst>
        </p:spPr>
      </p:sp>
      <p:sp>
        <p:nvSpPr>
          <p:cNvPr id="20" name="Shape 15"/>
          <p:cNvSpPr/>
          <p:nvPr/>
        </p:nvSpPr>
        <p:spPr>
          <a:xfrm>
            <a:off x="914400" y="5111496"/>
            <a:ext cx="566928" cy="566928"/>
          </a:xfrm>
          <a:prstGeom prst="ellipse">
            <a:avLst/>
          </a:prstGeom>
          <a:solidFill>
            <a:srgbClr val="FFFFFF"/>
          </a:solidFill>
          <a:ln/>
        </p:spPr>
      </p:sp>
      <p:pic>
        <p:nvPicPr>
          <p:cNvPr id="21" name="Image 3" descr="/home/claude/agents-deck/icons/clipboard_indigo.png">    </p:cNvPr>
          <p:cNvPicPr>
            <a:picLocks noChangeAspect="1"/>
          </p:cNvPicPr>
          <p:nvPr/>
        </p:nvPicPr>
        <p:blipFill>
          <a:blip r:embed="rId4"/>
          <a:stretch>
            <a:fillRect/>
          </a:stretch>
        </p:blipFill>
        <p:spPr>
          <a:xfrm>
            <a:off x="1061801" y="5258897"/>
            <a:ext cx="272125" cy="272125"/>
          </a:xfrm>
          <a:prstGeom prst="rect">
            <a:avLst/>
          </a:prstGeom>
        </p:spPr>
      </p:pic>
      <p:sp>
        <p:nvSpPr>
          <p:cNvPr id="22" name="Text 16"/>
          <p:cNvSpPr/>
          <p:nvPr/>
        </p:nvSpPr>
        <p:spPr>
          <a:xfrm>
            <a:off x="1691640" y="4983480"/>
            <a:ext cx="3291840" cy="822960"/>
          </a:xfrm>
          <a:prstGeom prst="rect">
            <a:avLst/>
          </a:prstGeom>
          <a:noFill/>
          <a:ln/>
        </p:spPr>
        <p:txBody>
          <a:bodyPr wrap="square" lIns="0" tIns="0" rIns="0" bIns="0" rtlCol="0" anchor="ctr"/>
          <a:lstStyle/>
          <a:p>
            <a:pPr indent="0" marL="0">
              <a:buNone/>
            </a:pPr>
            <a:r>
              <a:rPr lang="en-US" sz="1350" b="1" dirty="0">
                <a:solidFill>
                  <a:srgbClr val="12142E"/>
                </a:solidFill>
                <a:latin typeface="Calibri" pitchFamily="34" charset="0"/>
                <a:ea typeface="Calibri" pitchFamily="34" charset="-122"/>
                <a:cs typeface="Calibri" pitchFamily="34" charset="-120"/>
              </a:rPr>
              <a:t>Scratchpad / File-Based State</a:t>
            </a:r>
            <a:endParaRPr lang="en-US" sz="1350" dirty="0"/>
          </a:p>
        </p:txBody>
      </p:sp>
      <p:sp>
        <p:nvSpPr>
          <p:cNvPr id="23" name="Text 17"/>
          <p:cNvSpPr/>
          <p:nvPr/>
        </p:nvSpPr>
        <p:spPr>
          <a:xfrm>
            <a:off x="5074920" y="4983480"/>
            <a:ext cx="6263640" cy="822960"/>
          </a:xfrm>
          <a:prstGeom prst="rect">
            <a:avLst/>
          </a:prstGeom>
          <a:noFill/>
          <a:ln/>
        </p:spPr>
        <p:txBody>
          <a:bodyPr wrap="square" lIns="0" tIns="0" rIns="0" bIns="0" rtlCol="0" anchor="ctr"/>
          <a:lstStyle/>
          <a:p>
            <a:pPr indent="0" marL="0">
              <a:lnSpc>
                <a:spcPct val="115000"/>
              </a:lnSpc>
              <a:buNone/>
            </a:pPr>
            <a:r>
              <a:rPr lang="en-US" sz="1150" dirty="0">
                <a:solidFill>
                  <a:srgbClr val="475569"/>
                </a:solidFill>
                <a:latin typeface="Calibri" pitchFamily="34" charset="0"/>
                <a:ea typeface="Calibri" pitchFamily="34" charset="-122"/>
                <a:cs typeface="Calibri" pitchFamily="34" charset="-120"/>
              </a:rPr>
              <a:t>Let the agent write intermediate state to files or a key-value store it can re-read — cheap, inspectable, persistent.</a:t>
            </a:r>
            <a:endParaRPr lang="en-US" sz="1150" dirty="0"/>
          </a:p>
        </p:txBody>
      </p:sp>
      <p:sp>
        <p:nvSpPr>
          <p:cNvPr id="24" name="Text 18"/>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8</a:t>
            </a:r>
            <a:endParaRPr lang="en-US" sz="1000" dirty="0"/>
          </a:p>
        </p:txBody>
      </p:sp>
      <p:sp>
        <p:nvSpPr>
          <p:cNvPr id="25" name="Text 19"/>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MEMORY</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A Typical Memory Architecture</a:t>
            </a:r>
            <a:endParaRPr lang="en-US" sz="3000" dirty="0"/>
          </a:p>
        </p:txBody>
      </p:sp>
      <p:sp>
        <p:nvSpPr>
          <p:cNvPr id="4" name="Shape 2"/>
          <p:cNvSpPr/>
          <p:nvPr/>
        </p:nvSpPr>
        <p:spPr>
          <a:xfrm>
            <a:off x="640080" y="1508760"/>
            <a:ext cx="10881360" cy="4434840"/>
          </a:xfrm>
          <a:prstGeom prst="roundRect">
            <a:avLst>
              <a:gd name="adj" fmla="val 1649"/>
            </a:avLst>
          </a:prstGeom>
          <a:solidFill>
            <a:srgbClr val="12142E"/>
          </a:solidFill>
          <a:ln/>
          <a:effectLst>
            <a:outerShdw sx="100000" sy="100000" kx="0" ky="0" algn="bl" rotWithShape="0" blurRad="101600" dist="38100" dir="5400000">
              <a:srgbClr val="12142E">
                <a:alpha val="10000"/>
              </a:srgbClr>
            </a:outerShdw>
          </a:effectLst>
        </p:spPr>
      </p:sp>
      <p:sp>
        <p:nvSpPr>
          <p:cNvPr id="5" name="Shape 3"/>
          <p:cNvSpPr/>
          <p:nvPr/>
        </p:nvSpPr>
        <p:spPr>
          <a:xfrm>
            <a:off x="1005840" y="1965960"/>
            <a:ext cx="2377440" cy="1005840"/>
          </a:xfrm>
          <a:prstGeom prst="roundRect">
            <a:avLst>
              <a:gd name="adj" fmla="val 7273"/>
            </a:avLst>
          </a:prstGeom>
          <a:solidFill>
            <a:srgbClr val="1C1F47"/>
          </a:solidFill>
          <a:ln w="12700">
            <a:solidFill>
              <a:srgbClr val="35386E"/>
            </a:solidFill>
            <a:prstDash val="solid"/>
          </a:ln>
        </p:spPr>
      </p:sp>
      <p:sp>
        <p:nvSpPr>
          <p:cNvPr id="6" name="Shape 4"/>
          <p:cNvSpPr/>
          <p:nvPr/>
        </p:nvSpPr>
        <p:spPr>
          <a:xfrm>
            <a:off x="1170432" y="2240280"/>
            <a:ext cx="457200" cy="457200"/>
          </a:xfrm>
          <a:prstGeom prst="ellipse">
            <a:avLst/>
          </a:prstGeom>
          <a:solidFill>
            <a:srgbClr val="12142E"/>
          </a:solidFill>
          <a:ln/>
        </p:spPr>
      </p:sp>
      <p:pic>
        <p:nvPicPr>
          <p:cNvPr id="7" name="Image 0" descr="/home/claude/agents-deck/icons/layers_cyan.png">    </p:cNvPr>
          <p:cNvPicPr>
            <a:picLocks noChangeAspect="1"/>
          </p:cNvPicPr>
          <p:nvPr/>
        </p:nvPicPr>
        <p:blipFill>
          <a:blip r:embed="rId1"/>
          <a:stretch>
            <a:fillRect/>
          </a:stretch>
        </p:blipFill>
        <p:spPr>
          <a:xfrm>
            <a:off x="1289304" y="2359152"/>
            <a:ext cx="219456" cy="219456"/>
          </a:xfrm>
          <a:prstGeom prst="rect">
            <a:avLst/>
          </a:prstGeom>
        </p:spPr>
      </p:pic>
      <p:sp>
        <p:nvSpPr>
          <p:cNvPr id="8" name="Text 5"/>
          <p:cNvSpPr/>
          <p:nvPr/>
        </p:nvSpPr>
        <p:spPr>
          <a:xfrm>
            <a:off x="1737360" y="2112264"/>
            <a:ext cx="150876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Working Memory</a:t>
            </a:r>
            <a:endParaRPr lang="en-US" sz="1250" dirty="0"/>
          </a:p>
        </p:txBody>
      </p:sp>
      <p:sp>
        <p:nvSpPr>
          <p:cNvPr id="9" name="Text 6"/>
          <p:cNvSpPr/>
          <p:nvPr/>
        </p:nvSpPr>
        <p:spPr>
          <a:xfrm>
            <a:off x="1737360" y="2441448"/>
            <a:ext cx="1508760" cy="320040"/>
          </a:xfrm>
          <a:prstGeom prst="rect">
            <a:avLst/>
          </a:prstGeom>
          <a:noFill/>
          <a:ln/>
        </p:spPr>
        <p:txBody>
          <a:bodyPr wrap="square" lIns="0" tIns="0" rIns="0" bIns="0" rtlCol="0" anchor="ctr"/>
          <a:lstStyle/>
          <a:p>
            <a:pPr indent="0" marL="0">
              <a:buNone/>
            </a:pPr>
            <a:r>
              <a:rPr lang="en-US" sz="1000" dirty="0">
                <a:solidFill>
                  <a:srgbClr val="8B90B3"/>
                </a:solidFill>
                <a:latin typeface="Calibri" pitchFamily="34" charset="0"/>
                <a:ea typeface="Calibri" pitchFamily="34" charset="-122"/>
                <a:cs typeface="Calibri" pitchFamily="34" charset="-120"/>
              </a:rPr>
              <a:t>Context window</a:t>
            </a:r>
            <a:endParaRPr lang="en-US" sz="1000" dirty="0"/>
          </a:p>
        </p:txBody>
      </p:sp>
      <p:sp>
        <p:nvSpPr>
          <p:cNvPr id="10" name="Shape 7"/>
          <p:cNvSpPr/>
          <p:nvPr/>
        </p:nvSpPr>
        <p:spPr>
          <a:xfrm>
            <a:off x="1005840" y="4572000"/>
            <a:ext cx="2377440" cy="1005840"/>
          </a:xfrm>
          <a:prstGeom prst="roundRect">
            <a:avLst>
              <a:gd name="adj" fmla="val 7273"/>
            </a:avLst>
          </a:prstGeom>
          <a:solidFill>
            <a:srgbClr val="1C1F47"/>
          </a:solidFill>
          <a:ln w="12700">
            <a:solidFill>
              <a:srgbClr val="35386E"/>
            </a:solidFill>
            <a:prstDash val="solid"/>
          </a:ln>
        </p:spPr>
      </p:sp>
      <p:sp>
        <p:nvSpPr>
          <p:cNvPr id="11" name="Shape 8"/>
          <p:cNvSpPr/>
          <p:nvPr/>
        </p:nvSpPr>
        <p:spPr>
          <a:xfrm>
            <a:off x="1170432" y="4846320"/>
            <a:ext cx="457200" cy="457200"/>
          </a:xfrm>
          <a:prstGeom prst="ellipse">
            <a:avLst/>
          </a:prstGeom>
          <a:solidFill>
            <a:srgbClr val="12142E"/>
          </a:solidFill>
          <a:ln/>
        </p:spPr>
      </p:sp>
      <p:pic>
        <p:nvPicPr>
          <p:cNvPr id="12" name="Image 1" descr="/home/claude/agents-deck/icons/clipboard_cyan.png">    </p:cNvPr>
          <p:cNvPicPr>
            <a:picLocks noChangeAspect="1"/>
          </p:cNvPicPr>
          <p:nvPr/>
        </p:nvPicPr>
        <p:blipFill>
          <a:blip r:embed="rId2"/>
          <a:stretch>
            <a:fillRect/>
          </a:stretch>
        </p:blipFill>
        <p:spPr>
          <a:xfrm>
            <a:off x="1289304" y="4965192"/>
            <a:ext cx="219456" cy="219456"/>
          </a:xfrm>
          <a:prstGeom prst="rect">
            <a:avLst/>
          </a:prstGeom>
        </p:spPr>
      </p:pic>
      <p:sp>
        <p:nvSpPr>
          <p:cNvPr id="13" name="Text 9"/>
          <p:cNvSpPr/>
          <p:nvPr/>
        </p:nvSpPr>
        <p:spPr>
          <a:xfrm>
            <a:off x="1737360" y="4718304"/>
            <a:ext cx="150876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Scratchpad</a:t>
            </a:r>
            <a:endParaRPr lang="en-US" sz="1250" dirty="0"/>
          </a:p>
        </p:txBody>
      </p:sp>
      <p:sp>
        <p:nvSpPr>
          <p:cNvPr id="14" name="Text 10"/>
          <p:cNvSpPr/>
          <p:nvPr/>
        </p:nvSpPr>
        <p:spPr>
          <a:xfrm>
            <a:off x="1737360" y="5047488"/>
            <a:ext cx="1508760" cy="320040"/>
          </a:xfrm>
          <a:prstGeom prst="rect">
            <a:avLst/>
          </a:prstGeom>
          <a:noFill/>
          <a:ln/>
        </p:spPr>
        <p:txBody>
          <a:bodyPr wrap="square" lIns="0" tIns="0" rIns="0" bIns="0" rtlCol="0" anchor="ctr"/>
          <a:lstStyle/>
          <a:p>
            <a:pPr indent="0" marL="0">
              <a:buNone/>
            </a:pPr>
            <a:r>
              <a:rPr lang="en-US" sz="1000" dirty="0">
                <a:solidFill>
                  <a:srgbClr val="8B90B3"/>
                </a:solidFill>
                <a:latin typeface="Calibri" pitchFamily="34" charset="0"/>
                <a:ea typeface="Calibri" pitchFamily="34" charset="-122"/>
                <a:cs typeface="Calibri" pitchFamily="34" charset="-120"/>
              </a:rPr>
              <a:t>Task-local state</a:t>
            </a:r>
            <a:endParaRPr lang="en-US" sz="1000" dirty="0"/>
          </a:p>
        </p:txBody>
      </p:sp>
      <p:sp>
        <p:nvSpPr>
          <p:cNvPr id="15" name="Shape 11"/>
          <p:cNvSpPr/>
          <p:nvPr/>
        </p:nvSpPr>
        <p:spPr>
          <a:xfrm>
            <a:off x="4892040" y="3246120"/>
            <a:ext cx="2377440" cy="1005840"/>
          </a:xfrm>
          <a:prstGeom prst="roundRect">
            <a:avLst>
              <a:gd name="adj" fmla="val 7273"/>
            </a:avLst>
          </a:prstGeom>
          <a:solidFill>
            <a:srgbClr val="1C1F47"/>
          </a:solidFill>
          <a:ln w="12700">
            <a:solidFill>
              <a:srgbClr val="35386E"/>
            </a:solidFill>
            <a:prstDash val="solid"/>
          </a:ln>
        </p:spPr>
      </p:sp>
      <p:sp>
        <p:nvSpPr>
          <p:cNvPr id="16" name="Shape 12"/>
          <p:cNvSpPr/>
          <p:nvPr/>
        </p:nvSpPr>
        <p:spPr>
          <a:xfrm>
            <a:off x="5056632" y="3520440"/>
            <a:ext cx="457200" cy="457200"/>
          </a:xfrm>
          <a:prstGeom prst="ellipse">
            <a:avLst/>
          </a:prstGeom>
          <a:solidFill>
            <a:srgbClr val="12142E"/>
          </a:solidFill>
          <a:ln/>
        </p:spPr>
      </p:sp>
      <p:pic>
        <p:nvPicPr>
          <p:cNvPr id="17" name="Image 2" descr="/home/claude/agents-deck/icons/brain_cyan.png">    </p:cNvPr>
          <p:cNvPicPr>
            <a:picLocks noChangeAspect="1"/>
          </p:cNvPicPr>
          <p:nvPr/>
        </p:nvPicPr>
        <p:blipFill>
          <a:blip r:embed="rId3"/>
          <a:stretch>
            <a:fillRect/>
          </a:stretch>
        </p:blipFill>
        <p:spPr>
          <a:xfrm>
            <a:off x="5175504" y="3639312"/>
            <a:ext cx="219456" cy="219456"/>
          </a:xfrm>
          <a:prstGeom prst="rect">
            <a:avLst/>
          </a:prstGeom>
        </p:spPr>
      </p:pic>
      <p:sp>
        <p:nvSpPr>
          <p:cNvPr id="18" name="Text 13"/>
          <p:cNvSpPr/>
          <p:nvPr/>
        </p:nvSpPr>
        <p:spPr>
          <a:xfrm>
            <a:off x="5623560" y="3392424"/>
            <a:ext cx="150876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Agent Core</a:t>
            </a:r>
            <a:endParaRPr lang="en-US" sz="1250" dirty="0"/>
          </a:p>
        </p:txBody>
      </p:sp>
      <p:sp>
        <p:nvSpPr>
          <p:cNvPr id="19" name="Text 14"/>
          <p:cNvSpPr/>
          <p:nvPr/>
        </p:nvSpPr>
        <p:spPr>
          <a:xfrm>
            <a:off x="5623560" y="3721608"/>
            <a:ext cx="1508760" cy="320040"/>
          </a:xfrm>
          <a:prstGeom prst="rect">
            <a:avLst/>
          </a:prstGeom>
          <a:noFill/>
          <a:ln/>
        </p:spPr>
        <p:txBody>
          <a:bodyPr wrap="square" lIns="0" tIns="0" rIns="0" bIns="0" rtlCol="0" anchor="ctr"/>
          <a:lstStyle/>
          <a:p>
            <a:pPr indent="0" marL="0">
              <a:buNone/>
            </a:pPr>
            <a:r>
              <a:rPr lang="en-US" sz="1000" dirty="0">
                <a:solidFill>
                  <a:srgbClr val="8B90B3"/>
                </a:solidFill>
                <a:latin typeface="Calibri" pitchFamily="34" charset="0"/>
                <a:ea typeface="Calibri" pitchFamily="34" charset="-122"/>
                <a:cs typeface="Calibri" pitchFamily="34" charset="-120"/>
              </a:rPr>
              <a:t>LLM reasoning</a:t>
            </a:r>
            <a:endParaRPr lang="en-US" sz="1000" dirty="0"/>
          </a:p>
        </p:txBody>
      </p:sp>
      <p:sp>
        <p:nvSpPr>
          <p:cNvPr id="20" name="Shape 15"/>
          <p:cNvSpPr/>
          <p:nvPr/>
        </p:nvSpPr>
        <p:spPr>
          <a:xfrm>
            <a:off x="8778240" y="1965960"/>
            <a:ext cx="2377440" cy="1005840"/>
          </a:xfrm>
          <a:prstGeom prst="roundRect">
            <a:avLst>
              <a:gd name="adj" fmla="val 7273"/>
            </a:avLst>
          </a:prstGeom>
          <a:solidFill>
            <a:srgbClr val="1C1F47"/>
          </a:solidFill>
          <a:ln w="12700">
            <a:solidFill>
              <a:srgbClr val="35386E"/>
            </a:solidFill>
            <a:prstDash val="solid"/>
          </a:ln>
        </p:spPr>
      </p:sp>
      <p:sp>
        <p:nvSpPr>
          <p:cNvPr id="21" name="Shape 16"/>
          <p:cNvSpPr/>
          <p:nvPr/>
        </p:nvSpPr>
        <p:spPr>
          <a:xfrm>
            <a:off x="8942832" y="2240280"/>
            <a:ext cx="457200" cy="457200"/>
          </a:xfrm>
          <a:prstGeom prst="ellipse">
            <a:avLst/>
          </a:prstGeom>
          <a:solidFill>
            <a:srgbClr val="12142E"/>
          </a:solidFill>
          <a:ln/>
        </p:spPr>
      </p:sp>
      <p:pic>
        <p:nvPicPr>
          <p:cNvPr id="22" name="Image 3" descr="/home/claude/agents-deck/icons/search_cyan.png">    </p:cNvPr>
          <p:cNvPicPr>
            <a:picLocks noChangeAspect="1"/>
          </p:cNvPicPr>
          <p:nvPr/>
        </p:nvPicPr>
        <p:blipFill>
          <a:blip r:embed="rId4"/>
          <a:stretch>
            <a:fillRect/>
          </a:stretch>
        </p:blipFill>
        <p:spPr>
          <a:xfrm>
            <a:off x="9061704" y="2359152"/>
            <a:ext cx="219456" cy="219456"/>
          </a:xfrm>
          <a:prstGeom prst="rect">
            <a:avLst/>
          </a:prstGeom>
        </p:spPr>
      </p:pic>
      <p:sp>
        <p:nvSpPr>
          <p:cNvPr id="23" name="Text 17"/>
          <p:cNvSpPr/>
          <p:nvPr/>
        </p:nvSpPr>
        <p:spPr>
          <a:xfrm>
            <a:off x="9509760" y="2112264"/>
            <a:ext cx="150876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Vector Store</a:t>
            </a:r>
            <a:endParaRPr lang="en-US" sz="1250" dirty="0"/>
          </a:p>
        </p:txBody>
      </p:sp>
      <p:sp>
        <p:nvSpPr>
          <p:cNvPr id="24" name="Text 18"/>
          <p:cNvSpPr/>
          <p:nvPr/>
        </p:nvSpPr>
        <p:spPr>
          <a:xfrm>
            <a:off x="9509760" y="2441448"/>
            <a:ext cx="1508760" cy="320040"/>
          </a:xfrm>
          <a:prstGeom prst="rect">
            <a:avLst/>
          </a:prstGeom>
          <a:noFill/>
          <a:ln/>
        </p:spPr>
        <p:txBody>
          <a:bodyPr wrap="square" lIns="0" tIns="0" rIns="0" bIns="0" rtlCol="0" anchor="ctr"/>
          <a:lstStyle/>
          <a:p>
            <a:pPr indent="0" marL="0">
              <a:buNone/>
            </a:pPr>
            <a:r>
              <a:rPr lang="en-US" sz="1000" dirty="0">
                <a:solidFill>
                  <a:srgbClr val="8B90B3"/>
                </a:solidFill>
                <a:latin typeface="Calibri" pitchFamily="34" charset="0"/>
                <a:ea typeface="Calibri" pitchFamily="34" charset="-122"/>
                <a:cs typeface="Calibri" pitchFamily="34" charset="-120"/>
              </a:rPr>
              <a:t>Semantic recall</a:t>
            </a:r>
            <a:endParaRPr lang="en-US" sz="1000" dirty="0"/>
          </a:p>
        </p:txBody>
      </p:sp>
      <p:sp>
        <p:nvSpPr>
          <p:cNvPr id="25" name="Shape 19"/>
          <p:cNvSpPr/>
          <p:nvPr/>
        </p:nvSpPr>
        <p:spPr>
          <a:xfrm>
            <a:off x="8778240" y="4572000"/>
            <a:ext cx="2377440" cy="1005840"/>
          </a:xfrm>
          <a:prstGeom prst="roundRect">
            <a:avLst>
              <a:gd name="adj" fmla="val 7273"/>
            </a:avLst>
          </a:prstGeom>
          <a:solidFill>
            <a:srgbClr val="1C1F47"/>
          </a:solidFill>
          <a:ln w="12700">
            <a:solidFill>
              <a:srgbClr val="35386E"/>
            </a:solidFill>
            <a:prstDash val="solid"/>
          </a:ln>
        </p:spPr>
      </p:sp>
      <p:sp>
        <p:nvSpPr>
          <p:cNvPr id="26" name="Shape 20"/>
          <p:cNvSpPr/>
          <p:nvPr/>
        </p:nvSpPr>
        <p:spPr>
          <a:xfrm>
            <a:off x="8942832" y="4846320"/>
            <a:ext cx="457200" cy="457200"/>
          </a:xfrm>
          <a:prstGeom prst="ellipse">
            <a:avLst/>
          </a:prstGeom>
          <a:solidFill>
            <a:srgbClr val="12142E"/>
          </a:solidFill>
          <a:ln/>
        </p:spPr>
      </p:sp>
      <p:pic>
        <p:nvPicPr>
          <p:cNvPr id="27" name="Image 4" descr="/home/claude/agents-deck/icons/history_cyan.png">    </p:cNvPr>
          <p:cNvPicPr>
            <a:picLocks noChangeAspect="1"/>
          </p:cNvPicPr>
          <p:nvPr/>
        </p:nvPicPr>
        <p:blipFill>
          <a:blip r:embed="rId5"/>
          <a:stretch>
            <a:fillRect/>
          </a:stretch>
        </p:blipFill>
        <p:spPr>
          <a:xfrm>
            <a:off x="9061704" y="4965192"/>
            <a:ext cx="219456" cy="219456"/>
          </a:xfrm>
          <a:prstGeom prst="rect">
            <a:avLst/>
          </a:prstGeom>
        </p:spPr>
      </p:pic>
      <p:sp>
        <p:nvSpPr>
          <p:cNvPr id="28" name="Text 21"/>
          <p:cNvSpPr/>
          <p:nvPr/>
        </p:nvSpPr>
        <p:spPr>
          <a:xfrm>
            <a:off x="9509760" y="4718304"/>
            <a:ext cx="150876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Episodic Log</a:t>
            </a:r>
            <a:endParaRPr lang="en-US" sz="1250" dirty="0"/>
          </a:p>
        </p:txBody>
      </p:sp>
      <p:sp>
        <p:nvSpPr>
          <p:cNvPr id="29" name="Text 22"/>
          <p:cNvSpPr/>
          <p:nvPr/>
        </p:nvSpPr>
        <p:spPr>
          <a:xfrm>
            <a:off x="9509760" y="5047488"/>
            <a:ext cx="1508760" cy="320040"/>
          </a:xfrm>
          <a:prstGeom prst="rect">
            <a:avLst/>
          </a:prstGeom>
          <a:noFill/>
          <a:ln/>
        </p:spPr>
        <p:txBody>
          <a:bodyPr wrap="square" lIns="0" tIns="0" rIns="0" bIns="0" rtlCol="0" anchor="ctr"/>
          <a:lstStyle/>
          <a:p>
            <a:pPr indent="0" marL="0">
              <a:buNone/>
            </a:pPr>
            <a:r>
              <a:rPr lang="en-US" sz="1000" dirty="0">
                <a:solidFill>
                  <a:srgbClr val="8B90B3"/>
                </a:solidFill>
                <a:latin typeface="Calibri" pitchFamily="34" charset="0"/>
                <a:ea typeface="Calibri" pitchFamily="34" charset="-122"/>
                <a:cs typeface="Calibri" pitchFamily="34" charset="-120"/>
              </a:rPr>
              <a:t>Past sessions</a:t>
            </a:r>
            <a:endParaRPr lang="en-US" sz="1000" dirty="0"/>
          </a:p>
        </p:txBody>
      </p:sp>
      <p:sp>
        <p:nvSpPr>
          <p:cNvPr id="30" name="Shape 23"/>
          <p:cNvSpPr/>
          <p:nvPr/>
        </p:nvSpPr>
        <p:spPr>
          <a:xfrm>
            <a:off x="3383280" y="2971800"/>
            <a:ext cx="1508760" cy="274320"/>
          </a:xfrm>
          <a:prstGeom prst="line">
            <a:avLst/>
          </a:prstGeom>
          <a:noFill/>
          <a:ln w="15875">
            <a:solidFill>
              <a:srgbClr val="22D3EE"/>
            </a:solidFill>
            <a:prstDash val="dash"/>
          </a:ln>
        </p:spPr>
      </p:sp>
      <p:sp>
        <p:nvSpPr>
          <p:cNvPr id="31" name="Shape 24"/>
          <p:cNvSpPr/>
          <p:nvPr/>
        </p:nvSpPr>
        <p:spPr>
          <a:xfrm flipV="1">
            <a:off x="3383280" y="4251960"/>
            <a:ext cx="1508760" cy="320040"/>
          </a:xfrm>
          <a:prstGeom prst="line">
            <a:avLst/>
          </a:prstGeom>
          <a:noFill/>
          <a:ln w="15875">
            <a:solidFill>
              <a:srgbClr val="22D3EE"/>
            </a:solidFill>
            <a:prstDash val="dash"/>
          </a:ln>
        </p:spPr>
      </p:sp>
      <p:sp>
        <p:nvSpPr>
          <p:cNvPr id="32" name="Shape 25"/>
          <p:cNvSpPr/>
          <p:nvPr/>
        </p:nvSpPr>
        <p:spPr>
          <a:xfrm flipV="1">
            <a:off x="7269480" y="2971800"/>
            <a:ext cx="1508760" cy="274320"/>
          </a:xfrm>
          <a:prstGeom prst="line">
            <a:avLst/>
          </a:prstGeom>
          <a:noFill/>
          <a:ln w="15875">
            <a:solidFill>
              <a:srgbClr val="22D3EE"/>
            </a:solidFill>
            <a:prstDash val="dash"/>
          </a:ln>
        </p:spPr>
      </p:sp>
      <p:sp>
        <p:nvSpPr>
          <p:cNvPr id="33" name="Shape 26"/>
          <p:cNvSpPr/>
          <p:nvPr/>
        </p:nvSpPr>
        <p:spPr>
          <a:xfrm>
            <a:off x="7269480" y="4251960"/>
            <a:ext cx="1508760" cy="320040"/>
          </a:xfrm>
          <a:prstGeom prst="line">
            <a:avLst/>
          </a:prstGeom>
          <a:noFill/>
          <a:ln w="15875">
            <a:solidFill>
              <a:srgbClr val="22D3EE"/>
            </a:solidFill>
            <a:prstDash val="dash"/>
          </a:ln>
        </p:spPr>
      </p:sp>
      <p:sp>
        <p:nvSpPr>
          <p:cNvPr id="34" name="Text 27"/>
          <p:cNvSpPr/>
          <p:nvPr/>
        </p:nvSpPr>
        <p:spPr>
          <a:xfrm>
            <a:off x="640080" y="6035040"/>
            <a:ext cx="10881360" cy="502920"/>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Working memory and the scratchpad stay close to the core for every turn; the vector store and episodic log are queried selectively, only when the task needs them.</a:t>
            </a:r>
            <a:endParaRPr lang="en-US" sz="1150" dirty="0"/>
          </a:p>
        </p:txBody>
      </p:sp>
      <p:sp>
        <p:nvSpPr>
          <p:cNvPr id="35" name="Text 28"/>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9</a:t>
            </a:r>
            <a:endParaRPr lang="en-US" sz="1000" dirty="0"/>
          </a:p>
        </p:txBody>
      </p:sp>
      <p:sp>
        <p:nvSpPr>
          <p:cNvPr id="36" name="Text 29"/>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42E"/>
        </a:solidFill>
      </p:bgPr>
    </p:bg>
    <p:spTree>
      <p:nvGrpSpPr>
        <p:cNvPr id="1" name=""/>
        <p:cNvGrpSpPr/>
        <p:nvPr/>
      </p:nvGrpSpPr>
      <p:grpSpPr>
        <a:xfrm>
          <a:off x="0" y="0"/>
          <a:ext cx="0" cy="0"/>
          <a:chOff x="0" y="0"/>
          <a:chExt cx="0" cy="0"/>
        </a:xfrm>
      </p:grpSpPr>
      <p:sp>
        <p:nvSpPr>
          <p:cNvPr id="2" name="Shape 0"/>
          <p:cNvSpPr/>
          <p:nvPr/>
        </p:nvSpPr>
        <p:spPr>
          <a:xfrm>
            <a:off x="914400" y="914400"/>
            <a:ext cx="54864" cy="54864"/>
          </a:xfrm>
          <a:prstGeom prst="ellipse">
            <a:avLst/>
          </a:prstGeom>
          <a:solidFill>
            <a:srgbClr val="2A2D5C"/>
          </a:solidFill>
          <a:ln/>
        </p:spPr>
      </p:sp>
      <p:sp>
        <p:nvSpPr>
          <p:cNvPr id="3" name="Shape 1"/>
          <p:cNvSpPr/>
          <p:nvPr/>
        </p:nvSpPr>
        <p:spPr>
          <a:xfrm>
            <a:off x="1463040" y="2194560"/>
            <a:ext cx="54864" cy="54864"/>
          </a:xfrm>
          <a:prstGeom prst="ellipse">
            <a:avLst/>
          </a:prstGeom>
          <a:solidFill>
            <a:srgbClr val="2A2D5C"/>
          </a:solidFill>
          <a:ln/>
        </p:spPr>
      </p:sp>
      <p:sp>
        <p:nvSpPr>
          <p:cNvPr id="4" name="Shape 2"/>
          <p:cNvSpPr/>
          <p:nvPr/>
        </p:nvSpPr>
        <p:spPr>
          <a:xfrm>
            <a:off x="731520" y="3840480"/>
            <a:ext cx="54864" cy="54864"/>
          </a:xfrm>
          <a:prstGeom prst="ellipse">
            <a:avLst/>
          </a:prstGeom>
          <a:solidFill>
            <a:srgbClr val="2A2D5C"/>
          </a:solidFill>
          <a:ln/>
        </p:spPr>
      </p:sp>
      <p:sp>
        <p:nvSpPr>
          <p:cNvPr id="5" name="Shape 3"/>
          <p:cNvSpPr/>
          <p:nvPr/>
        </p:nvSpPr>
        <p:spPr>
          <a:xfrm>
            <a:off x="1737360" y="5120640"/>
            <a:ext cx="54864" cy="54864"/>
          </a:xfrm>
          <a:prstGeom prst="ellipse">
            <a:avLst/>
          </a:prstGeom>
          <a:solidFill>
            <a:srgbClr val="2A2D5C"/>
          </a:solidFill>
          <a:ln/>
        </p:spPr>
      </p:sp>
      <p:sp>
        <p:nvSpPr>
          <p:cNvPr id="6" name="Shape 4"/>
          <p:cNvSpPr/>
          <p:nvPr/>
        </p:nvSpPr>
        <p:spPr>
          <a:xfrm>
            <a:off x="2377440" y="1463040"/>
            <a:ext cx="54864" cy="54864"/>
          </a:xfrm>
          <a:prstGeom prst="ellipse">
            <a:avLst/>
          </a:prstGeom>
          <a:solidFill>
            <a:srgbClr val="2A2D5C"/>
          </a:solidFill>
          <a:ln/>
        </p:spPr>
      </p:sp>
      <p:sp>
        <p:nvSpPr>
          <p:cNvPr id="7" name="Shape 5"/>
          <p:cNvSpPr/>
          <p:nvPr/>
        </p:nvSpPr>
        <p:spPr>
          <a:xfrm>
            <a:off x="10789920" y="1097280"/>
            <a:ext cx="54864" cy="54864"/>
          </a:xfrm>
          <a:prstGeom prst="ellipse">
            <a:avLst/>
          </a:prstGeom>
          <a:solidFill>
            <a:srgbClr val="2A2D5C"/>
          </a:solidFill>
          <a:ln/>
        </p:spPr>
      </p:sp>
      <p:sp>
        <p:nvSpPr>
          <p:cNvPr id="8" name="Shape 6"/>
          <p:cNvSpPr/>
          <p:nvPr/>
        </p:nvSpPr>
        <p:spPr>
          <a:xfrm>
            <a:off x="11338560" y="2743200"/>
            <a:ext cx="54864" cy="54864"/>
          </a:xfrm>
          <a:prstGeom prst="ellipse">
            <a:avLst/>
          </a:prstGeom>
          <a:solidFill>
            <a:srgbClr val="2A2D5C"/>
          </a:solidFill>
          <a:ln/>
        </p:spPr>
      </p:sp>
      <p:sp>
        <p:nvSpPr>
          <p:cNvPr id="9" name="Shape 7"/>
          <p:cNvSpPr/>
          <p:nvPr/>
        </p:nvSpPr>
        <p:spPr>
          <a:xfrm>
            <a:off x="10515600" y="4572000"/>
            <a:ext cx="54864" cy="54864"/>
          </a:xfrm>
          <a:prstGeom prst="ellipse">
            <a:avLst/>
          </a:prstGeom>
          <a:solidFill>
            <a:srgbClr val="2A2D5C"/>
          </a:solidFill>
          <a:ln/>
        </p:spPr>
      </p:sp>
      <p:sp>
        <p:nvSpPr>
          <p:cNvPr id="10" name="Shape 8"/>
          <p:cNvSpPr/>
          <p:nvPr/>
        </p:nvSpPr>
        <p:spPr>
          <a:xfrm>
            <a:off x="11521440" y="5577840"/>
            <a:ext cx="54864" cy="54864"/>
          </a:xfrm>
          <a:prstGeom prst="ellipse">
            <a:avLst/>
          </a:prstGeom>
          <a:solidFill>
            <a:srgbClr val="2A2D5C"/>
          </a:solidFill>
          <a:ln/>
        </p:spPr>
      </p:sp>
      <p:sp>
        <p:nvSpPr>
          <p:cNvPr id="11" name="Shape 9"/>
          <p:cNvSpPr/>
          <p:nvPr/>
        </p:nvSpPr>
        <p:spPr>
          <a:xfrm>
            <a:off x="9966960" y="2011680"/>
            <a:ext cx="54864" cy="54864"/>
          </a:xfrm>
          <a:prstGeom prst="ellipse">
            <a:avLst/>
          </a:prstGeom>
          <a:solidFill>
            <a:srgbClr val="2A2D5C"/>
          </a:solidFill>
          <a:ln/>
        </p:spPr>
      </p:sp>
      <p:sp>
        <p:nvSpPr>
          <p:cNvPr id="12" name="Text 10"/>
          <p:cNvSpPr/>
          <p:nvPr/>
        </p:nvSpPr>
        <p:spPr>
          <a:xfrm>
            <a:off x="914400" y="2331720"/>
            <a:ext cx="5486400" cy="365760"/>
          </a:xfrm>
          <a:prstGeom prst="rect">
            <a:avLst/>
          </a:prstGeom>
          <a:noFill/>
          <a:ln/>
        </p:spPr>
        <p:txBody>
          <a:bodyPr wrap="square" lIns="0" tIns="0" rIns="0" bIns="0" rtlCol="0" anchor="ctr"/>
          <a:lstStyle/>
          <a:p>
            <a:pPr indent="0" marL="0">
              <a:buNone/>
            </a:pPr>
            <a:r>
              <a:rPr lang="en-US" sz="1300" b="1" spc="300" kern="0" dirty="0">
                <a:solidFill>
                  <a:srgbClr val="22D3EE"/>
                </a:solidFill>
                <a:latin typeface="Calibri" pitchFamily="34" charset="0"/>
                <a:ea typeface="Calibri" pitchFamily="34" charset="-122"/>
                <a:cs typeface="Calibri" pitchFamily="34" charset="-120"/>
              </a:rPr>
              <a:t>SECTION 3 / 7</a:t>
            </a:r>
            <a:endParaRPr lang="en-US" sz="1300" dirty="0"/>
          </a:p>
        </p:txBody>
      </p:sp>
      <p:sp>
        <p:nvSpPr>
          <p:cNvPr id="13" name="Shape 11"/>
          <p:cNvSpPr/>
          <p:nvPr/>
        </p:nvSpPr>
        <p:spPr>
          <a:xfrm>
            <a:off x="9692640" y="2148840"/>
            <a:ext cx="1234440" cy="1234440"/>
          </a:xfrm>
          <a:prstGeom prst="ellipse">
            <a:avLst/>
          </a:prstGeom>
          <a:solidFill>
            <a:srgbClr val="1C1F47"/>
          </a:solidFill>
          <a:ln/>
        </p:spPr>
      </p:sp>
      <p:pic>
        <p:nvPicPr>
          <p:cNvPr id="14" name="Image 0" descr="/home/claude/agents-deck/icons/wrench_cyan.png">    </p:cNvPr>
          <p:cNvPicPr>
            <a:picLocks noChangeAspect="1"/>
          </p:cNvPicPr>
          <p:nvPr/>
        </p:nvPicPr>
        <p:blipFill>
          <a:blip r:embed="rId1"/>
          <a:stretch>
            <a:fillRect/>
          </a:stretch>
        </p:blipFill>
        <p:spPr>
          <a:xfrm>
            <a:off x="10013594" y="2469794"/>
            <a:ext cx="592531" cy="592531"/>
          </a:xfrm>
          <a:prstGeom prst="rect">
            <a:avLst/>
          </a:prstGeom>
        </p:spPr>
      </p:pic>
      <p:sp>
        <p:nvSpPr>
          <p:cNvPr id="15" name="Text 12"/>
          <p:cNvSpPr/>
          <p:nvPr/>
        </p:nvSpPr>
        <p:spPr>
          <a:xfrm>
            <a:off x="914400" y="2697480"/>
            <a:ext cx="841248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Tool Use</a:t>
            </a:r>
            <a:endParaRPr lang="en-US" sz="4400" dirty="0"/>
          </a:p>
        </p:txBody>
      </p:sp>
      <p:sp>
        <p:nvSpPr>
          <p:cNvPr id="16" name="Text 13"/>
          <p:cNvSpPr/>
          <p:nvPr/>
        </p:nvSpPr>
        <p:spPr>
          <a:xfrm>
            <a:off x="914400" y="3794760"/>
            <a:ext cx="7863840" cy="731520"/>
          </a:xfrm>
          <a:prstGeom prst="rect">
            <a:avLst/>
          </a:prstGeom>
          <a:noFill/>
          <a:ln/>
        </p:spPr>
        <p:txBody>
          <a:bodyPr wrap="square" lIns="0" tIns="0" rIns="0" bIns="0" rtlCol="0" anchor="ctr"/>
          <a:lstStyle/>
          <a:p>
            <a:pPr indent="0" marL="0">
              <a:buNone/>
            </a:pPr>
            <a:r>
              <a:rPr lang="en-US" sz="1600" dirty="0">
                <a:solidFill>
                  <a:srgbClr val="8B90B3"/>
                </a:solidFill>
                <a:latin typeface="Calibri" pitchFamily="34" charset="0"/>
                <a:ea typeface="Calibri" pitchFamily="34" charset="-122"/>
                <a:cs typeface="Calibri" pitchFamily="34" charset="-120"/>
              </a:rPr>
              <a:t>How agents act on the world: function calling, schemas, and the ReAct loop.</a:t>
            </a:r>
            <a:endParaRPr lang="en-US" sz="1600" dirty="0"/>
          </a:p>
        </p:txBody>
      </p:sp>
      <p:sp>
        <p:nvSpPr>
          <p:cNvPr id="17" name="Text 14"/>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5A5E8C"/>
                </a:solidFill>
                <a:latin typeface="Calibri" pitchFamily="34" charset="0"/>
                <a:ea typeface="Calibri" pitchFamily="34" charset="-122"/>
                <a:cs typeface="Calibri" pitchFamily="34" charset="-120"/>
              </a:rPr>
              <a:t>10</a:t>
            </a:r>
            <a:endParaRPr lang="en-US" sz="1000" dirty="0"/>
          </a:p>
        </p:txBody>
      </p:sp>
      <p:sp>
        <p:nvSpPr>
          <p:cNvPr id="18" name="Text 15"/>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4A4E7A"/>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TOOL USE</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Tool Use Fundamentals</a:t>
            </a:r>
            <a:endParaRPr lang="en-US" sz="3000" dirty="0"/>
          </a:p>
        </p:txBody>
      </p:sp>
      <p:sp>
        <p:nvSpPr>
          <p:cNvPr id="4" name="Text 2"/>
          <p:cNvSpPr/>
          <p:nvPr/>
        </p:nvSpPr>
        <p:spPr>
          <a:xfrm>
            <a:off x="640080" y="1417320"/>
            <a:ext cx="5029200" cy="1371600"/>
          </a:xfrm>
          <a:prstGeom prst="rect">
            <a:avLst/>
          </a:prstGeom>
          <a:noFill/>
          <a:ln/>
        </p:spPr>
        <p:txBody>
          <a:bodyPr wrap="square" lIns="0" tIns="0" rIns="0" bIns="0" rtlCol="0" anchor="ctr"/>
          <a:lstStyle/>
          <a:p>
            <a:pPr indent="0" marL="0">
              <a:lnSpc>
                <a:spcPct val="125000"/>
              </a:lnSpc>
              <a:buNone/>
            </a:pPr>
            <a:r>
              <a:rPr lang="en-US" sz="1400" dirty="0">
                <a:solidFill>
                  <a:srgbClr val="475569"/>
                </a:solidFill>
                <a:latin typeface="Calibri" pitchFamily="34" charset="0"/>
                <a:ea typeface="Calibri" pitchFamily="34" charset="-122"/>
                <a:cs typeface="Calibri" pitchFamily="34" charset="-120"/>
              </a:rPr>
              <a:t>Function calling gives the model a structured menu of actions. The model doesn't execute anything itself — it emits a structured request, your code runs it, and the result goes back into context.</a:t>
            </a:r>
            <a:endParaRPr lang="en-US" sz="1400" dirty="0"/>
          </a:p>
        </p:txBody>
      </p:sp>
      <p:sp>
        <p:nvSpPr>
          <p:cNvPr id="5" name="Shape 3"/>
          <p:cNvSpPr/>
          <p:nvPr/>
        </p:nvSpPr>
        <p:spPr>
          <a:xfrm>
            <a:off x="640080" y="2926080"/>
            <a:ext cx="365760" cy="365760"/>
          </a:xfrm>
          <a:prstGeom prst="ellipse">
            <a:avLst/>
          </a:prstGeom>
          <a:solidFill>
            <a:srgbClr val="12142E"/>
          </a:solidFill>
          <a:ln/>
        </p:spPr>
      </p:sp>
      <p:sp>
        <p:nvSpPr>
          <p:cNvPr id="6" name="Text 4"/>
          <p:cNvSpPr/>
          <p:nvPr/>
        </p:nvSpPr>
        <p:spPr>
          <a:xfrm>
            <a:off x="640080" y="2926080"/>
            <a:ext cx="365760" cy="365760"/>
          </a:xfrm>
          <a:prstGeom prst="rect">
            <a:avLst/>
          </a:prstGeom>
          <a:noFill/>
          <a:ln/>
        </p:spPr>
        <p:txBody>
          <a:bodyPr wrap="square" lIns="0" tIns="0" rIns="0" bIns="0" rtlCol="0" anchor="ctr"/>
          <a:lstStyle/>
          <a:p>
            <a:pPr algn="ctr" indent="0" marL="0">
              <a:buNone/>
            </a:pPr>
            <a:r>
              <a:rPr lang="en-US" sz="1300" b="1" dirty="0">
                <a:solidFill>
                  <a:srgbClr val="22D3EE"/>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43000" y="2898648"/>
            <a:ext cx="4480560" cy="457200"/>
          </a:xfrm>
          <a:prstGeom prst="rect">
            <a:avLst/>
          </a:prstGeom>
          <a:noFill/>
          <a:ln/>
        </p:spPr>
        <p:txBody>
          <a:bodyPr wrap="square" lIns="0" tIns="0" rIns="0" bIns="0" rtlCol="0" anchor="ctr"/>
          <a:lstStyle/>
          <a:p>
            <a:pPr indent="0" marL="0">
              <a:buNone/>
            </a:pPr>
            <a:r>
              <a:rPr lang="en-US" sz="1200" b="1" dirty="0">
                <a:solidFill>
                  <a:srgbClr val="12142E"/>
                </a:solidFill>
                <a:latin typeface="Calibri" pitchFamily="34" charset="0"/>
                <a:ea typeface="Calibri" pitchFamily="34" charset="-122"/>
                <a:cs typeface="Calibri" pitchFamily="34" charset="-120"/>
              </a:rPr>
              <a:t>Model selects a tool + arguments  </a:t>
            </a:r>
            <a:pPr indent="0" marL="0">
              <a:buNone/>
            </a:pPr>
            <a:r>
              <a:rPr lang="en-US" sz="1200" dirty="0">
                <a:solidFill>
                  <a:srgbClr val="475569"/>
                </a:solidFill>
                <a:latin typeface="Calibri" pitchFamily="34" charset="0"/>
                <a:ea typeface="Calibri" pitchFamily="34" charset="-122"/>
                <a:cs typeface="Calibri" pitchFamily="34" charset="-120"/>
              </a:rPr>
              <a:t>based on the schema you provide</a:t>
            </a:r>
            <a:endParaRPr lang="en-US" sz="1200" dirty="0"/>
          </a:p>
        </p:txBody>
      </p:sp>
      <p:sp>
        <p:nvSpPr>
          <p:cNvPr id="8" name="Shape 6"/>
          <p:cNvSpPr/>
          <p:nvPr/>
        </p:nvSpPr>
        <p:spPr>
          <a:xfrm>
            <a:off x="640080" y="3547872"/>
            <a:ext cx="365760" cy="365760"/>
          </a:xfrm>
          <a:prstGeom prst="ellipse">
            <a:avLst/>
          </a:prstGeom>
          <a:solidFill>
            <a:srgbClr val="12142E"/>
          </a:solidFill>
          <a:ln/>
        </p:spPr>
      </p:sp>
      <p:sp>
        <p:nvSpPr>
          <p:cNvPr id="9" name="Text 7"/>
          <p:cNvSpPr/>
          <p:nvPr/>
        </p:nvSpPr>
        <p:spPr>
          <a:xfrm>
            <a:off x="640080" y="3547872"/>
            <a:ext cx="365760" cy="365760"/>
          </a:xfrm>
          <a:prstGeom prst="rect">
            <a:avLst/>
          </a:prstGeom>
          <a:noFill/>
          <a:ln/>
        </p:spPr>
        <p:txBody>
          <a:bodyPr wrap="square" lIns="0" tIns="0" rIns="0" bIns="0" rtlCol="0" anchor="ctr"/>
          <a:lstStyle/>
          <a:p>
            <a:pPr algn="ctr" indent="0" marL="0">
              <a:buNone/>
            </a:pPr>
            <a:r>
              <a:rPr lang="en-US" sz="1300" b="1" dirty="0">
                <a:solidFill>
                  <a:srgbClr val="22D3EE"/>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43000" y="3520440"/>
            <a:ext cx="4480560" cy="457200"/>
          </a:xfrm>
          <a:prstGeom prst="rect">
            <a:avLst/>
          </a:prstGeom>
          <a:noFill/>
          <a:ln/>
        </p:spPr>
        <p:txBody>
          <a:bodyPr wrap="square" lIns="0" tIns="0" rIns="0" bIns="0" rtlCol="0" anchor="ctr"/>
          <a:lstStyle/>
          <a:p>
            <a:pPr indent="0" marL="0">
              <a:buNone/>
            </a:pPr>
            <a:r>
              <a:rPr lang="en-US" sz="1200" b="1" dirty="0">
                <a:solidFill>
                  <a:srgbClr val="12142E"/>
                </a:solidFill>
                <a:latin typeface="Calibri" pitchFamily="34" charset="0"/>
                <a:ea typeface="Calibri" pitchFamily="34" charset="-122"/>
                <a:cs typeface="Calibri" pitchFamily="34" charset="-120"/>
              </a:rPr>
              <a:t>Your application executes it  </a:t>
            </a:r>
            <a:pPr indent="0" marL="0">
              <a:buNone/>
            </a:pPr>
            <a:r>
              <a:rPr lang="en-US" sz="1200" dirty="0">
                <a:solidFill>
                  <a:srgbClr val="475569"/>
                </a:solidFill>
                <a:latin typeface="Calibri" pitchFamily="34" charset="0"/>
                <a:ea typeface="Calibri" pitchFamily="34" charset="-122"/>
                <a:cs typeface="Calibri" pitchFamily="34" charset="-120"/>
              </a:rPr>
              <a:t>the model never runs code directly</a:t>
            </a:r>
            <a:endParaRPr lang="en-US" sz="1200" dirty="0"/>
          </a:p>
        </p:txBody>
      </p:sp>
      <p:sp>
        <p:nvSpPr>
          <p:cNvPr id="11" name="Shape 9"/>
          <p:cNvSpPr/>
          <p:nvPr/>
        </p:nvSpPr>
        <p:spPr>
          <a:xfrm>
            <a:off x="640080" y="4169664"/>
            <a:ext cx="365760" cy="365760"/>
          </a:xfrm>
          <a:prstGeom prst="ellipse">
            <a:avLst/>
          </a:prstGeom>
          <a:solidFill>
            <a:srgbClr val="12142E"/>
          </a:solidFill>
          <a:ln/>
        </p:spPr>
      </p:sp>
      <p:sp>
        <p:nvSpPr>
          <p:cNvPr id="12" name="Text 10"/>
          <p:cNvSpPr/>
          <p:nvPr/>
        </p:nvSpPr>
        <p:spPr>
          <a:xfrm>
            <a:off x="640080" y="4169664"/>
            <a:ext cx="365760" cy="365760"/>
          </a:xfrm>
          <a:prstGeom prst="rect">
            <a:avLst/>
          </a:prstGeom>
          <a:noFill/>
          <a:ln/>
        </p:spPr>
        <p:txBody>
          <a:bodyPr wrap="square" lIns="0" tIns="0" rIns="0" bIns="0" rtlCol="0" anchor="ctr"/>
          <a:lstStyle/>
          <a:p>
            <a:pPr algn="ctr" indent="0" marL="0">
              <a:buNone/>
            </a:pPr>
            <a:r>
              <a:rPr lang="en-US" sz="1300" b="1" dirty="0">
                <a:solidFill>
                  <a:srgbClr val="22D3EE"/>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43000" y="4142232"/>
            <a:ext cx="4480560" cy="457200"/>
          </a:xfrm>
          <a:prstGeom prst="rect">
            <a:avLst/>
          </a:prstGeom>
          <a:noFill/>
          <a:ln/>
        </p:spPr>
        <p:txBody>
          <a:bodyPr wrap="square" lIns="0" tIns="0" rIns="0" bIns="0" rtlCol="0" anchor="ctr"/>
          <a:lstStyle/>
          <a:p>
            <a:pPr indent="0" marL="0">
              <a:buNone/>
            </a:pPr>
            <a:r>
              <a:rPr lang="en-US" sz="1200" b="1" dirty="0">
                <a:solidFill>
                  <a:srgbClr val="12142E"/>
                </a:solidFill>
                <a:latin typeface="Calibri" pitchFamily="34" charset="0"/>
                <a:ea typeface="Calibri" pitchFamily="34" charset="-122"/>
                <a:cs typeface="Calibri" pitchFamily="34" charset="-120"/>
              </a:rPr>
              <a:t>Result is appended to context  </a:t>
            </a:r>
            <a:pPr indent="0" marL="0">
              <a:buNone/>
            </a:pPr>
            <a:r>
              <a:rPr lang="en-US" sz="1200" dirty="0">
                <a:solidFill>
                  <a:srgbClr val="475569"/>
                </a:solidFill>
                <a:latin typeface="Calibri" pitchFamily="34" charset="0"/>
                <a:ea typeface="Calibri" pitchFamily="34" charset="-122"/>
                <a:cs typeface="Calibri" pitchFamily="34" charset="-120"/>
              </a:rPr>
              <a:t>as a tool result message</a:t>
            </a:r>
            <a:endParaRPr lang="en-US" sz="1200" dirty="0"/>
          </a:p>
        </p:txBody>
      </p:sp>
      <p:sp>
        <p:nvSpPr>
          <p:cNvPr id="14" name="Shape 12"/>
          <p:cNvSpPr/>
          <p:nvPr/>
        </p:nvSpPr>
        <p:spPr>
          <a:xfrm>
            <a:off x="640080" y="4791456"/>
            <a:ext cx="365760" cy="365760"/>
          </a:xfrm>
          <a:prstGeom prst="ellipse">
            <a:avLst/>
          </a:prstGeom>
          <a:solidFill>
            <a:srgbClr val="12142E"/>
          </a:solidFill>
          <a:ln/>
        </p:spPr>
      </p:sp>
      <p:sp>
        <p:nvSpPr>
          <p:cNvPr id="15" name="Text 13"/>
          <p:cNvSpPr/>
          <p:nvPr/>
        </p:nvSpPr>
        <p:spPr>
          <a:xfrm>
            <a:off x="640080" y="4791456"/>
            <a:ext cx="365760" cy="365760"/>
          </a:xfrm>
          <a:prstGeom prst="rect">
            <a:avLst/>
          </a:prstGeom>
          <a:noFill/>
          <a:ln/>
        </p:spPr>
        <p:txBody>
          <a:bodyPr wrap="square" lIns="0" tIns="0" rIns="0" bIns="0" rtlCol="0" anchor="ctr"/>
          <a:lstStyle/>
          <a:p>
            <a:pPr algn="ctr" indent="0" marL="0">
              <a:buNone/>
            </a:pPr>
            <a:r>
              <a:rPr lang="en-US" sz="1300" b="1" dirty="0">
                <a:solidFill>
                  <a:srgbClr val="22D3EE"/>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1143000" y="4764024"/>
            <a:ext cx="4480560" cy="457200"/>
          </a:xfrm>
          <a:prstGeom prst="rect">
            <a:avLst/>
          </a:prstGeom>
          <a:noFill/>
          <a:ln/>
        </p:spPr>
        <p:txBody>
          <a:bodyPr wrap="square" lIns="0" tIns="0" rIns="0" bIns="0" rtlCol="0" anchor="ctr"/>
          <a:lstStyle/>
          <a:p>
            <a:pPr indent="0" marL="0">
              <a:buNone/>
            </a:pPr>
            <a:r>
              <a:rPr lang="en-US" sz="1200" b="1" dirty="0">
                <a:solidFill>
                  <a:srgbClr val="12142E"/>
                </a:solidFill>
                <a:latin typeface="Calibri" pitchFamily="34" charset="0"/>
                <a:ea typeface="Calibri" pitchFamily="34" charset="-122"/>
                <a:cs typeface="Calibri" pitchFamily="34" charset="-120"/>
              </a:rPr>
              <a:t>Model continues reasoning  </a:t>
            </a:r>
            <a:pPr indent="0" marL="0">
              <a:buNone/>
            </a:pPr>
            <a:r>
              <a:rPr lang="en-US" sz="1200" dirty="0">
                <a:solidFill>
                  <a:srgbClr val="475569"/>
                </a:solidFill>
                <a:latin typeface="Calibri" pitchFamily="34" charset="0"/>
                <a:ea typeface="Calibri" pitchFamily="34" charset="-122"/>
                <a:cs typeface="Calibri" pitchFamily="34" charset="-120"/>
              </a:rPr>
              <a:t>with the new information available</a:t>
            </a:r>
            <a:endParaRPr lang="en-US" sz="1200" dirty="0"/>
          </a:p>
        </p:txBody>
      </p:sp>
      <p:sp>
        <p:nvSpPr>
          <p:cNvPr id="17" name="Shape 15"/>
          <p:cNvSpPr/>
          <p:nvPr/>
        </p:nvSpPr>
        <p:spPr>
          <a:xfrm>
            <a:off x="6263640" y="1417320"/>
            <a:ext cx="5257800" cy="4480560"/>
          </a:xfrm>
          <a:prstGeom prst="roundRect">
            <a:avLst>
              <a:gd name="adj" fmla="val 1633"/>
            </a:avLst>
          </a:prstGeom>
          <a:solidFill>
            <a:srgbClr val="12142E"/>
          </a:solidFill>
          <a:ln/>
          <a:effectLst>
            <a:outerShdw sx="100000" sy="100000" kx="0" ky="0" algn="bl" rotWithShape="0" blurRad="101600" dist="38100" dir="5400000">
              <a:srgbClr val="12142E">
                <a:alpha val="10000"/>
              </a:srgbClr>
            </a:outerShdw>
          </a:effectLst>
        </p:spPr>
      </p:sp>
      <p:sp>
        <p:nvSpPr>
          <p:cNvPr id="18" name="Text 16"/>
          <p:cNvSpPr/>
          <p:nvPr/>
        </p:nvSpPr>
        <p:spPr>
          <a:xfrm>
            <a:off x="6537960" y="1627632"/>
            <a:ext cx="4572000" cy="274320"/>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TOOL SCHEMA (EXCERPT)</a:t>
            </a:r>
            <a:endParaRPr lang="en-US" sz="1050" dirty="0"/>
          </a:p>
        </p:txBody>
      </p:sp>
      <p:sp>
        <p:nvSpPr>
          <p:cNvPr id="19" name="Text 17"/>
          <p:cNvSpPr/>
          <p:nvPr/>
        </p:nvSpPr>
        <p:spPr>
          <a:xfrm>
            <a:off x="6537960" y="2011680"/>
            <a:ext cx="4754880" cy="3566160"/>
          </a:xfrm>
          <a:prstGeom prst="rect">
            <a:avLst/>
          </a:prstGeom>
          <a:noFill/>
          <a:ln/>
        </p:spPr>
        <p:txBody>
          <a:bodyPr wrap="square" lIns="0" tIns="0" rIns="0" bIns="0" rtlCol="0" anchor="ctr"/>
          <a:lstStyle/>
          <a:p>
            <a:pPr indent="0" marL="0">
              <a:lnSpc>
                <a:spcPct val="120000"/>
              </a:lnSpc>
              <a:buNone/>
            </a:pPr>
            <a:r>
              <a:rPr lang="en-US" sz="1250" dirty="0">
                <a:solidFill>
                  <a:srgbClr val="D7E0FF"/>
                </a:solidFill>
                <a:latin typeface="Courier New" pitchFamily="34" charset="0"/>
                <a:ea typeface="Courier New" pitchFamily="34" charset="-122"/>
                <a:cs typeface="Courier New" pitchFamily="34" charset="-120"/>
              </a:rPr>
              <a:t>{</a:t>
            </a:r>
            <a:endParaRPr lang="en-US" sz="1250" dirty="0"/>
          </a:p>
          <a:p>
            <a:pPr indent="0" marL="0">
              <a:lnSpc>
                <a:spcPct val="120000"/>
              </a:lnSpc>
              <a:buNone/>
            </a:pPr>
            <a:r>
              <a:rPr lang="en-US" sz="1250" dirty="0">
                <a:solidFill>
                  <a:srgbClr val="D7E0FF"/>
                </a:solidFill>
                <a:latin typeface="Courier New" pitchFamily="34" charset="0"/>
                <a:ea typeface="Courier New" pitchFamily="34" charset="-122"/>
                <a:cs typeface="Courier New" pitchFamily="34" charset="-120"/>
              </a:rPr>
              <a:t>  "name": "get_invoice_status",</a:t>
            </a:r>
            <a:endParaRPr lang="en-US" sz="1250" dirty="0"/>
          </a:p>
          <a:p>
            <a:pPr indent="0" marL="0">
              <a:lnSpc>
                <a:spcPct val="120000"/>
              </a:lnSpc>
              <a:buNone/>
            </a:pPr>
            <a:r>
              <a:rPr lang="en-US" sz="1250" dirty="0">
                <a:solidFill>
                  <a:srgbClr val="D7E0FF"/>
                </a:solidFill>
                <a:latin typeface="Courier New" pitchFamily="34" charset="0"/>
                <a:ea typeface="Courier New" pitchFamily="34" charset="-122"/>
                <a:cs typeface="Courier New" pitchFamily="34" charset="-120"/>
              </a:rPr>
              <a:t>  "description": "Look up an</a:t>
            </a:r>
            <a:endParaRPr lang="en-US" sz="1250" dirty="0"/>
          </a:p>
          <a:p>
            <a:pPr indent="0" marL="0">
              <a:lnSpc>
                <a:spcPct val="120000"/>
              </a:lnSpc>
              <a:buNone/>
            </a:pPr>
            <a:r>
              <a:rPr lang="en-US" sz="1250" dirty="0">
                <a:solidFill>
                  <a:srgbClr val="D7E0FF"/>
                </a:solidFill>
                <a:latin typeface="Courier New" pitchFamily="34" charset="0"/>
                <a:ea typeface="Courier New" pitchFamily="34" charset="-122"/>
                <a:cs typeface="Courier New" pitchFamily="34" charset="-120"/>
              </a:rPr>
              <a:t>    invoice's payment status",</a:t>
            </a:r>
            <a:endParaRPr lang="en-US" sz="1250" dirty="0"/>
          </a:p>
          <a:p>
            <a:pPr indent="0" marL="0">
              <a:lnSpc>
                <a:spcPct val="120000"/>
              </a:lnSpc>
              <a:buNone/>
            </a:pPr>
            <a:r>
              <a:rPr lang="en-US" sz="1250" dirty="0">
                <a:solidFill>
                  <a:srgbClr val="D7E0FF"/>
                </a:solidFill>
                <a:latin typeface="Courier New" pitchFamily="34" charset="0"/>
                <a:ea typeface="Courier New" pitchFamily="34" charset="-122"/>
                <a:cs typeface="Courier New" pitchFamily="34" charset="-120"/>
              </a:rPr>
              <a:t>  "parameters": {</a:t>
            </a:r>
            <a:endParaRPr lang="en-US" sz="1250" dirty="0"/>
          </a:p>
          <a:p>
            <a:pPr indent="0" marL="0">
              <a:lnSpc>
                <a:spcPct val="120000"/>
              </a:lnSpc>
              <a:buNone/>
            </a:pPr>
            <a:r>
              <a:rPr lang="en-US" sz="1250" dirty="0">
                <a:solidFill>
                  <a:srgbClr val="D7E0FF"/>
                </a:solidFill>
                <a:latin typeface="Courier New" pitchFamily="34" charset="0"/>
                <a:ea typeface="Courier New" pitchFamily="34" charset="-122"/>
                <a:cs typeface="Courier New" pitchFamily="34" charset="-120"/>
              </a:rPr>
              <a:t>    "invoice_id": "string",</a:t>
            </a:r>
            <a:endParaRPr lang="en-US" sz="1250" dirty="0"/>
          </a:p>
          <a:p>
            <a:pPr indent="0" marL="0">
              <a:lnSpc>
                <a:spcPct val="120000"/>
              </a:lnSpc>
              <a:buNone/>
            </a:pPr>
            <a:r>
              <a:rPr lang="en-US" sz="1250" dirty="0">
                <a:solidFill>
                  <a:srgbClr val="D7E0FF"/>
                </a:solidFill>
                <a:latin typeface="Courier New" pitchFamily="34" charset="0"/>
                <a:ea typeface="Courier New" pitchFamily="34" charset="-122"/>
                <a:cs typeface="Courier New" pitchFamily="34" charset="-120"/>
              </a:rPr>
              <a:t>    "include_history": "boolean"</a:t>
            </a:r>
            <a:endParaRPr lang="en-US" sz="1250" dirty="0"/>
          </a:p>
          <a:p>
            <a:pPr indent="0" marL="0">
              <a:lnSpc>
                <a:spcPct val="120000"/>
              </a:lnSpc>
              <a:buNone/>
            </a:pPr>
            <a:r>
              <a:rPr lang="en-US" sz="1250" dirty="0">
                <a:solidFill>
                  <a:srgbClr val="D7E0FF"/>
                </a:solidFill>
                <a:latin typeface="Courier New" pitchFamily="34" charset="0"/>
                <a:ea typeface="Courier New" pitchFamily="34" charset="-122"/>
                <a:cs typeface="Courier New" pitchFamily="34" charset="-120"/>
              </a:rPr>
              <a:t>  }</a:t>
            </a:r>
            <a:endParaRPr lang="en-US" sz="1250" dirty="0"/>
          </a:p>
          <a:p>
            <a:pPr indent="0" marL="0">
              <a:lnSpc>
                <a:spcPct val="120000"/>
              </a:lnSpc>
              <a:buNone/>
            </a:pPr>
            <a:r>
              <a:rPr lang="en-US" sz="1250" dirty="0">
                <a:solidFill>
                  <a:srgbClr val="D7E0FF"/>
                </a:solidFill>
                <a:latin typeface="Courier New" pitchFamily="34" charset="0"/>
                <a:ea typeface="Courier New" pitchFamily="34" charset="-122"/>
                <a:cs typeface="Courier New" pitchFamily="34" charset="-120"/>
              </a:rPr>
              <a:t>}</a:t>
            </a:r>
            <a:endParaRPr lang="en-US" sz="1250" dirty="0"/>
          </a:p>
        </p:txBody>
      </p:sp>
      <p:sp>
        <p:nvSpPr>
          <p:cNvPr id="20" name="Text 18"/>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11</a:t>
            </a:r>
            <a:endParaRPr lang="en-US" sz="1000" dirty="0"/>
          </a:p>
        </p:txBody>
      </p:sp>
      <p:sp>
        <p:nvSpPr>
          <p:cNvPr id="21" name="Text 19"/>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TOOL USE</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Tool Use Patterns</a:t>
            </a:r>
            <a:endParaRPr lang="en-US" sz="3000" dirty="0"/>
          </a:p>
        </p:txBody>
      </p:sp>
      <p:sp>
        <p:nvSpPr>
          <p:cNvPr id="4" name="Shape 2"/>
          <p:cNvSpPr/>
          <p:nvPr/>
        </p:nvSpPr>
        <p:spPr>
          <a:xfrm>
            <a:off x="640080" y="1600200"/>
            <a:ext cx="3520440" cy="4160520"/>
          </a:xfrm>
          <a:prstGeom prst="roundRect">
            <a:avLst>
              <a:gd name="adj" fmla="val 2078"/>
            </a:avLst>
          </a:prstGeom>
          <a:solidFill>
            <a:srgbClr val="F5F6FB"/>
          </a:solidFill>
          <a:ln/>
          <a:effectLst>
            <a:outerShdw sx="100000" sy="100000" kx="0" ky="0" algn="bl" rotWithShape="0" blurRad="101600" dist="38100" dir="5400000">
              <a:srgbClr val="12142E">
                <a:alpha val="10000"/>
              </a:srgbClr>
            </a:outerShdw>
          </a:effectLst>
        </p:spPr>
      </p:sp>
      <p:sp>
        <p:nvSpPr>
          <p:cNvPr id="5" name="Shape 3"/>
          <p:cNvSpPr/>
          <p:nvPr/>
        </p:nvSpPr>
        <p:spPr>
          <a:xfrm>
            <a:off x="896112" y="1856232"/>
            <a:ext cx="621792" cy="621792"/>
          </a:xfrm>
          <a:prstGeom prst="ellipse">
            <a:avLst/>
          </a:prstGeom>
          <a:solidFill>
            <a:srgbClr val="12142E"/>
          </a:solidFill>
          <a:ln/>
        </p:spPr>
      </p:sp>
      <p:pic>
        <p:nvPicPr>
          <p:cNvPr id="6" name="Image 0" descr="/home/claude/agents-deck/icons/route_cyan.png">    </p:cNvPr>
          <p:cNvPicPr>
            <a:picLocks noChangeAspect="1"/>
          </p:cNvPicPr>
          <p:nvPr/>
        </p:nvPicPr>
        <p:blipFill>
          <a:blip r:embed="rId1"/>
          <a:stretch>
            <a:fillRect/>
          </a:stretch>
        </p:blipFill>
        <p:spPr>
          <a:xfrm>
            <a:off x="1057778" y="2017898"/>
            <a:ext cx="298460" cy="298460"/>
          </a:xfrm>
          <a:prstGeom prst="rect">
            <a:avLst/>
          </a:prstGeom>
        </p:spPr>
      </p:pic>
      <p:sp>
        <p:nvSpPr>
          <p:cNvPr id="7" name="Text 4"/>
          <p:cNvSpPr/>
          <p:nvPr/>
        </p:nvSpPr>
        <p:spPr>
          <a:xfrm>
            <a:off x="896112" y="2606040"/>
            <a:ext cx="3008376" cy="457200"/>
          </a:xfrm>
          <a:prstGeom prst="rect">
            <a:avLst/>
          </a:prstGeom>
          <a:noFill/>
          <a:ln/>
        </p:spPr>
        <p:txBody>
          <a:bodyPr wrap="square" lIns="0" tIns="0" rIns="0" bIns="0" rtlCol="0" anchor="ctr"/>
          <a:lstStyle/>
          <a:p>
            <a:pPr indent="0" marL="0">
              <a:buNone/>
            </a:pPr>
            <a:r>
              <a:rPr lang="en-US" sz="1550" b="1" dirty="0">
                <a:solidFill>
                  <a:srgbClr val="12142E"/>
                </a:solidFill>
                <a:latin typeface="Calibri" pitchFamily="34" charset="0"/>
                <a:ea typeface="Calibri" pitchFamily="34" charset="-122"/>
                <a:cs typeface="Calibri" pitchFamily="34" charset="-120"/>
              </a:rPr>
              <a:t>ReAct Loop</a:t>
            </a:r>
            <a:endParaRPr lang="en-US" sz="1550" dirty="0"/>
          </a:p>
        </p:txBody>
      </p:sp>
      <p:sp>
        <p:nvSpPr>
          <p:cNvPr id="8" name="Text 5"/>
          <p:cNvSpPr/>
          <p:nvPr/>
        </p:nvSpPr>
        <p:spPr>
          <a:xfrm>
            <a:off x="896112" y="3108960"/>
            <a:ext cx="3008376" cy="2468880"/>
          </a:xfrm>
          <a:prstGeom prst="rect">
            <a:avLst/>
          </a:prstGeom>
          <a:noFill/>
          <a:ln/>
        </p:spPr>
        <p:txBody>
          <a:bodyPr wrap="square" lIns="0" tIns="0" rIns="0" bIns="0" rtlCol="0" anchor="ctr"/>
          <a:lstStyle/>
          <a:p>
            <a:pPr indent="0" marL="0">
              <a:lnSpc>
                <a:spcPct val="125000"/>
              </a:lnSpc>
              <a:buNone/>
            </a:pPr>
            <a:r>
              <a:rPr lang="en-US" sz="1150" dirty="0">
                <a:solidFill>
                  <a:srgbClr val="475569"/>
                </a:solidFill>
                <a:latin typeface="Calibri" pitchFamily="34" charset="0"/>
                <a:ea typeface="Calibri" pitchFamily="34" charset="-122"/>
                <a:cs typeface="Calibri" pitchFamily="34" charset="-120"/>
              </a:rPr>
              <a:t>Reason, act, observe, repeat. The model interleaves thoughts with tool calls until it has enough information to answer.</a:t>
            </a:r>
            <a:endParaRPr lang="en-US" sz="1150" dirty="0"/>
          </a:p>
        </p:txBody>
      </p:sp>
      <p:sp>
        <p:nvSpPr>
          <p:cNvPr id="9" name="Shape 6"/>
          <p:cNvSpPr/>
          <p:nvPr/>
        </p:nvSpPr>
        <p:spPr>
          <a:xfrm>
            <a:off x="4416552" y="1600200"/>
            <a:ext cx="3520440" cy="4160520"/>
          </a:xfrm>
          <a:prstGeom prst="roundRect">
            <a:avLst>
              <a:gd name="adj" fmla="val 2078"/>
            </a:avLst>
          </a:prstGeom>
          <a:solidFill>
            <a:srgbClr val="F5F6FB"/>
          </a:solidFill>
          <a:ln/>
          <a:effectLst>
            <a:outerShdw sx="100000" sy="100000" kx="0" ky="0" algn="bl" rotWithShape="0" blurRad="101600" dist="38100" dir="5400000">
              <a:srgbClr val="12142E">
                <a:alpha val="10000"/>
              </a:srgbClr>
            </a:outerShdw>
          </a:effectLst>
        </p:spPr>
      </p:sp>
      <p:sp>
        <p:nvSpPr>
          <p:cNvPr id="10" name="Shape 7"/>
          <p:cNvSpPr/>
          <p:nvPr/>
        </p:nvSpPr>
        <p:spPr>
          <a:xfrm>
            <a:off x="4672584" y="1856232"/>
            <a:ext cx="621792" cy="621792"/>
          </a:xfrm>
          <a:prstGeom prst="ellipse">
            <a:avLst/>
          </a:prstGeom>
          <a:solidFill>
            <a:srgbClr val="12142E"/>
          </a:solidFill>
          <a:ln/>
        </p:spPr>
      </p:sp>
      <p:pic>
        <p:nvPicPr>
          <p:cNvPr id="11" name="Image 1" descr="/home/claude/agents-deck/icons/layers_cyan.png">    </p:cNvPr>
          <p:cNvPicPr>
            <a:picLocks noChangeAspect="1"/>
          </p:cNvPicPr>
          <p:nvPr/>
        </p:nvPicPr>
        <p:blipFill>
          <a:blip r:embed="rId2"/>
          <a:stretch>
            <a:fillRect/>
          </a:stretch>
        </p:blipFill>
        <p:spPr>
          <a:xfrm>
            <a:off x="4834250" y="2017898"/>
            <a:ext cx="298460" cy="298460"/>
          </a:xfrm>
          <a:prstGeom prst="rect">
            <a:avLst/>
          </a:prstGeom>
        </p:spPr>
      </p:pic>
      <p:sp>
        <p:nvSpPr>
          <p:cNvPr id="12" name="Text 8"/>
          <p:cNvSpPr/>
          <p:nvPr/>
        </p:nvSpPr>
        <p:spPr>
          <a:xfrm>
            <a:off x="4672584" y="2606040"/>
            <a:ext cx="3008376" cy="457200"/>
          </a:xfrm>
          <a:prstGeom prst="rect">
            <a:avLst/>
          </a:prstGeom>
          <a:noFill/>
          <a:ln/>
        </p:spPr>
        <p:txBody>
          <a:bodyPr wrap="square" lIns="0" tIns="0" rIns="0" bIns="0" rtlCol="0" anchor="ctr"/>
          <a:lstStyle/>
          <a:p>
            <a:pPr indent="0" marL="0">
              <a:buNone/>
            </a:pPr>
            <a:r>
              <a:rPr lang="en-US" sz="1550" b="1" dirty="0">
                <a:solidFill>
                  <a:srgbClr val="12142E"/>
                </a:solidFill>
                <a:latin typeface="Calibri" pitchFamily="34" charset="0"/>
                <a:ea typeface="Calibri" pitchFamily="34" charset="-122"/>
                <a:cs typeface="Calibri" pitchFamily="34" charset="-120"/>
              </a:rPr>
              <a:t>Parallel Tool Calls</a:t>
            </a:r>
            <a:endParaRPr lang="en-US" sz="1550" dirty="0"/>
          </a:p>
        </p:txBody>
      </p:sp>
      <p:sp>
        <p:nvSpPr>
          <p:cNvPr id="13" name="Text 9"/>
          <p:cNvSpPr/>
          <p:nvPr/>
        </p:nvSpPr>
        <p:spPr>
          <a:xfrm>
            <a:off x="4672584" y="3108960"/>
            <a:ext cx="3008376" cy="2468880"/>
          </a:xfrm>
          <a:prstGeom prst="rect">
            <a:avLst/>
          </a:prstGeom>
          <a:noFill/>
          <a:ln/>
        </p:spPr>
        <p:txBody>
          <a:bodyPr wrap="square" lIns="0" tIns="0" rIns="0" bIns="0" rtlCol="0" anchor="ctr"/>
          <a:lstStyle/>
          <a:p>
            <a:pPr indent="0" marL="0">
              <a:lnSpc>
                <a:spcPct val="125000"/>
              </a:lnSpc>
              <a:buNone/>
            </a:pPr>
            <a:r>
              <a:rPr lang="en-US" sz="1150" dirty="0">
                <a:solidFill>
                  <a:srgbClr val="475569"/>
                </a:solidFill>
                <a:latin typeface="Calibri" pitchFamily="34" charset="0"/>
                <a:ea typeface="Calibri" pitchFamily="34" charset="-122"/>
                <a:cs typeface="Calibri" pitchFamily="34" charset="-120"/>
              </a:rPr>
              <a:t>Independent lookups fire simultaneously in one turn instead of sequentially — same information, lower latency.</a:t>
            </a:r>
            <a:endParaRPr lang="en-US" sz="1150" dirty="0"/>
          </a:p>
        </p:txBody>
      </p:sp>
      <p:sp>
        <p:nvSpPr>
          <p:cNvPr id="14" name="Shape 10"/>
          <p:cNvSpPr/>
          <p:nvPr/>
        </p:nvSpPr>
        <p:spPr>
          <a:xfrm>
            <a:off x="8193024" y="1600200"/>
            <a:ext cx="3520440" cy="4160520"/>
          </a:xfrm>
          <a:prstGeom prst="roundRect">
            <a:avLst>
              <a:gd name="adj" fmla="val 2078"/>
            </a:avLst>
          </a:prstGeom>
          <a:solidFill>
            <a:srgbClr val="F5F6FB"/>
          </a:solidFill>
          <a:ln/>
          <a:effectLst>
            <a:outerShdw sx="100000" sy="100000" kx="0" ky="0" algn="bl" rotWithShape="0" blurRad="101600" dist="38100" dir="5400000">
              <a:srgbClr val="12142E">
                <a:alpha val="10000"/>
              </a:srgbClr>
            </a:outerShdw>
          </a:effectLst>
        </p:spPr>
      </p:sp>
      <p:sp>
        <p:nvSpPr>
          <p:cNvPr id="15" name="Shape 11"/>
          <p:cNvSpPr/>
          <p:nvPr/>
        </p:nvSpPr>
        <p:spPr>
          <a:xfrm>
            <a:off x="8449056" y="1856232"/>
            <a:ext cx="621792" cy="621792"/>
          </a:xfrm>
          <a:prstGeom prst="ellipse">
            <a:avLst/>
          </a:prstGeom>
          <a:solidFill>
            <a:srgbClr val="12142E"/>
          </a:solidFill>
          <a:ln/>
        </p:spPr>
      </p:sp>
      <p:pic>
        <p:nvPicPr>
          <p:cNvPr id="16" name="Image 2" descr="/home/claude/agents-deck/icons/sitemap_cyan.png">    </p:cNvPr>
          <p:cNvPicPr>
            <a:picLocks noChangeAspect="1"/>
          </p:cNvPicPr>
          <p:nvPr/>
        </p:nvPicPr>
        <p:blipFill>
          <a:blip r:embed="rId3"/>
          <a:stretch>
            <a:fillRect/>
          </a:stretch>
        </p:blipFill>
        <p:spPr>
          <a:xfrm>
            <a:off x="8610722" y="2017898"/>
            <a:ext cx="298460" cy="298460"/>
          </a:xfrm>
          <a:prstGeom prst="rect">
            <a:avLst/>
          </a:prstGeom>
        </p:spPr>
      </p:pic>
      <p:sp>
        <p:nvSpPr>
          <p:cNvPr id="17" name="Text 12"/>
          <p:cNvSpPr/>
          <p:nvPr/>
        </p:nvSpPr>
        <p:spPr>
          <a:xfrm>
            <a:off x="8449056" y="2606040"/>
            <a:ext cx="3008376" cy="457200"/>
          </a:xfrm>
          <a:prstGeom prst="rect">
            <a:avLst/>
          </a:prstGeom>
          <a:noFill/>
          <a:ln/>
        </p:spPr>
        <p:txBody>
          <a:bodyPr wrap="square" lIns="0" tIns="0" rIns="0" bIns="0" rtlCol="0" anchor="ctr"/>
          <a:lstStyle/>
          <a:p>
            <a:pPr indent="0" marL="0">
              <a:buNone/>
            </a:pPr>
            <a:r>
              <a:rPr lang="en-US" sz="1550" b="1" dirty="0">
                <a:solidFill>
                  <a:srgbClr val="12142E"/>
                </a:solidFill>
                <a:latin typeface="Calibri" pitchFamily="34" charset="0"/>
                <a:ea typeface="Calibri" pitchFamily="34" charset="-122"/>
                <a:cs typeface="Calibri" pitchFamily="34" charset="-120"/>
              </a:rPr>
              <a:t>Tool Routing</a:t>
            </a:r>
            <a:endParaRPr lang="en-US" sz="1550" dirty="0"/>
          </a:p>
        </p:txBody>
      </p:sp>
      <p:sp>
        <p:nvSpPr>
          <p:cNvPr id="18" name="Text 13"/>
          <p:cNvSpPr/>
          <p:nvPr/>
        </p:nvSpPr>
        <p:spPr>
          <a:xfrm>
            <a:off x="8449056" y="3108960"/>
            <a:ext cx="3008376" cy="2468880"/>
          </a:xfrm>
          <a:prstGeom prst="rect">
            <a:avLst/>
          </a:prstGeom>
          <a:noFill/>
          <a:ln/>
        </p:spPr>
        <p:txBody>
          <a:bodyPr wrap="square" lIns="0" tIns="0" rIns="0" bIns="0" rtlCol="0" anchor="ctr"/>
          <a:lstStyle/>
          <a:p>
            <a:pPr indent="0" marL="0">
              <a:lnSpc>
                <a:spcPct val="125000"/>
              </a:lnSpc>
              <a:buNone/>
            </a:pPr>
            <a:r>
              <a:rPr lang="en-US" sz="1150" dirty="0">
                <a:solidFill>
                  <a:srgbClr val="475569"/>
                </a:solidFill>
                <a:latin typeface="Calibri" pitchFamily="34" charset="0"/>
                <a:ea typeface="Calibri" pitchFamily="34" charset="-122"/>
                <a:cs typeface="Calibri" pitchFamily="34" charset="-120"/>
              </a:rPr>
              <a:t>A lightweight router or the model itself selects which subset of tools is relevant before the main reasoning step.</a:t>
            </a:r>
            <a:endParaRPr lang="en-US" sz="1150" dirty="0"/>
          </a:p>
        </p:txBody>
      </p:sp>
      <p:sp>
        <p:nvSpPr>
          <p:cNvPr id="19" name="Text 14"/>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12</a:t>
            </a:r>
            <a:endParaRPr lang="en-US" sz="1000" dirty="0"/>
          </a:p>
        </p:txBody>
      </p:sp>
      <p:sp>
        <p:nvSpPr>
          <p:cNvPr id="20" name="Text 15"/>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TOOL USE</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Tool Design: Good vs. Bad</a:t>
            </a:r>
            <a:endParaRPr lang="en-US" sz="3000" dirty="0"/>
          </a:p>
        </p:txBody>
      </p:sp>
      <p:sp>
        <p:nvSpPr>
          <p:cNvPr id="4" name="Shape 2"/>
          <p:cNvSpPr/>
          <p:nvPr/>
        </p:nvSpPr>
        <p:spPr>
          <a:xfrm>
            <a:off x="640080" y="1554480"/>
            <a:ext cx="5257800" cy="4251960"/>
          </a:xfrm>
          <a:prstGeom prst="roundRect">
            <a:avLst>
              <a:gd name="adj" fmla="val 1720"/>
            </a:avLst>
          </a:prstGeom>
          <a:solidFill>
            <a:srgbClr val="F5F6FB"/>
          </a:solidFill>
          <a:ln/>
          <a:effectLst>
            <a:outerShdw sx="100000" sy="100000" kx="0" ky="0" algn="bl" rotWithShape="0" blurRad="101600" dist="38100" dir="5400000">
              <a:srgbClr val="12142E">
                <a:alpha val="10000"/>
              </a:srgbClr>
            </a:outerShdw>
          </a:effectLst>
        </p:spPr>
      </p:sp>
      <p:sp>
        <p:nvSpPr>
          <p:cNvPr id="5" name="Shape 3"/>
          <p:cNvSpPr/>
          <p:nvPr/>
        </p:nvSpPr>
        <p:spPr>
          <a:xfrm>
            <a:off x="6263640" y="1554480"/>
            <a:ext cx="5257800" cy="4251960"/>
          </a:xfrm>
          <a:prstGeom prst="roundRect">
            <a:avLst>
              <a:gd name="adj" fmla="val 1720"/>
            </a:avLst>
          </a:prstGeom>
          <a:solidFill>
            <a:srgbClr val="12142E"/>
          </a:solidFill>
          <a:ln/>
          <a:effectLst>
            <a:outerShdw sx="100000" sy="100000" kx="0" ky="0" algn="bl" rotWithShape="0" blurRad="101600" dist="38100" dir="5400000">
              <a:srgbClr val="12142E">
                <a:alpha val="10000"/>
              </a:srgbClr>
            </a:outerShdw>
          </a:effectLst>
        </p:spPr>
      </p:sp>
      <p:sp>
        <p:nvSpPr>
          <p:cNvPr id="6" name="Shape 4"/>
          <p:cNvSpPr/>
          <p:nvPr/>
        </p:nvSpPr>
        <p:spPr>
          <a:xfrm>
            <a:off x="914400" y="1828800"/>
            <a:ext cx="502920" cy="502920"/>
          </a:xfrm>
          <a:prstGeom prst="ellipse">
            <a:avLst/>
          </a:prstGeom>
          <a:solidFill>
            <a:srgbClr val="FFFFFF"/>
          </a:solidFill>
          <a:ln/>
        </p:spPr>
      </p:sp>
      <p:pic>
        <p:nvPicPr>
          <p:cNvPr id="7" name="Image 0" descr="/home/claude/agents-deck/icons/warning_navy.png">    </p:cNvPr>
          <p:cNvPicPr>
            <a:picLocks noChangeAspect="1"/>
          </p:cNvPicPr>
          <p:nvPr/>
        </p:nvPicPr>
        <p:blipFill>
          <a:blip r:embed="rId1"/>
          <a:stretch>
            <a:fillRect/>
          </a:stretch>
        </p:blipFill>
        <p:spPr>
          <a:xfrm>
            <a:off x="1045159" y="1959559"/>
            <a:ext cx="241402" cy="241402"/>
          </a:xfrm>
          <a:prstGeom prst="rect">
            <a:avLst/>
          </a:prstGeom>
        </p:spPr>
      </p:pic>
      <p:sp>
        <p:nvSpPr>
          <p:cNvPr id="8" name="Text 5"/>
          <p:cNvSpPr/>
          <p:nvPr/>
        </p:nvSpPr>
        <p:spPr>
          <a:xfrm>
            <a:off x="1554480" y="1847088"/>
            <a:ext cx="3657600" cy="365760"/>
          </a:xfrm>
          <a:prstGeom prst="rect">
            <a:avLst/>
          </a:prstGeom>
          <a:noFill/>
          <a:ln/>
        </p:spPr>
        <p:txBody>
          <a:bodyPr wrap="square" lIns="0" tIns="0" rIns="0" bIns="0" rtlCol="0" anchor="ctr"/>
          <a:lstStyle/>
          <a:p>
            <a:pPr indent="0" marL="0">
              <a:buNone/>
            </a:pPr>
            <a:r>
              <a:rPr lang="en-US" sz="1600" b="1" dirty="0">
                <a:solidFill>
                  <a:srgbClr val="12142E"/>
                </a:solidFill>
                <a:latin typeface="Calibri" pitchFamily="34" charset="0"/>
                <a:ea typeface="Calibri" pitchFamily="34" charset="-122"/>
                <a:cs typeface="Calibri" pitchFamily="34" charset="-120"/>
              </a:rPr>
              <a:t>Common Pitfalls</a:t>
            </a:r>
            <a:endParaRPr lang="en-US" sz="1600" dirty="0"/>
          </a:p>
        </p:txBody>
      </p:sp>
      <p:sp>
        <p:nvSpPr>
          <p:cNvPr id="9" name="Text 6"/>
          <p:cNvSpPr/>
          <p:nvPr/>
        </p:nvSpPr>
        <p:spPr>
          <a:xfrm>
            <a:off x="914400" y="2560320"/>
            <a:ext cx="4709160" cy="292608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475569"/>
                </a:solidFill>
                <a:latin typeface="Calibri" pitchFamily="34" charset="0"/>
                <a:ea typeface="Calibri" pitchFamily="34" charset="-122"/>
                <a:cs typeface="Calibri" pitchFamily="34" charset="-120"/>
              </a:rPr>
              <a:t>Vague descriptions the model has to guess at</a:t>
            </a:r>
            <a:endParaRPr lang="en-US" sz="1250" dirty="0"/>
          </a:p>
          <a:p>
            <a:pPr marL="342900" indent="-342900">
              <a:spcAft>
                <a:spcPts val="1000"/>
              </a:spcAft>
              <a:buSzPct val="100000"/>
              <a:buChar char="•"/>
            </a:pPr>
            <a:r>
              <a:rPr lang="en-US" sz="1250" dirty="0">
                <a:solidFill>
                  <a:srgbClr val="475569"/>
                </a:solidFill>
                <a:latin typeface="Calibri" pitchFamily="34" charset="0"/>
                <a:ea typeface="Calibri" pitchFamily="34" charset="-122"/>
                <a:cs typeface="Calibri" pitchFamily="34" charset="-120"/>
              </a:rPr>
              <a:t>Overlapping tools that do almost the same thing</a:t>
            </a:r>
            <a:endParaRPr lang="en-US" sz="1250" dirty="0"/>
          </a:p>
          <a:p>
            <a:pPr marL="342900" indent="-342900">
              <a:spcAft>
                <a:spcPts val="1000"/>
              </a:spcAft>
              <a:buSzPct val="100000"/>
              <a:buChar char="•"/>
            </a:pPr>
            <a:r>
              <a:rPr lang="en-US" sz="1250" dirty="0">
                <a:solidFill>
                  <a:srgbClr val="475569"/>
                </a:solidFill>
                <a:latin typeface="Calibri" pitchFamily="34" charset="0"/>
                <a:ea typeface="Calibri" pitchFamily="34" charset="-122"/>
                <a:cs typeface="Calibri" pitchFamily="34" charset="-120"/>
              </a:rPr>
              <a:t>Wide, all-purpose tools (e.g. run_sql) with no guardrails</a:t>
            </a:r>
            <a:endParaRPr lang="en-US" sz="1250" dirty="0"/>
          </a:p>
          <a:p>
            <a:pPr marL="342900" indent="-342900">
              <a:spcAft>
                <a:spcPts val="1000"/>
              </a:spcAft>
              <a:buSzPct val="100000"/>
              <a:buChar char="•"/>
            </a:pPr>
            <a:r>
              <a:rPr lang="en-US" sz="1250" dirty="0">
                <a:solidFill>
                  <a:srgbClr val="475569"/>
                </a:solidFill>
                <a:latin typeface="Calibri" pitchFamily="34" charset="0"/>
                <a:ea typeface="Calibri" pitchFamily="34" charset="-122"/>
                <a:cs typeface="Calibri" pitchFamily="34" charset="-120"/>
              </a:rPr>
              <a:t>Silent failures with no structured error returned</a:t>
            </a:r>
            <a:endParaRPr lang="en-US" sz="1250" dirty="0"/>
          </a:p>
        </p:txBody>
      </p:sp>
      <p:sp>
        <p:nvSpPr>
          <p:cNvPr id="10" name="Shape 7"/>
          <p:cNvSpPr/>
          <p:nvPr/>
        </p:nvSpPr>
        <p:spPr>
          <a:xfrm>
            <a:off x="6537960" y="1828800"/>
            <a:ext cx="502920" cy="502920"/>
          </a:xfrm>
          <a:prstGeom prst="ellipse">
            <a:avLst/>
          </a:prstGeom>
          <a:solidFill>
            <a:srgbClr val="1C1F47"/>
          </a:solidFill>
          <a:ln/>
        </p:spPr>
      </p:sp>
      <p:pic>
        <p:nvPicPr>
          <p:cNvPr id="11" name="Image 1" descr="/home/claude/agents-deck/icons/check_cyan.png">    </p:cNvPr>
          <p:cNvPicPr>
            <a:picLocks noChangeAspect="1"/>
          </p:cNvPicPr>
          <p:nvPr/>
        </p:nvPicPr>
        <p:blipFill>
          <a:blip r:embed="rId2"/>
          <a:stretch>
            <a:fillRect/>
          </a:stretch>
        </p:blipFill>
        <p:spPr>
          <a:xfrm>
            <a:off x="6668719" y="1959559"/>
            <a:ext cx="241402" cy="241402"/>
          </a:xfrm>
          <a:prstGeom prst="rect">
            <a:avLst/>
          </a:prstGeom>
        </p:spPr>
      </p:pic>
      <p:sp>
        <p:nvSpPr>
          <p:cNvPr id="12" name="Text 8"/>
          <p:cNvSpPr/>
          <p:nvPr/>
        </p:nvSpPr>
        <p:spPr>
          <a:xfrm>
            <a:off x="7178040" y="1847088"/>
            <a:ext cx="36576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Good Practice</a:t>
            </a:r>
            <a:endParaRPr lang="en-US" sz="1600" dirty="0"/>
          </a:p>
        </p:txBody>
      </p:sp>
      <p:sp>
        <p:nvSpPr>
          <p:cNvPr id="13" name="Text 9"/>
          <p:cNvSpPr/>
          <p:nvPr/>
        </p:nvSpPr>
        <p:spPr>
          <a:xfrm>
            <a:off x="6537960" y="2560320"/>
            <a:ext cx="4709160" cy="292608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C7C9E6"/>
                </a:solidFill>
                <a:latin typeface="Calibri" pitchFamily="34" charset="0"/>
                <a:ea typeface="Calibri" pitchFamily="34" charset="-122"/>
                <a:cs typeface="Calibri" pitchFamily="34" charset="-120"/>
              </a:rPr>
              <a:t>Narrow, single-purpose tools with clear names</a:t>
            </a:r>
            <a:endParaRPr lang="en-US" sz="1250" dirty="0"/>
          </a:p>
          <a:p>
            <a:pPr marL="342900" indent="-342900">
              <a:spcAft>
                <a:spcPts val="1000"/>
              </a:spcAft>
              <a:buSzPct val="100000"/>
              <a:buChar char="•"/>
            </a:pPr>
            <a:r>
              <a:rPr lang="en-US" sz="1250" dirty="0">
                <a:solidFill>
                  <a:srgbClr val="C7C9E6"/>
                </a:solidFill>
                <a:latin typeface="Calibri" pitchFamily="34" charset="0"/>
                <a:ea typeface="Calibri" pitchFamily="34" charset="-122"/>
                <a:cs typeface="Calibri" pitchFamily="34" charset="-120"/>
              </a:rPr>
              <a:t>Descriptions written for the model, with examples</a:t>
            </a:r>
            <a:endParaRPr lang="en-US" sz="1250" dirty="0"/>
          </a:p>
          <a:p>
            <a:pPr marL="342900" indent="-342900">
              <a:spcAft>
                <a:spcPts val="1000"/>
              </a:spcAft>
              <a:buSzPct val="100000"/>
              <a:buChar char="•"/>
            </a:pPr>
            <a:r>
              <a:rPr lang="en-US" sz="1250" dirty="0">
                <a:solidFill>
                  <a:srgbClr val="C7C9E6"/>
                </a:solidFill>
                <a:latin typeface="Calibri" pitchFamily="34" charset="0"/>
                <a:ea typeface="Calibri" pitchFamily="34" charset="-122"/>
                <a:cs typeface="Calibri" pitchFamily="34" charset="-120"/>
              </a:rPr>
              <a:t>Explicit, typed parameters — avoid free-text where possible</a:t>
            </a:r>
            <a:endParaRPr lang="en-US" sz="1250" dirty="0"/>
          </a:p>
          <a:p>
            <a:pPr marL="342900" indent="-342900">
              <a:spcAft>
                <a:spcPts val="1000"/>
              </a:spcAft>
              <a:buSzPct val="100000"/>
              <a:buChar char="•"/>
            </a:pPr>
            <a:r>
              <a:rPr lang="en-US" sz="1250" dirty="0">
                <a:solidFill>
                  <a:srgbClr val="C7C9E6"/>
                </a:solidFill>
                <a:latin typeface="Calibri" pitchFamily="34" charset="0"/>
                <a:ea typeface="Calibri" pitchFamily="34" charset="-122"/>
                <a:cs typeface="Calibri" pitchFamily="34" charset="-120"/>
              </a:rPr>
              <a:t>Structured errors the model can reason about and retry</a:t>
            </a:r>
            <a:endParaRPr lang="en-US" sz="1250" dirty="0"/>
          </a:p>
        </p:txBody>
      </p:sp>
      <p:sp>
        <p:nvSpPr>
          <p:cNvPr id="14" name="Text 10"/>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13</a:t>
            </a:r>
            <a:endParaRPr lang="en-US" sz="1000" dirty="0"/>
          </a:p>
        </p:txBody>
      </p:sp>
      <p:sp>
        <p:nvSpPr>
          <p:cNvPr id="15" name="Text 11"/>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42E"/>
        </a:solidFill>
      </p:bgPr>
    </p:bg>
    <p:spTree>
      <p:nvGrpSpPr>
        <p:cNvPr id="1" name=""/>
        <p:cNvGrpSpPr/>
        <p:nvPr/>
      </p:nvGrpSpPr>
      <p:grpSpPr>
        <a:xfrm>
          <a:off x="0" y="0"/>
          <a:ext cx="0" cy="0"/>
          <a:chOff x="0" y="0"/>
          <a:chExt cx="0" cy="0"/>
        </a:xfrm>
      </p:grpSpPr>
      <p:sp>
        <p:nvSpPr>
          <p:cNvPr id="2" name="Shape 0"/>
          <p:cNvSpPr/>
          <p:nvPr/>
        </p:nvSpPr>
        <p:spPr>
          <a:xfrm>
            <a:off x="914400" y="914400"/>
            <a:ext cx="54864" cy="54864"/>
          </a:xfrm>
          <a:prstGeom prst="ellipse">
            <a:avLst/>
          </a:prstGeom>
          <a:solidFill>
            <a:srgbClr val="2A2D5C"/>
          </a:solidFill>
          <a:ln/>
        </p:spPr>
      </p:sp>
      <p:sp>
        <p:nvSpPr>
          <p:cNvPr id="3" name="Shape 1"/>
          <p:cNvSpPr/>
          <p:nvPr/>
        </p:nvSpPr>
        <p:spPr>
          <a:xfrm>
            <a:off x="1463040" y="2194560"/>
            <a:ext cx="54864" cy="54864"/>
          </a:xfrm>
          <a:prstGeom prst="ellipse">
            <a:avLst/>
          </a:prstGeom>
          <a:solidFill>
            <a:srgbClr val="2A2D5C"/>
          </a:solidFill>
          <a:ln/>
        </p:spPr>
      </p:sp>
      <p:sp>
        <p:nvSpPr>
          <p:cNvPr id="4" name="Shape 2"/>
          <p:cNvSpPr/>
          <p:nvPr/>
        </p:nvSpPr>
        <p:spPr>
          <a:xfrm>
            <a:off x="731520" y="3840480"/>
            <a:ext cx="54864" cy="54864"/>
          </a:xfrm>
          <a:prstGeom prst="ellipse">
            <a:avLst/>
          </a:prstGeom>
          <a:solidFill>
            <a:srgbClr val="2A2D5C"/>
          </a:solidFill>
          <a:ln/>
        </p:spPr>
      </p:sp>
      <p:sp>
        <p:nvSpPr>
          <p:cNvPr id="5" name="Shape 3"/>
          <p:cNvSpPr/>
          <p:nvPr/>
        </p:nvSpPr>
        <p:spPr>
          <a:xfrm>
            <a:off x="1737360" y="5120640"/>
            <a:ext cx="54864" cy="54864"/>
          </a:xfrm>
          <a:prstGeom prst="ellipse">
            <a:avLst/>
          </a:prstGeom>
          <a:solidFill>
            <a:srgbClr val="2A2D5C"/>
          </a:solidFill>
          <a:ln/>
        </p:spPr>
      </p:sp>
      <p:sp>
        <p:nvSpPr>
          <p:cNvPr id="6" name="Shape 4"/>
          <p:cNvSpPr/>
          <p:nvPr/>
        </p:nvSpPr>
        <p:spPr>
          <a:xfrm>
            <a:off x="2377440" y="1463040"/>
            <a:ext cx="54864" cy="54864"/>
          </a:xfrm>
          <a:prstGeom prst="ellipse">
            <a:avLst/>
          </a:prstGeom>
          <a:solidFill>
            <a:srgbClr val="2A2D5C"/>
          </a:solidFill>
          <a:ln/>
        </p:spPr>
      </p:sp>
      <p:sp>
        <p:nvSpPr>
          <p:cNvPr id="7" name="Shape 5"/>
          <p:cNvSpPr/>
          <p:nvPr/>
        </p:nvSpPr>
        <p:spPr>
          <a:xfrm>
            <a:off x="10789920" y="1097280"/>
            <a:ext cx="54864" cy="54864"/>
          </a:xfrm>
          <a:prstGeom prst="ellipse">
            <a:avLst/>
          </a:prstGeom>
          <a:solidFill>
            <a:srgbClr val="2A2D5C"/>
          </a:solidFill>
          <a:ln/>
        </p:spPr>
      </p:sp>
      <p:sp>
        <p:nvSpPr>
          <p:cNvPr id="8" name="Shape 6"/>
          <p:cNvSpPr/>
          <p:nvPr/>
        </p:nvSpPr>
        <p:spPr>
          <a:xfrm>
            <a:off x="11338560" y="2743200"/>
            <a:ext cx="54864" cy="54864"/>
          </a:xfrm>
          <a:prstGeom prst="ellipse">
            <a:avLst/>
          </a:prstGeom>
          <a:solidFill>
            <a:srgbClr val="2A2D5C"/>
          </a:solidFill>
          <a:ln/>
        </p:spPr>
      </p:sp>
      <p:sp>
        <p:nvSpPr>
          <p:cNvPr id="9" name="Shape 7"/>
          <p:cNvSpPr/>
          <p:nvPr/>
        </p:nvSpPr>
        <p:spPr>
          <a:xfrm>
            <a:off x="10515600" y="4572000"/>
            <a:ext cx="54864" cy="54864"/>
          </a:xfrm>
          <a:prstGeom prst="ellipse">
            <a:avLst/>
          </a:prstGeom>
          <a:solidFill>
            <a:srgbClr val="2A2D5C"/>
          </a:solidFill>
          <a:ln/>
        </p:spPr>
      </p:sp>
      <p:sp>
        <p:nvSpPr>
          <p:cNvPr id="10" name="Shape 8"/>
          <p:cNvSpPr/>
          <p:nvPr/>
        </p:nvSpPr>
        <p:spPr>
          <a:xfrm>
            <a:off x="11521440" y="5577840"/>
            <a:ext cx="54864" cy="54864"/>
          </a:xfrm>
          <a:prstGeom prst="ellipse">
            <a:avLst/>
          </a:prstGeom>
          <a:solidFill>
            <a:srgbClr val="2A2D5C"/>
          </a:solidFill>
          <a:ln/>
        </p:spPr>
      </p:sp>
      <p:sp>
        <p:nvSpPr>
          <p:cNvPr id="11" name="Shape 9"/>
          <p:cNvSpPr/>
          <p:nvPr/>
        </p:nvSpPr>
        <p:spPr>
          <a:xfrm>
            <a:off x="9966960" y="2011680"/>
            <a:ext cx="54864" cy="54864"/>
          </a:xfrm>
          <a:prstGeom prst="ellipse">
            <a:avLst/>
          </a:prstGeom>
          <a:solidFill>
            <a:srgbClr val="2A2D5C"/>
          </a:solidFill>
          <a:ln/>
        </p:spPr>
      </p:sp>
      <p:sp>
        <p:nvSpPr>
          <p:cNvPr id="12" name="Text 10"/>
          <p:cNvSpPr/>
          <p:nvPr/>
        </p:nvSpPr>
        <p:spPr>
          <a:xfrm>
            <a:off x="914400" y="2331720"/>
            <a:ext cx="5486400" cy="365760"/>
          </a:xfrm>
          <a:prstGeom prst="rect">
            <a:avLst/>
          </a:prstGeom>
          <a:noFill/>
          <a:ln/>
        </p:spPr>
        <p:txBody>
          <a:bodyPr wrap="square" lIns="0" tIns="0" rIns="0" bIns="0" rtlCol="0" anchor="ctr"/>
          <a:lstStyle/>
          <a:p>
            <a:pPr indent="0" marL="0">
              <a:buNone/>
            </a:pPr>
            <a:r>
              <a:rPr lang="en-US" sz="1300" b="1" spc="300" kern="0" dirty="0">
                <a:solidFill>
                  <a:srgbClr val="22D3EE"/>
                </a:solidFill>
                <a:latin typeface="Calibri" pitchFamily="34" charset="0"/>
                <a:ea typeface="Calibri" pitchFamily="34" charset="-122"/>
                <a:cs typeface="Calibri" pitchFamily="34" charset="-120"/>
              </a:rPr>
              <a:t>SECTION 4 / 7</a:t>
            </a:r>
            <a:endParaRPr lang="en-US" sz="1300" dirty="0"/>
          </a:p>
        </p:txBody>
      </p:sp>
      <p:sp>
        <p:nvSpPr>
          <p:cNvPr id="13" name="Shape 11"/>
          <p:cNvSpPr/>
          <p:nvPr/>
        </p:nvSpPr>
        <p:spPr>
          <a:xfrm>
            <a:off x="9692640" y="2148840"/>
            <a:ext cx="1234440" cy="1234440"/>
          </a:xfrm>
          <a:prstGeom prst="ellipse">
            <a:avLst/>
          </a:prstGeom>
          <a:solidFill>
            <a:srgbClr val="1C1F47"/>
          </a:solidFill>
          <a:ln/>
        </p:spPr>
      </p:sp>
      <p:pic>
        <p:nvPicPr>
          <p:cNvPr id="14" name="Image 0" descr="/home/claude/agents-deck/icons/sitemap_cyan.png">    </p:cNvPr>
          <p:cNvPicPr>
            <a:picLocks noChangeAspect="1"/>
          </p:cNvPicPr>
          <p:nvPr/>
        </p:nvPicPr>
        <p:blipFill>
          <a:blip r:embed="rId1"/>
          <a:stretch>
            <a:fillRect/>
          </a:stretch>
        </p:blipFill>
        <p:spPr>
          <a:xfrm>
            <a:off x="10013594" y="2469794"/>
            <a:ext cx="592531" cy="592531"/>
          </a:xfrm>
          <a:prstGeom prst="rect">
            <a:avLst/>
          </a:prstGeom>
        </p:spPr>
      </p:pic>
      <p:sp>
        <p:nvSpPr>
          <p:cNvPr id="15" name="Text 12"/>
          <p:cNvSpPr/>
          <p:nvPr/>
        </p:nvSpPr>
        <p:spPr>
          <a:xfrm>
            <a:off x="914400" y="2697480"/>
            <a:ext cx="841248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Agent Frameworks</a:t>
            </a:r>
            <a:endParaRPr lang="en-US" sz="4400" dirty="0"/>
          </a:p>
        </p:txBody>
      </p:sp>
      <p:sp>
        <p:nvSpPr>
          <p:cNvPr id="16" name="Text 13"/>
          <p:cNvSpPr/>
          <p:nvPr/>
        </p:nvSpPr>
        <p:spPr>
          <a:xfrm>
            <a:off x="914400" y="3794760"/>
            <a:ext cx="7863840" cy="731520"/>
          </a:xfrm>
          <a:prstGeom prst="rect">
            <a:avLst/>
          </a:prstGeom>
          <a:noFill/>
          <a:ln/>
        </p:spPr>
        <p:txBody>
          <a:bodyPr wrap="square" lIns="0" tIns="0" rIns="0" bIns="0" rtlCol="0" anchor="ctr"/>
          <a:lstStyle/>
          <a:p>
            <a:pPr indent="0" marL="0">
              <a:buNone/>
            </a:pPr>
            <a:r>
              <a:rPr lang="en-US" sz="1600" dirty="0">
                <a:solidFill>
                  <a:srgbClr val="8B90B3"/>
                </a:solidFill>
                <a:latin typeface="Calibri" pitchFamily="34" charset="0"/>
                <a:ea typeface="Calibri" pitchFamily="34" charset="-122"/>
                <a:cs typeface="Calibri" pitchFamily="34" charset="-120"/>
              </a:rPr>
              <a:t>Scaffolding for building agents so you don't hand-roll the loop every time.</a:t>
            </a:r>
            <a:endParaRPr lang="en-US" sz="1600" dirty="0"/>
          </a:p>
        </p:txBody>
      </p:sp>
      <p:sp>
        <p:nvSpPr>
          <p:cNvPr id="17" name="Text 14"/>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5A5E8C"/>
                </a:solidFill>
                <a:latin typeface="Calibri" pitchFamily="34" charset="0"/>
                <a:ea typeface="Calibri" pitchFamily="34" charset="-122"/>
                <a:cs typeface="Calibri" pitchFamily="34" charset="-120"/>
              </a:rPr>
              <a:t>14</a:t>
            </a:r>
            <a:endParaRPr lang="en-US" sz="1000" dirty="0"/>
          </a:p>
        </p:txBody>
      </p:sp>
      <p:sp>
        <p:nvSpPr>
          <p:cNvPr id="18" name="Text 15"/>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4A4E7A"/>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AGENT FRAMEWORKS</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The Landscape</a:t>
            </a:r>
            <a:endParaRPr lang="en-US" sz="3000" dirty="0"/>
          </a:p>
        </p:txBody>
      </p:sp>
      <p:sp>
        <p:nvSpPr>
          <p:cNvPr id="4" name="Shape 2"/>
          <p:cNvSpPr/>
          <p:nvPr/>
        </p:nvSpPr>
        <p:spPr>
          <a:xfrm>
            <a:off x="640080" y="1600200"/>
            <a:ext cx="3520440" cy="1920240"/>
          </a:xfrm>
          <a:prstGeom prst="roundRect">
            <a:avLst>
              <a:gd name="adj" fmla="val 3810"/>
            </a:avLst>
          </a:prstGeom>
          <a:solidFill>
            <a:srgbClr val="F5F6FB"/>
          </a:solidFill>
          <a:ln/>
          <a:effectLst>
            <a:outerShdw sx="100000" sy="100000" kx="0" ky="0" algn="bl" rotWithShape="0" blurRad="101600" dist="38100" dir="5400000">
              <a:srgbClr val="12142E">
                <a:alpha val="10000"/>
              </a:srgbClr>
            </a:outerShdw>
          </a:effectLst>
        </p:spPr>
      </p:sp>
      <p:sp>
        <p:nvSpPr>
          <p:cNvPr id="5" name="Shape 3"/>
          <p:cNvSpPr/>
          <p:nvPr/>
        </p:nvSpPr>
        <p:spPr>
          <a:xfrm>
            <a:off x="896112" y="1856232"/>
            <a:ext cx="566928" cy="566928"/>
          </a:xfrm>
          <a:prstGeom prst="ellipse">
            <a:avLst/>
          </a:prstGeom>
          <a:solidFill>
            <a:srgbClr val="12142E"/>
          </a:solidFill>
          <a:ln/>
        </p:spPr>
      </p:sp>
      <p:pic>
        <p:nvPicPr>
          <p:cNvPr id="6" name="Image 0" descr="/home/claude/agents-deck/icons/network_cyan.png">    </p:cNvPr>
          <p:cNvPicPr>
            <a:picLocks noChangeAspect="1"/>
          </p:cNvPicPr>
          <p:nvPr/>
        </p:nvPicPr>
        <p:blipFill>
          <a:blip r:embed="rId1"/>
          <a:stretch>
            <a:fillRect/>
          </a:stretch>
        </p:blipFill>
        <p:spPr>
          <a:xfrm>
            <a:off x="1043513" y="2003633"/>
            <a:ext cx="272125" cy="272125"/>
          </a:xfrm>
          <a:prstGeom prst="rect">
            <a:avLst/>
          </a:prstGeom>
        </p:spPr>
      </p:pic>
      <p:sp>
        <p:nvSpPr>
          <p:cNvPr id="7" name="Text 4"/>
          <p:cNvSpPr/>
          <p:nvPr/>
        </p:nvSpPr>
        <p:spPr>
          <a:xfrm>
            <a:off x="896112" y="2560320"/>
            <a:ext cx="3008376" cy="365760"/>
          </a:xfrm>
          <a:prstGeom prst="rect">
            <a:avLst/>
          </a:prstGeom>
          <a:noFill/>
          <a:ln/>
        </p:spPr>
        <p:txBody>
          <a:bodyPr wrap="square" lIns="0" tIns="0" rIns="0" bIns="0" rtlCol="0" anchor="ctr"/>
          <a:lstStyle/>
          <a:p>
            <a:pPr indent="0" marL="0">
              <a:buNone/>
            </a:pPr>
            <a:r>
              <a:rPr lang="en-US" sz="1500" b="1" dirty="0">
                <a:solidFill>
                  <a:srgbClr val="12142E"/>
                </a:solidFill>
                <a:latin typeface="Calibri" pitchFamily="34" charset="0"/>
                <a:ea typeface="Calibri" pitchFamily="34" charset="-122"/>
                <a:cs typeface="Calibri" pitchFamily="34" charset="-120"/>
              </a:rPr>
              <a:t>LangGraph</a:t>
            </a:r>
            <a:endParaRPr lang="en-US" sz="1500" dirty="0"/>
          </a:p>
        </p:txBody>
      </p:sp>
      <p:sp>
        <p:nvSpPr>
          <p:cNvPr id="8" name="Text 5"/>
          <p:cNvSpPr/>
          <p:nvPr/>
        </p:nvSpPr>
        <p:spPr>
          <a:xfrm>
            <a:off x="896112" y="2898648"/>
            <a:ext cx="3008376" cy="548640"/>
          </a:xfrm>
          <a:prstGeom prst="rect">
            <a:avLst/>
          </a:prstGeom>
          <a:noFill/>
          <a:ln/>
        </p:spPr>
        <p:txBody>
          <a:bodyPr wrap="square" lIns="0" tIns="0" rIns="0" bIns="0" rtlCol="0" anchor="ctr"/>
          <a:lstStyle/>
          <a:p>
            <a:pPr indent="0" marL="0">
              <a:lnSpc>
                <a:spcPct val="115000"/>
              </a:lnSpc>
              <a:buNone/>
            </a:pPr>
            <a:r>
              <a:rPr lang="en-US" sz="1050" dirty="0">
                <a:solidFill>
                  <a:srgbClr val="475569"/>
                </a:solidFill>
                <a:latin typeface="Calibri" pitchFamily="34" charset="0"/>
                <a:ea typeface="Calibri" pitchFamily="34" charset="-122"/>
                <a:cs typeface="Calibri" pitchFamily="34" charset="-120"/>
              </a:rPr>
              <a:t>Graph-based state machines for multi-step, multi-agent flows</a:t>
            </a:r>
            <a:endParaRPr lang="en-US" sz="1050" dirty="0"/>
          </a:p>
        </p:txBody>
      </p:sp>
      <p:sp>
        <p:nvSpPr>
          <p:cNvPr id="9" name="Shape 6"/>
          <p:cNvSpPr/>
          <p:nvPr/>
        </p:nvSpPr>
        <p:spPr>
          <a:xfrm>
            <a:off x="4416552" y="1600200"/>
            <a:ext cx="3520440" cy="1920240"/>
          </a:xfrm>
          <a:prstGeom prst="roundRect">
            <a:avLst>
              <a:gd name="adj" fmla="val 3810"/>
            </a:avLst>
          </a:prstGeom>
          <a:solidFill>
            <a:srgbClr val="F5F6FB"/>
          </a:solidFill>
          <a:ln/>
          <a:effectLst>
            <a:outerShdw sx="100000" sy="100000" kx="0" ky="0" algn="bl" rotWithShape="0" blurRad="101600" dist="38100" dir="5400000">
              <a:srgbClr val="12142E">
                <a:alpha val="10000"/>
              </a:srgbClr>
            </a:outerShdw>
          </a:effectLst>
        </p:spPr>
      </p:sp>
      <p:sp>
        <p:nvSpPr>
          <p:cNvPr id="10" name="Shape 7"/>
          <p:cNvSpPr/>
          <p:nvPr/>
        </p:nvSpPr>
        <p:spPr>
          <a:xfrm>
            <a:off x="4672584" y="1856232"/>
            <a:ext cx="566928" cy="566928"/>
          </a:xfrm>
          <a:prstGeom prst="ellipse">
            <a:avLst/>
          </a:prstGeom>
          <a:solidFill>
            <a:srgbClr val="12142E"/>
          </a:solidFill>
          <a:ln/>
        </p:spPr>
      </p:sp>
      <p:pic>
        <p:nvPicPr>
          <p:cNvPr id="11" name="Image 1" descr="/home/claude/agents-deck/icons/users_cyan.png">    </p:cNvPr>
          <p:cNvPicPr>
            <a:picLocks noChangeAspect="1"/>
          </p:cNvPicPr>
          <p:nvPr/>
        </p:nvPicPr>
        <p:blipFill>
          <a:blip r:embed="rId2"/>
          <a:stretch>
            <a:fillRect/>
          </a:stretch>
        </p:blipFill>
        <p:spPr>
          <a:xfrm>
            <a:off x="4819985" y="2003633"/>
            <a:ext cx="272125" cy="272125"/>
          </a:xfrm>
          <a:prstGeom prst="rect">
            <a:avLst/>
          </a:prstGeom>
        </p:spPr>
      </p:pic>
      <p:sp>
        <p:nvSpPr>
          <p:cNvPr id="12" name="Text 8"/>
          <p:cNvSpPr/>
          <p:nvPr/>
        </p:nvSpPr>
        <p:spPr>
          <a:xfrm>
            <a:off x="4672584" y="2560320"/>
            <a:ext cx="3008376" cy="365760"/>
          </a:xfrm>
          <a:prstGeom prst="rect">
            <a:avLst/>
          </a:prstGeom>
          <a:noFill/>
          <a:ln/>
        </p:spPr>
        <p:txBody>
          <a:bodyPr wrap="square" lIns="0" tIns="0" rIns="0" bIns="0" rtlCol="0" anchor="ctr"/>
          <a:lstStyle/>
          <a:p>
            <a:pPr indent="0" marL="0">
              <a:buNone/>
            </a:pPr>
            <a:r>
              <a:rPr lang="en-US" sz="1500" b="1" dirty="0">
                <a:solidFill>
                  <a:srgbClr val="12142E"/>
                </a:solidFill>
                <a:latin typeface="Calibri" pitchFamily="34" charset="0"/>
                <a:ea typeface="Calibri" pitchFamily="34" charset="-122"/>
                <a:cs typeface="Calibri" pitchFamily="34" charset="-120"/>
              </a:rPr>
              <a:t>CrewAI</a:t>
            </a:r>
            <a:endParaRPr lang="en-US" sz="1500" dirty="0"/>
          </a:p>
        </p:txBody>
      </p:sp>
      <p:sp>
        <p:nvSpPr>
          <p:cNvPr id="13" name="Text 9"/>
          <p:cNvSpPr/>
          <p:nvPr/>
        </p:nvSpPr>
        <p:spPr>
          <a:xfrm>
            <a:off x="4672584" y="2898648"/>
            <a:ext cx="3008376" cy="548640"/>
          </a:xfrm>
          <a:prstGeom prst="rect">
            <a:avLst/>
          </a:prstGeom>
          <a:noFill/>
          <a:ln/>
        </p:spPr>
        <p:txBody>
          <a:bodyPr wrap="square" lIns="0" tIns="0" rIns="0" bIns="0" rtlCol="0" anchor="ctr"/>
          <a:lstStyle/>
          <a:p>
            <a:pPr indent="0" marL="0">
              <a:lnSpc>
                <a:spcPct val="115000"/>
              </a:lnSpc>
              <a:buNone/>
            </a:pPr>
            <a:r>
              <a:rPr lang="en-US" sz="1050" dirty="0">
                <a:solidFill>
                  <a:srgbClr val="475569"/>
                </a:solidFill>
                <a:latin typeface="Calibri" pitchFamily="34" charset="0"/>
                <a:ea typeface="Calibri" pitchFamily="34" charset="-122"/>
                <a:cs typeface="Calibri" pitchFamily="34" charset="-120"/>
              </a:rPr>
              <a:t>Role-based multi-agent teams with defined responsibilities</a:t>
            </a:r>
            <a:endParaRPr lang="en-US" sz="1050" dirty="0"/>
          </a:p>
        </p:txBody>
      </p:sp>
      <p:sp>
        <p:nvSpPr>
          <p:cNvPr id="14" name="Shape 10"/>
          <p:cNvSpPr/>
          <p:nvPr/>
        </p:nvSpPr>
        <p:spPr>
          <a:xfrm>
            <a:off x="8193024" y="1600200"/>
            <a:ext cx="3520440" cy="1920240"/>
          </a:xfrm>
          <a:prstGeom prst="roundRect">
            <a:avLst>
              <a:gd name="adj" fmla="val 3810"/>
            </a:avLst>
          </a:prstGeom>
          <a:solidFill>
            <a:srgbClr val="F5F6FB"/>
          </a:solidFill>
          <a:ln/>
          <a:effectLst>
            <a:outerShdw sx="100000" sy="100000" kx="0" ky="0" algn="bl" rotWithShape="0" blurRad="101600" dist="38100" dir="5400000">
              <a:srgbClr val="12142E">
                <a:alpha val="10000"/>
              </a:srgbClr>
            </a:outerShdw>
          </a:effectLst>
        </p:spPr>
      </p:sp>
      <p:sp>
        <p:nvSpPr>
          <p:cNvPr id="15" name="Shape 11"/>
          <p:cNvSpPr/>
          <p:nvPr/>
        </p:nvSpPr>
        <p:spPr>
          <a:xfrm>
            <a:off x="8449056" y="1856232"/>
            <a:ext cx="566928" cy="566928"/>
          </a:xfrm>
          <a:prstGeom prst="ellipse">
            <a:avLst/>
          </a:prstGeom>
          <a:solidFill>
            <a:srgbClr val="12142E"/>
          </a:solidFill>
          <a:ln/>
        </p:spPr>
      </p:sp>
      <p:pic>
        <p:nvPicPr>
          <p:cNvPr id="16" name="Image 2" descr="/home/claude/agents-deck/icons/comments_cyan.png">    </p:cNvPr>
          <p:cNvPicPr>
            <a:picLocks noChangeAspect="1"/>
          </p:cNvPicPr>
          <p:nvPr/>
        </p:nvPicPr>
        <p:blipFill>
          <a:blip r:embed="rId3"/>
          <a:stretch>
            <a:fillRect/>
          </a:stretch>
        </p:blipFill>
        <p:spPr>
          <a:xfrm>
            <a:off x="8596457" y="2003633"/>
            <a:ext cx="272125" cy="272125"/>
          </a:xfrm>
          <a:prstGeom prst="rect">
            <a:avLst/>
          </a:prstGeom>
        </p:spPr>
      </p:pic>
      <p:sp>
        <p:nvSpPr>
          <p:cNvPr id="17" name="Text 12"/>
          <p:cNvSpPr/>
          <p:nvPr/>
        </p:nvSpPr>
        <p:spPr>
          <a:xfrm>
            <a:off x="8449056" y="2560320"/>
            <a:ext cx="3008376" cy="365760"/>
          </a:xfrm>
          <a:prstGeom prst="rect">
            <a:avLst/>
          </a:prstGeom>
          <a:noFill/>
          <a:ln/>
        </p:spPr>
        <p:txBody>
          <a:bodyPr wrap="square" lIns="0" tIns="0" rIns="0" bIns="0" rtlCol="0" anchor="ctr"/>
          <a:lstStyle/>
          <a:p>
            <a:pPr indent="0" marL="0">
              <a:buNone/>
            </a:pPr>
            <a:r>
              <a:rPr lang="en-US" sz="1500" b="1" dirty="0">
                <a:solidFill>
                  <a:srgbClr val="12142E"/>
                </a:solidFill>
                <a:latin typeface="Calibri" pitchFamily="34" charset="0"/>
                <a:ea typeface="Calibri" pitchFamily="34" charset="-122"/>
                <a:cs typeface="Calibri" pitchFamily="34" charset="-120"/>
              </a:rPr>
              <a:t>AutoGen</a:t>
            </a:r>
            <a:endParaRPr lang="en-US" sz="1500" dirty="0"/>
          </a:p>
        </p:txBody>
      </p:sp>
      <p:sp>
        <p:nvSpPr>
          <p:cNvPr id="18" name="Text 13"/>
          <p:cNvSpPr/>
          <p:nvPr/>
        </p:nvSpPr>
        <p:spPr>
          <a:xfrm>
            <a:off x="8449056" y="2898648"/>
            <a:ext cx="3008376" cy="548640"/>
          </a:xfrm>
          <a:prstGeom prst="rect">
            <a:avLst/>
          </a:prstGeom>
          <a:noFill/>
          <a:ln/>
        </p:spPr>
        <p:txBody>
          <a:bodyPr wrap="square" lIns="0" tIns="0" rIns="0" bIns="0" rtlCol="0" anchor="ctr"/>
          <a:lstStyle/>
          <a:p>
            <a:pPr indent="0" marL="0">
              <a:lnSpc>
                <a:spcPct val="115000"/>
              </a:lnSpc>
              <a:buNone/>
            </a:pPr>
            <a:r>
              <a:rPr lang="en-US" sz="1050" dirty="0">
                <a:solidFill>
                  <a:srgbClr val="475569"/>
                </a:solidFill>
                <a:latin typeface="Calibri" pitchFamily="34" charset="0"/>
                <a:ea typeface="Calibri" pitchFamily="34" charset="-122"/>
                <a:cs typeface="Calibri" pitchFamily="34" charset="-120"/>
              </a:rPr>
              <a:t>Conversational multi-agent orchestration from Microsoft</a:t>
            </a:r>
            <a:endParaRPr lang="en-US" sz="1050" dirty="0"/>
          </a:p>
        </p:txBody>
      </p:sp>
      <p:sp>
        <p:nvSpPr>
          <p:cNvPr id="19" name="Shape 14"/>
          <p:cNvSpPr/>
          <p:nvPr/>
        </p:nvSpPr>
        <p:spPr>
          <a:xfrm>
            <a:off x="640080" y="3721608"/>
            <a:ext cx="3520440" cy="1920240"/>
          </a:xfrm>
          <a:prstGeom prst="roundRect">
            <a:avLst>
              <a:gd name="adj" fmla="val 3810"/>
            </a:avLst>
          </a:prstGeom>
          <a:solidFill>
            <a:srgbClr val="F5F6FB"/>
          </a:solidFill>
          <a:ln/>
          <a:effectLst>
            <a:outerShdw sx="100000" sy="100000" kx="0" ky="0" algn="bl" rotWithShape="0" blurRad="101600" dist="38100" dir="5400000">
              <a:srgbClr val="12142E">
                <a:alpha val="10000"/>
              </a:srgbClr>
            </a:outerShdw>
          </a:effectLst>
        </p:spPr>
      </p:sp>
      <p:sp>
        <p:nvSpPr>
          <p:cNvPr id="20" name="Shape 15"/>
          <p:cNvSpPr/>
          <p:nvPr/>
        </p:nvSpPr>
        <p:spPr>
          <a:xfrm>
            <a:off x="896112" y="3977640"/>
            <a:ext cx="566928" cy="566928"/>
          </a:xfrm>
          <a:prstGeom prst="ellipse">
            <a:avLst/>
          </a:prstGeom>
          <a:solidFill>
            <a:srgbClr val="12142E"/>
          </a:solidFill>
          <a:ln/>
        </p:spPr>
      </p:sp>
      <p:pic>
        <p:nvPicPr>
          <p:cNvPr id="21" name="Image 3" descr="/home/claude/agents-deck/icons/puzzle_cyan.png">    </p:cNvPr>
          <p:cNvPicPr>
            <a:picLocks noChangeAspect="1"/>
          </p:cNvPicPr>
          <p:nvPr/>
        </p:nvPicPr>
        <p:blipFill>
          <a:blip r:embed="rId4"/>
          <a:stretch>
            <a:fillRect/>
          </a:stretch>
        </p:blipFill>
        <p:spPr>
          <a:xfrm>
            <a:off x="1043513" y="4125041"/>
            <a:ext cx="272125" cy="272125"/>
          </a:xfrm>
          <a:prstGeom prst="rect">
            <a:avLst/>
          </a:prstGeom>
        </p:spPr>
      </p:pic>
      <p:sp>
        <p:nvSpPr>
          <p:cNvPr id="22" name="Text 16"/>
          <p:cNvSpPr/>
          <p:nvPr/>
        </p:nvSpPr>
        <p:spPr>
          <a:xfrm>
            <a:off x="896112" y="4681728"/>
            <a:ext cx="3008376" cy="365760"/>
          </a:xfrm>
          <a:prstGeom prst="rect">
            <a:avLst/>
          </a:prstGeom>
          <a:noFill/>
          <a:ln/>
        </p:spPr>
        <p:txBody>
          <a:bodyPr wrap="square" lIns="0" tIns="0" rIns="0" bIns="0" rtlCol="0" anchor="ctr"/>
          <a:lstStyle/>
          <a:p>
            <a:pPr indent="0" marL="0">
              <a:buNone/>
            </a:pPr>
            <a:r>
              <a:rPr lang="en-US" sz="1500" b="1" dirty="0">
                <a:solidFill>
                  <a:srgbClr val="12142E"/>
                </a:solidFill>
                <a:latin typeface="Calibri" pitchFamily="34" charset="0"/>
                <a:ea typeface="Calibri" pitchFamily="34" charset="-122"/>
                <a:cs typeface="Calibri" pitchFamily="34" charset="-120"/>
              </a:rPr>
              <a:t>Semantic Kernel</a:t>
            </a:r>
            <a:endParaRPr lang="en-US" sz="1500" dirty="0"/>
          </a:p>
        </p:txBody>
      </p:sp>
      <p:sp>
        <p:nvSpPr>
          <p:cNvPr id="23" name="Text 17"/>
          <p:cNvSpPr/>
          <p:nvPr/>
        </p:nvSpPr>
        <p:spPr>
          <a:xfrm>
            <a:off x="896112" y="5020056"/>
            <a:ext cx="3008376" cy="548640"/>
          </a:xfrm>
          <a:prstGeom prst="rect">
            <a:avLst/>
          </a:prstGeom>
          <a:noFill/>
          <a:ln/>
        </p:spPr>
        <p:txBody>
          <a:bodyPr wrap="square" lIns="0" tIns="0" rIns="0" bIns="0" rtlCol="0" anchor="ctr"/>
          <a:lstStyle/>
          <a:p>
            <a:pPr indent="0" marL="0">
              <a:lnSpc>
                <a:spcPct val="115000"/>
              </a:lnSpc>
              <a:buNone/>
            </a:pPr>
            <a:r>
              <a:rPr lang="en-US" sz="1050" dirty="0">
                <a:solidFill>
                  <a:srgbClr val="475569"/>
                </a:solidFill>
                <a:latin typeface="Calibri" pitchFamily="34" charset="0"/>
                <a:ea typeface="Calibri" pitchFamily="34" charset="-122"/>
                <a:cs typeface="Calibri" pitchFamily="34" charset="-120"/>
              </a:rPr>
              <a:t>Enterprise-oriented, plugin &amp; planner model, .NET/Python</a:t>
            </a:r>
            <a:endParaRPr lang="en-US" sz="1050" dirty="0"/>
          </a:p>
        </p:txBody>
      </p:sp>
      <p:sp>
        <p:nvSpPr>
          <p:cNvPr id="24" name="Shape 18"/>
          <p:cNvSpPr/>
          <p:nvPr/>
        </p:nvSpPr>
        <p:spPr>
          <a:xfrm>
            <a:off x="4416552" y="3721608"/>
            <a:ext cx="3520440" cy="1920240"/>
          </a:xfrm>
          <a:prstGeom prst="roundRect">
            <a:avLst>
              <a:gd name="adj" fmla="val 3810"/>
            </a:avLst>
          </a:prstGeom>
          <a:solidFill>
            <a:srgbClr val="F5F6FB"/>
          </a:solidFill>
          <a:ln/>
          <a:effectLst>
            <a:outerShdw sx="100000" sy="100000" kx="0" ky="0" algn="bl" rotWithShape="0" blurRad="101600" dist="38100" dir="5400000">
              <a:srgbClr val="12142E">
                <a:alpha val="10000"/>
              </a:srgbClr>
            </a:outerShdw>
          </a:effectLst>
        </p:spPr>
      </p:sp>
      <p:sp>
        <p:nvSpPr>
          <p:cNvPr id="25" name="Shape 19"/>
          <p:cNvSpPr/>
          <p:nvPr/>
        </p:nvSpPr>
        <p:spPr>
          <a:xfrm>
            <a:off x="4672584" y="3977640"/>
            <a:ext cx="566928" cy="566928"/>
          </a:xfrm>
          <a:prstGeom prst="ellipse">
            <a:avLst/>
          </a:prstGeom>
          <a:solidFill>
            <a:srgbClr val="12142E"/>
          </a:solidFill>
          <a:ln/>
        </p:spPr>
      </p:sp>
      <p:pic>
        <p:nvPicPr>
          <p:cNvPr id="26" name="Image 4" descr="/home/claude/agents-deck/icons/robot_cyan.png">    </p:cNvPr>
          <p:cNvPicPr>
            <a:picLocks noChangeAspect="1"/>
          </p:cNvPicPr>
          <p:nvPr/>
        </p:nvPicPr>
        <p:blipFill>
          <a:blip r:embed="rId5"/>
          <a:stretch>
            <a:fillRect/>
          </a:stretch>
        </p:blipFill>
        <p:spPr>
          <a:xfrm>
            <a:off x="4819985" y="4125041"/>
            <a:ext cx="272125" cy="272125"/>
          </a:xfrm>
          <a:prstGeom prst="rect">
            <a:avLst/>
          </a:prstGeom>
        </p:spPr>
      </p:pic>
      <p:sp>
        <p:nvSpPr>
          <p:cNvPr id="27" name="Text 20"/>
          <p:cNvSpPr/>
          <p:nvPr/>
        </p:nvSpPr>
        <p:spPr>
          <a:xfrm>
            <a:off x="4672584" y="4681728"/>
            <a:ext cx="3008376" cy="365760"/>
          </a:xfrm>
          <a:prstGeom prst="rect">
            <a:avLst/>
          </a:prstGeom>
          <a:noFill/>
          <a:ln/>
        </p:spPr>
        <p:txBody>
          <a:bodyPr wrap="square" lIns="0" tIns="0" rIns="0" bIns="0" rtlCol="0" anchor="ctr"/>
          <a:lstStyle/>
          <a:p>
            <a:pPr indent="0" marL="0">
              <a:buNone/>
            </a:pPr>
            <a:r>
              <a:rPr lang="en-US" sz="1500" b="1" dirty="0">
                <a:solidFill>
                  <a:srgbClr val="12142E"/>
                </a:solidFill>
                <a:latin typeface="Calibri" pitchFamily="34" charset="0"/>
                <a:ea typeface="Calibri" pitchFamily="34" charset="-122"/>
                <a:cs typeface="Calibri" pitchFamily="34" charset="-120"/>
              </a:rPr>
              <a:t>OpenAI Agents SDK</a:t>
            </a:r>
            <a:endParaRPr lang="en-US" sz="1500" dirty="0"/>
          </a:p>
        </p:txBody>
      </p:sp>
      <p:sp>
        <p:nvSpPr>
          <p:cNvPr id="28" name="Text 21"/>
          <p:cNvSpPr/>
          <p:nvPr/>
        </p:nvSpPr>
        <p:spPr>
          <a:xfrm>
            <a:off x="4672584" y="5020056"/>
            <a:ext cx="3008376" cy="548640"/>
          </a:xfrm>
          <a:prstGeom prst="rect">
            <a:avLst/>
          </a:prstGeom>
          <a:noFill/>
          <a:ln/>
        </p:spPr>
        <p:txBody>
          <a:bodyPr wrap="square" lIns="0" tIns="0" rIns="0" bIns="0" rtlCol="0" anchor="ctr"/>
          <a:lstStyle/>
          <a:p>
            <a:pPr indent="0" marL="0">
              <a:lnSpc>
                <a:spcPct val="115000"/>
              </a:lnSpc>
              <a:buNone/>
            </a:pPr>
            <a:r>
              <a:rPr lang="en-US" sz="1050" dirty="0">
                <a:solidFill>
                  <a:srgbClr val="475569"/>
                </a:solidFill>
                <a:latin typeface="Calibri" pitchFamily="34" charset="0"/>
                <a:ea typeface="Calibri" pitchFamily="34" charset="-122"/>
                <a:cs typeface="Calibri" pitchFamily="34" charset="-120"/>
              </a:rPr>
              <a:t>Lightweight primitives: agents, handoffs, guardrails</a:t>
            </a:r>
            <a:endParaRPr lang="en-US" sz="1050" dirty="0"/>
          </a:p>
        </p:txBody>
      </p:sp>
      <p:sp>
        <p:nvSpPr>
          <p:cNvPr id="29" name="Shape 22"/>
          <p:cNvSpPr/>
          <p:nvPr/>
        </p:nvSpPr>
        <p:spPr>
          <a:xfrm>
            <a:off x="8193024" y="3721608"/>
            <a:ext cx="3520440" cy="1920240"/>
          </a:xfrm>
          <a:prstGeom prst="roundRect">
            <a:avLst>
              <a:gd name="adj" fmla="val 3810"/>
            </a:avLst>
          </a:prstGeom>
          <a:solidFill>
            <a:srgbClr val="F5F6FB"/>
          </a:solidFill>
          <a:ln/>
          <a:effectLst>
            <a:outerShdw sx="100000" sy="100000" kx="0" ky="0" algn="bl" rotWithShape="0" blurRad="101600" dist="38100" dir="5400000">
              <a:srgbClr val="12142E">
                <a:alpha val="10000"/>
              </a:srgbClr>
            </a:outerShdw>
          </a:effectLst>
        </p:spPr>
      </p:sp>
      <p:sp>
        <p:nvSpPr>
          <p:cNvPr id="30" name="Shape 23"/>
          <p:cNvSpPr/>
          <p:nvPr/>
        </p:nvSpPr>
        <p:spPr>
          <a:xfrm>
            <a:off x="8449056" y="3977640"/>
            <a:ext cx="566928" cy="566928"/>
          </a:xfrm>
          <a:prstGeom prst="ellipse">
            <a:avLst/>
          </a:prstGeom>
          <a:solidFill>
            <a:srgbClr val="12142E"/>
          </a:solidFill>
          <a:ln/>
        </p:spPr>
      </p:sp>
      <p:pic>
        <p:nvPicPr>
          <p:cNvPr id="31" name="Image 5" descr="/home/claude/agents-deck/icons/server_cyan.png">    </p:cNvPr>
          <p:cNvPicPr>
            <a:picLocks noChangeAspect="1"/>
          </p:cNvPicPr>
          <p:nvPr/>
        </p:nvPicPr>
        <p:blipFill>
          <a:blip r:embed="rId6"/>
          <a:stretch>
            <a:fillRect/>
          </a:stretch>
        </p:blipFill>
        <p:spPr>
          <a:xfrm>
            <a:off x="8596457" y="4125041"/>
            <a:ext cx="272125" cy="272125"/>
          </a:xfrm>
          <a:prstGeom prst="rect">
            <a:avLst/>
          </a:prstGeom>
        </p:spPr>
      </p:pic>
      <p:sp>
        <p:nvSpPr>
          <p:cNvPr id="32" name="Text 24"/>
          <p:cNvSpPr/>
          <p:nvPr/>
        </p:nvSpPr>
        <p:spPr>
          <a:xfrm>
            <a:off x="8449056" y="4681728"/>
            <a:ext cx="3008376" cy="365760"/>
          </a:xfrm>
          <a:prstGeom prst="rect">
            <a:avLst/>
          </a:prstGeom>
          <a:noFill/>
          <a:ln/>
        </p:spPr>
        <p:txBody>
          <a:bodyPr wrap="square" lIns="0" tIns="0" rIns="0" bIns="0" rtlCol="0" anchor="ctr"/>
          <a:lstStyle/>
          <a:p>
            <a:pPr indent="0" marL="0">
              <a:buNone/>
            </a:pPr>
            <a:r>
              <a:rPr lang="en-US" sz="1500" b="1" dirty="0">
                <a:solidFill>
                  <a:srgbClr val="12142E"/>
                </a:solidFill>
                <a:latin typeface="Calibri" pitchFamily="34" charset="0"/>
                <a:ea typeface="Calibri" pitchFamily="34" charset="-122"/>
                <a:cs typeface="Calibri" pitchFamily="34" charset="-120"/>
              </a:rPr>
              <a:t>Custom / In-House</a:t>
            </a:r>
            <a:endParaRPr lang="en-US" sz="1500" dirty="0"/>
          </a:p>
        </p:txBody>
      </p:sp>
      <p:sp>
        <p:nvSpPr>
          <p:cNvPr id="33" name="Text 25"/>
          <p:cNvSpPr/>
          <p:nvPr/>
        </p:nvSpPr>
        <p:spPr>
          <a:xfrm>
            <a:off x="8449056" y="5020056"/>
            <a:ext cx="3008376" cy="548640"/>
          </a:xfrm>
          <a:prstGeom prst="rect">
            <a:avLst/>
          </a:prstGeom>
          <a:noFill/>
          <a:ln/>
        </p:spPr>
        <p:txBody>
          <a:bodyPr wrap="square" lIns="0" tIns="0" rIns="0" bIns="0" rtlCol="0" anchor="ctr"/>
          <a:lstStyle/>
          <a:p>
            <a:pPr indent="0" marL="0">
              <a:lnSpc>
                <a:spcPct val="115000"/>
              </a:lnSpc>
              <a:buNone/>
            </a:pPr>
            <a:r>
              <a:rPr lang="en-US" sz="1050" dirty="0">
                <a:solidFill>
                  <a:srgbClr val="475569"/>
                </a:solidFill>
                <a:latin typeface="Calibri" pitchFamily="34" charset="0"/>
                <a:ea typeface="Calibri" pitchFamily="34" charset="-122"/>
                <a:cs typeface="Calibri" pitchFamily="34" charset="-120"/>
              </a:rPr>
              <a:t>Hand-rolled loop for full control over state &amp; governance</a:t>
            </a:r>
            <a:endParaRPr lang="en-US" sz="1050" dirty="0"/>
          </a:p>
        </p:txBody>
      </p:sp>
      <p:sp>
        <p:nvSpPr>
          <p:cNvPr id="34" name="Text 26"/>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15</a:t>
            </a:r>
            <a:endParaRPr lang="en-US" sz="1000" dirty="0"/>
          </a:p>
        </p:txBody>
      </p:sp>
      <p:sp>
        <p:nvSpPr>
          <p:cNvPr id="35" name="Text 27"/>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AGENT FRAMEWORKS</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Choosing a Framework</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4206240"/>
        </p:xfrm>
        <a:graphic>
          <a:graphicData uri="http://schemas.openxmlformats.org/drawingml/2006/table">
            <a:tbl>
              <a:tblPr/>
              <a:tblGrid>
                <a:gridCol w="2377440"/>
                <a:gridCol w="2651760"/>
                <a:gridCol w="1737360"/>
                <a:gridCol w="4114800"/>
              </a:tblGrid>
              <a:tr h="600891">
                <a:tc>
                  <a:txBody>
                    <a:bodyPr/>
                    <a:lstStyle/>
                    <a:p>
                      <a:pPr indent="0" marL="0">
                        <a:buNone/>
                      </a:pPr>
                      <a:r>
                        <a:rPr lang="en-US" sz="1250" b="1" dirty="0">
                          <a:solidFill>
                            <a:srgbClr val="FFFFFF"/>
                          </a:solidFill>
                        </a:rPr>
                        <a:t>Framework</a:t>
                      </a:r>
                      <a:endParaRPr lang="en-US" sz="12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12142E"/>
                    </a:solidFill>
                  </a:tcPr>
                </a:tc>
                <a:tc>
                  <a:txBody>
                    <a:bodyPr/>
                    <a:lstStyle/>
                    <a:p>
                      <a:pPr indent="0" marL="0">
                        <a:buNone/>
                      </a:pPr>
                      <a:r>
                        <a:rPr lang="en-US" sz="1250" b="1" dirty="0">
                          <a:solidFill>
                            <a:srgbClr val="FFFFFF"/>
                          </a:solidFill>
                        </a:rPr>
                        <a:t>Mental Model</a:t>
                      </a:r>
                      <a:endParaRPr lang="en-US" sz="12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12142E"/>
                    </a:solidFill>
                  </a:tcPr>
                </a:tc>
                <a:tc>
                  <a:txBody>
                    <a:bodyPr/>
                    <a:lstStyle/>
                    <a:p>
                      <a:pPr indent="0" marL="0">
                        <a:buNone/>
                      </a:pPr>
                      <a:r>
                        <a:rPr lang="en-US" sz="1250" b="1" dirty="0">
                          <a:solidFill>
                            <a:srgbClr val="FFFFFF"/>
                          </a:solidFill>
                        </a:rPr>
                        <a:t>Multi-Agent</a:t>
                      </a:r>
                      <a:endParaRPr lang="en-US" sz="12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12142E"/>
                    </a:solidFill>
                  </a:tcPr>
                </a:tc>
                <a:tc>
                  <a:txBody>
                    <a:bodyPr/>
                    <a:lstStyle/>
                    <a:p>
                      <a:pPr indent="0" marL="0">
                        <a:buNone/>
                      </a:pPr>
                      <a:r>
                        <a:rPr lang="en-US" sz="1250" b="1" dirty="0">
                          <a:solidFill>
                            <a:srgbClr val="FFFFFF"/>
                          </a:solidFill>
                        </a:rPr>
                        <a:t>Best For</a:t>
                      </a:r>
                      <a:endParaRPr lang="en-US" sz="12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12142E"/>
                    </a:solidFill>
                  </a:tcPr>
                </a:tc>
              </a:tr>
              <a:tr h="600891">
                <a:tc>
                  <a:txBody>
                    <a:bodyPr/>
                    <a:lstStyle/>
                    <a:p>
                      <a:pPr indent="0" marL="0">
                        <a:buNone/>
                      </a:pPr>
                      <a:r>
                        <a:rPr lang="en-US" sz="1150" dirty="0">
                          <a:solidFill>
                            <a:srgbClr val="475569"/>
                          </a:solidFill>
                        </a:rPr>
                        <a:t>LangGraph</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FFFFF"/>
                    </a:solidFill>
                  </a:tcPr>
                </a:tc>
                <a:tc>
                  <a:txBody>
                    <a:bodyPr/>
                    <a:lstStyle/>
                    <a:p>
                      <a:pPr indent="0" marL="0">
                        <a:buNone/>
                      </a:pPr>
                      <a:r>
                        <a:rPr lang="en-US" sz="1150" dirty="0">
                          <a:solidFill>
                            <a:srgbClr val="475569"/>
                          </a:solidFill>
                        </a:rPr>
                        <a:t>Explicit state graph</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FFFFF"/>
                    </a:solidFill>
                  </a:tcPr>
                </a:tc>
                <a:tc>
                  <a:txBody>
                    <a:bodyPr/>
                    <a:lstStyle/>
                    <a:p>
                      <a:pPr indent="0" marL="0">
                        <a:buNone/>
                      </a:pPr>
                      <a:r>
                        <a:rPr lang="en-US" sz="1150" dirty="0">
                          <a:solidFill>
                            <a:srgbClr val="475569"/>
                          </a:solidFill>
                        </a:rPr>
                        <a:t>Yes</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FFFFF"/>
                    </a:solidFill>
                  </a:tcPr>
                </a:tc>
                <a:tc>
                  <a:txBody>
                    <a:bodyPr/>
                    <a:lstStyle/>
                    <a:p>
                      <a:pPr indent="0" marL="0">
                        <a:buNone/>
                      </a:pPr>
                      <a:r>
                        <a:rPr lang="en-US" sz="1150" dirty="0">
                          <a:solidFill>
                            <a:srgbClr val="475569"/>
                          </a:solidFill>
                        </a:rPr>
                        <a:t>Complex branching, fine-grained state control</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FFFFF"/>
                    </a:solidFill>
                  </a:tcPr>
                </a:tc>
              </a:tr>
              <a:tr h="600891">
                <a:tc>
                  <a:txBody>
                    <a:bodyPr/>
                    <a:lstStyle/>
                    <a:p>
                      <a:pPr indent="0" marL="0">
                        <a:buNone/>
                      </a:pPr>
                      <a:r>
                        <a:rPr lang="en-US" sz="1150" dirty="0">
                          <a:solidFill>
                            <a:srgbClr val="475569"/>
                          </a:solidFill>
                        </a:rPr>
                        <a:t>CrewAI</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5F6FB"/>
                    </a:solidFill>
                  </a:tcPr>
                </a:tc>
                <a:tc>
                  <a:txBody>
                    <a:bodyPr/>
                    <a:lstStyle/>
                    <a:p>
                      <a:pPr indent="0" marL="0">
                        <a:buNone/>
                      </a:pPr>
                      <a:r>
                        <a:rPr lang="en-US" sz="1150" dirty="0">
                          <a:solidFill>
                            <a:srgbClr val="475569"/>
                          </a:solidFill>
                        </a:rPr>
                        <a:t>Roles &amp; crews</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5F6FB"/>
                    </a:solidFill>
                  </a:tcPr>
                </a:tc>
                <a:tc>
                  <a:txBody>
                    <a:bodyPr/>
                    <a:lstStyle/>
                    <a:p>
                      <a:pPr indent="0" marL="0">
                        <a:buNone/>
                      </a:pPr>
                      <a:r>
                        <a:rPr lang="en-US" sz="1150" dirty="0">
                          <a:solidFill>
                            <a:srgbClr val="475569"/>
                          </a:solidFill>
                        </a:rPr>
                        <a:t>Yes (native)</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5F6FB"/>
                    </a:solidFill>
                  </a:tcPr>
                </a:tc>
                <a:tc>
                  <a:txBody>
                    <a:bodyPr/>
                    <a:lstStyle/>
                    <a:p>
                      <a:pPr indent="0" marL="0">
                        <a:buNone/>
                      </a:pPr>
                      <a:r>
                        <a:rPr lang="en-US" sz="1150" dirty="0">
                          <a:solidFill>
                            <a:srgbClr val="475569"/>
                          </a:solidFill>
                        </a:rPr>
                        <a:t>Fast prototyping of role-based teams</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5F6FB"/>
                    </a:solidFill>
                  </a:tcPr>
                </a:tc>
              </a:tr>
              <a:tr h="600891">
                <a:tc>
                  <a:txBody>
                    <a:bodyPr/>
                    <a:lstStyle/>
                    <a:p>
                      <a:pPr indent="0" marL="0">
                        <a:buNone/>
                      </a:pPr>
                      <a:r>
                        <a:rPr lang="en-US" sz="1150" dirty="0">
                          <a:solidFill>
                            <a:srgbClr val="475569"/>
                          </a:solidFill>
                        </a:rPr>
                        <a:t>AutoGen</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FFFFF"/>
                    </a:solidFill>
                  </a:tcPr>
                </a:tc>
                <a:tc>
                  <a:txBody>
                    <a:bodyPr/>
                    <a:lstStyle/>
                    <a:p>
                      <a:pPr indent="0" marL="0">
                        <a:buNone/>
                      </a:pPr>
                      <a:r>
                        <a:rPr lang="en-US" sz="1150" dirty="0">
                          <a:solidFill>
                            <a:srgbClr val="475569"/>
                          </a:solidFill>
                        </a:rPr>
                        <a:t>Multi-agent conversation</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FFFFF"/>
                    </a:solidFill>
                  </a:tcPr>
                </a:tc>
                <a:tc>
                  <a:txBody>
                    <a:bodyPr/>
                    <a:lstStyle/>
                    <a:p>
                      <a:pPr indent="0" marL="0">
                        <a:buNone/>
                      </a:pPr>
                      <a:r>
                        <a:rPr lang="en-US" sz="1150" dirty="0">
                          <a:solidFill>
                            <a:srgbClr val="475569"/>
                          </a:solidFill>
                        </a:rPr>
                        <a:t>Yes (native)</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FFFFF"/>
                    </a:solidFill>
                  </a:tcPr>
                </a:tc>
                <a:tc>
                  <a:txBody>
                    <a:bodyPr/>
                    <a:lstStyle/>
                    <a:p>
                      <a:pPr indent="0" marL="0">
                        <a:buNone/>
                      </a:pPr>
                      <a:r>
                        <a:rPr lang="en-US" sz="1150" dirty="0">
                          <a:solidFill>
                            <a:srgbClr val="475569"/>
                          </a:solidFill>
                        </a:rPr>
                        <a:t>Research, exploratory multi-agent dialogue</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FFFFF"/>
                    </a:solidFill>
                  </a:tcPr>
                </a:tc>
              </a:tr>
              <a:tr h="600891">
                <a:tc>
                  <a:txBody>
                    <a:bodyPr/>
                    <a:lstStyle/>
                    <a:p>
                      <a:pPr indent="0" marL="0">
                        <a:buNone/>
                      </a:pPr>
                      <a:r>
                        <a:rPr lang="en-US" sz="1150" dirty="0">
                          <a:solidFill>
                            <a:srgbClr val="475569"/>
                          </a:solidFill>
                        </a:rPr>
                        <a:t>Semantic Kernel</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5F6FB"/>
                    </a:solidFill>
                  </a:tcPr>
                </a:tc>
                <a:tc>
                  <a:txBody>
                    <a:bodyPr/>
                    <a:lstStyle/>
                    <a:p>
                      <a:pPr indent="0" marL="0">
                        <a:buNone/>
                      </a:pPr>
                      <a:r>
                        <a:rPr lang="en-US" sz="1150" dirty="0">
                          <a:solidFill>
                            <a:srgbClr val="475569"/>
                          </a:solidFill>
                        </a:rPr>
                        <a:t>Plugins &amp; planner</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5F6FB"/>
                    </a:solidFill>
                  </a:tcPr>
                </a:tc>
                <a:tc>
                  <a:txBody>
                    <a:bodyPr/>
                    <a:lstStyle/>
                    <a:p>
                      <a:pPr indent="0" marL="0">
                        <a:buNone/>
                      </a:pPr>
                      <a:r>
                        <a:rPr lang="en-US" sz="1150" dirty="0">
                          <a:solidFill>
                            <a:srgbClr val="475569"/>
                          </a:solidFill>
                        </a:rPr>
                        <a:t>Partial</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5F6FB"/>
                    </a:solidFill>
                  </a:tcPr>
                </a:tc>
                <a:tc>
                  <a:txBody>
                    <a:bodyPr/>
                    <a:lstStyle/>
                    <a:p>
                      <a:pPr indent="0" marL="0">
                        <a:buNone/>
                      </a:pPr>
                      <a:r>
                        <a:rPr lang="en-US" sz="1150" dirty="0">
                          <a:solidFill>
                            <a:srgbClr val="475569"/>
                          </a:solidFill>
                        </a:rPr>
                        <a:t>Enterprise .NET/Java/Python environments</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5F6FB"/>
                    </a:solidFill>
                  </a:tcPr>
                </a:tc>
              </a:tr>
              <a:tr h="600891">
                <a:tc>
                  <a:txBody>
                    <a:bodyPr/>
                    <a:lstStyle/>
                    <a:p>
                      <a:pPr indent="0" marL="0">
                        <a:buNone/>
                      </a:pPr>
                      <a:r>
                        <a:rPr lang="en-US" sz="1150" dirty="0">
                          <a:solidFill>
                            <a:srgbClr val="475569"/>
                          </a:solidFill>
                        </a:rPr>
                        <a:t>OpenAI Agents SDK</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FFFFF"/>
                    </a:solidFill>
                  </a:tcPr>
                </a:tc>
                <a:tc>
                  <a:txBody>
                    <a:bodyPr/>
                    <a:lstStyle/>
                    <a:p>
                      <a:pPr indent="0" marL="0">
                        <a:buNone/>
                      </a:pPr>
                      <a:r>
                        <a:rPr lang="en-US" sz="1150" dirty="0">
                          <a:solidFill>
                            <a:srgbClr val="475569"/>
                          </a:solidFill>
                        </a:rPr>
                        <a:t>Agents + handoffs</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FFFFF"/>
                    </a:solidFill>
                  </a:tcPr>
                </a:tc>
                <a:tc>
                  <a:txBody>
                    <a:bodyPr/>
                    <a:lstStyle/>
                    <a:p>
                      <a:pPr indent="0" marL="0">
                        <a:buNone/>
                      </a:pPr>
                      <a:r>
                        <a:rPr lang="en-US" sz="1150" dirty="0">
                          <a:solidFill>
                            <a:srgbClr val="475569"/>
                          </a:solidFill>
                        </a:rPr>
                        <a:t>Yes (lightweight)</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FFFFF"/>
                    </a:solidFill>
                  </a:tcPr>
                </a:tc>
                <a:tc>
                  <a:txBody>
                    <a:bodyPr/>
                    <a:lstStyle/>
                    <a:p>
                      <a:pPr indent="0" marL="0">
                        <a:buNone/>
                      </a:pPr>
                      <a:r>
                        <a:rPr lang="en-US" sz="1150" dirty="0">
                          <a:solidFill>
                            <a:srgbClr val="475569"/>
                          </a:solidFill>
                        </a:rPr>
                        <a:t>Minimal footprint, quick production start</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FFFFF"/>
                    </a:solidFill>
                  </a:tcPr>
                </a:tc>
              </a:tr>
              <a:tr h="600891">
                <a:tc>
                  <a:txBody>
                    <a:bodyPr/>
                    <a:lstStyle/>
                    <a:p>
                      <a:pPr indent="0" marL="0">
                        <a:buNone/>
                      </a:pPr>
                      <a:r>
                        <a:rPr lang="en-US" sz="1150" dirty="0">
                          <a:solidFill>
                            <a:srgbClr val="475569"/>
                          </a:solidFill>
                        </a:rPr>
                        <a:t>Custom / In-House</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5F6FB"/>
                    </a:solidFill>
                  </a:tcPr>
                </a:tc>
                <a:tc>
                  <a:txBody>
                    <a:bodyPr/>
                    <a:lstStyle/>
                    <a:p>
                      <a:pPr indent="0" marL="0">
                        <a:buNone/>
                      </a:pPr>
                      <a:r>
                        <a:rPr lang="en-US" sz="1150" dirty="0">
                          <a:solidFill>
                            <a:srgbClr val="475569"/>
                          </a:solidFill>
                        </a:rPr>
                        <a:t>Whatever you design</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5F6FB"/>
                    </a:solidFill>
                  </a:tcPr>
                </a:tc>
                <a:tc>
                  <a:txBody>
                    <a:bodyPr/>
                    <a:lstStyle/>
                    <a:p>
                      <a:pPr indent="0" marL="0">
                        <a:buNone/>
                      </a:pPr>
                      <a:r>
                        <a:rPr lang="en-US" sz="1150" dirty="0">
                          <a:solidFill>
                            <a:srgbClr val="475569"/>
                          </a:solidFill>
                        </a:rPr>
                        <a:t>You build it</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5F6FB"/>
                    </a:solidFill>
                  </a:tcPr>
                </a:tc>
                <a:tc>
                  <a:txBody>
                    <a:bodyPr/>
                    <a:lstStyle/>
                    <a:p>
                      <a:pPr indent="0" marL="0">
                        <a:buNone/>
                      </a:pPr>
                      <a:r>
                        <a:rPr lang="en-US" sz="1150" dirty="0">
                          <a:solidFill>
                            <a:srgbClr val="475569"/>
                          </a:solidFill>
                        </a:rPr>
                        <a:t>Strict governance, unusual constraints</a:t>
                      </a:r>
                      <a:endParaRPr lang="en-US" sz="1150" dirty="0"/>
                    </a:p>
                  </a:txBody>
                  <a:tcPr marL="101600" marR="101600" marT="76200" marB="76200" anchor="ctr">
                    <a:lnL w="9525" cap="flat" cmpd="sng" algn="ctr">
                      <a:solidFill>
                        <a:srgbClr val="E2E4F3"/>
                      </a:solidFill>
                      <a:prstDash val="solid"/>
                      <a:round/>
                      <a:headEnd type="none" w="med" len="med"/>
                      <a:tailEnd type="none" w="med" len="med"/>
                    </a:lnL>
                    <a:lnR w="9525" cap="flat" cmpd="sng" algn="ctr">
                      <a:solidFill>
                        <a:srgbClr val="E2E4F3"/>
                      </a:solidFill>
                      <a:prstDash val="solid"/>
                      <a:round/>
                      <a:headEnd type="none" w="med" len="med"/>
                      <a:tailEnd type="none" w="med" len="med"/>
                    </a:lnR>
                    <a:lnT w="9525" cap="flat" cmpd="sng" algn="ctr">
                      <a:solidFill>
                        <a:srgbClr val="E2E4F3"/>
                      </a:solidFill>
                      <a:prstDash val="solid"/>
                      <a:round/>
                      <a:headEnd type="none" w="med" len="med"/>
                      <a:tailEnd type="none" w="med" len="med"/>
                    </a:lnT>
                    <a:lnB w="9525" cap="flat" cmpd="sng" algn="ctr">
                      <a:solidFill>
                        <a:srgbClr val="E2E4F3"/>
                      </a:solidFill>
                      <a:prstDash val="solid"/>
                      <a:round/>
                      <a:headEnd type="none" w="med" len="med"/>
                      <a:tailEnd type="none" w="med" len="med"/>
                    </a:lnB>
                    <a:solidFill>
                      <a:srgbClr val="F5F6FB"/>
                    </a:solidFill>
                  </a:tcPr>
                </a:tc>
              </a:tr>
            </a:tbl>
          </a:graphicData>
        </a:graphic>
      </p:graphicFrame>
      <p:sp>
        <p:nvSpPr>
          <p:cNvPr id="5" name="Text 2"/>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16</a:t>
            </a:r>
            <a:endParaRPr lang="en-US" sz="1000" dirty="0"/>
          </a:p>
        </p:txBody>
      </p:sp>
      <p:sp>
        <p:nvSpPr>
          <p:cNvPr id="6" name="Text 3"/>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42E"/>
        </a:solidFill>
      </p:bgPr>
    </p:bg>
    <p:spTree>
      <p:nvGrpSpPr>
        <p:cNvPr id="1" name=""/>
        <p:cNvGrpSpPr/>
        <p:nvPr/>
      </p:nvGrpSpPr>
      <p:grpSpPr>
        <a:xfrm>
          <a:off x="0" y="0"/>
          <a:ext cx="0" cy="0"/>
          <a:chOff x="0" y="0"/>
          <a:chExt cx="0" cy="0"/>
        </a:xfrm>
      </p:grpSpPr>
      <p:sp>
        <p:nvSpPr>
          <p:cNvPr id="2" name="Shape 0"/>
          <p:cNvSpPr/>
          <p:nvPr/>
        </p:nvSpPr>
        <p:spPr>
          <a:xfrm>
            <a:off x="914400" y="914400"/>
            <a:ext cx="54864" cy="54864"/>
          </a:xfrm>
          <a:prstGeom prst="ellipse">
            <a:avLst/>
          </a:prstGeom>
          <a:solidFill>
            <a:srgbClr val="2A2D5C"/>
          </a:solidFill>
          <a:ln/>
        </p:spPr>
      </p:sp>
      <p:sp>
        <p:nvSpPr>
          <p:cNvPr id="3" name="Shape 1"/>
          <p:cNvSpPr/>
          <p:nvPr/>
        </p:nvSpPr>
        <p:spPr>
          <a:xfrm>
            <a:off x="1463040" y="2194560"/>
            <a:ext cx="54864" cy="54864"/>
          </a:xfrm>
          <a:prstGeom prst="ellipse">
            <a:avLst/>
          </a:prstGeom>
          <a:solidFill>
            <a:srgbClr val="2A2D5C"/>
          </a:solidFill>
          <a:ln/>
        </p:spPr>
      </p:sp>
      <p:sp>
        <p:nvSpPr>
          <p:cNvPr id="4" name="Shape 2"/>
          <p:cNvSpPr/>
          <p:nvPr/>
        </p:nvSpPr>
        <p:spPr>
          <a:xfrm>
            <a:off x="731520" y="3840480"/>
            <a:ext cx="54864" cy="54864"/>
          </a:xfrm>
          <a:prstGeom prst="ellipse">
            <a:avLst/>
          </a:prstGeom>
          <a:solidFill>
            <a:srgbClr val="2A2D5C"/>
          </a:solidFill>
          <a:ln/>
        </p:spPr>
      </p:sp>
      <p:sp>
        <p:nvSpPr>
          <p:cNvPr id="5" name="Shape 3"/>
          <p:cNvSpPr/>
          <p:nvPr/>
        </p:nvSpPr>
        <p:spPr>
          <a:xfrm>
            <a:off x="1737360" y="5120640"/>
            <a:ext cx="54864" cy="54864"/>
          </a:xfrm>
          <a:prstGeom prst="ellipse">
            <a:avLst/>
          </a:prstGeom>
          <a:solidFill>
            <a:srgbClr val="2A2D5C"/>
          </a:solidFill>
          <a:ln/>
        </p:spPr>
      </p:sp>
      <p:sp>
        <p:nvSpPr>
          <p:cNvPr id="6" name="Shape 4"/>
          <p:cNvSpPr/>
          <p:nvPr/>
        </p:nvSpPr>
        <p:spPr>
          <a:xfrm>
            <a:off x="2377440" y="1463040"/>
            <a:ext cx="54864" cy="54864"/>
          </a:xfrm>
          <a:prstGeom prst="ellipse">
            <a:avLst/>
          </a:prstGeom>
          <a:solidFill>
            <a:srgbClr val="2A2D5C"/>
          </a:solidFill>
          <a:ln/>
        </p:spPr>
      </p:sp>
      <p:sp>
        <p:nvSpPr>
          <p:cNvPr id="7" name="Shape 5"/>
          <p:cNvSpPr/>
          <p:nvPr/>
        </p:nvSpPr>
        <p:spPr>
          <a:xfrm>
            <a:off x="10789920" y="1097280"/>
            <a:ext cx="54864" cy="54864"/>
          </a:xfrm>
          <a:prstGeom prst="ellipse">
            <a:avLst/>
          </a:prstGeom>
          <a:solidFill>
            <a:srgbClr val="2A2D5C"/>
          </a:solidFill>
          <a:ln/>
        </p:spPr>
      </p:sp>
      <p:sp>
        <p:nvSpPr>
          <p:cNvPr id="8" name="Shape 6"/>
          <p:cNvSpPr/>
          <p:nvPr/>
        </p:nvSpPr>
        <p:spPr>
          <a:xfrm>
            <a:off x="11338560" y="2743200"/>
            <a:ext cx="54864" cy="54864"/>
          </a:xfrm>
          <a:prstGeom prst="ellipse">
            <a:avLst/>
          </a:prstGeom>
          <a:solidFill>
            <a:srgbClr val="2A2D5C"/>
          </a:solidFill>
          <a:ln/>
        </p:spPr>
      </p:sp>
      <p:sp>
        <p:nvSpPr>
          <p:cNvPr id="9" name="Shape 7"/>
          <p:cNvSpPr/>
          <p:nvPr/>
        </p:nvSpPr>
        <p:spPr>
          <a:xfrm>
            <a:off x="10515600" y="4572000"/>
            <a:ext cx="54864" cy="54864"/>
          </a:xfrm>
          <a:prstGeom prst="ellipse">
            <a:avLst/>
          </a:prstGeom>
          <a:solidFill>
            <a:srgbClr val="2A2D5C"/>
          </a:solidFill>
          <a:ln/>
        </p:spPr>
      </p:sp>
      <p:sp>
        <p:nvSpPr>
          <p:cNvPr id="10" name="Shape 8"/>
          <p:cNvSpPr/>
          <p:nvPr/>
        </p:nvSpPr>
        <p:spPr>
          <a:xfrm>
            <a:off x="11521440" y="5577840"/>
            <a:ext cx="54864" cy="54864"/>
          </a:xfrm>
          <a:prstGeom prst="ellipse">
            <a:avLst/>
          </a:prstGeom>
          <a:solidFill>
            <a:srgbClr val="2A2D5C"/>
          </a:solidFill>
          <a:ln/>
        </p:spPr>
      </p:sp>
      <p:sp>
        <p:nvSpPr>
          <p:cNvPr id="11" name="Shape 9"/>
          <p:cNvSpPr/>
          <p:nvPr/>
        </p:nvSpPr>
        <p:spPr>
          <a:xfrm>
            <a:off x="9966960" y="2011680"/>
            <a:ext cx="54864" cy="54864"/>
          </a:xfrm>
          <a:prstGeom prst="ellipse">
            <a:avLst/>
          </a:prstGeom>
          <a:solidFill>
            <a:srgbClr val="2A2D5C"/>
          </a:solidFill>
          <a:ln/>
        </p:spPr>
      </p:sp>
      <p:sp>
        <p:nvSpPr>
          <p:cNvPr id="12" name="Text 10"/>
          <p:cNvSpPr/>
          <p:nvPr/>
        </p:nvSpPr>
        <p:spPr>
          <a:xfrm>
            <a:off x="914400" y="2331720"/>
            <a:ext cx="5486400" cy="365760"/>
          </a:xfrm>
          <a:prstGeom prst="rect">
            <a:avLst/>
          </a:prstGeom>
          <a:noFill/>
          <a:ln/>
        </p:spPr>
        <p:txBody>
          <a:bodyPr wrap="square" lIns="0" tIns="0" rIns="0" bIns="0" rtlCol="0" anchor="ctr"/>
          <a:lstStyle/>
          <a:p>
            <a:pPr indent="0" marL="0">
              <a:buNone/>
            </a:pPr>
            <a:r>
              <a:rPr lang="en-US" sz="1300" b="1" spc="300" kern="0" dirty="0">
                <a:solidFill>
                  <a:srgbClr val="22D3EE"/>
                </a:solidFill>
                <a:latin typeface="Calibri" pitchFamily="34" charset="0"/>
                <a:ea typeface="Calibri" pitchFamily="34" charset="-122"/>
                <a:cs typeface="Calibri" pitchFamily="34" charset="-120"/>
              </a:rPr>
              <a:t>SECTION 5 / 7</a:t>
            </a:r>
            <a:endParaRPr lang="en-US" sz="1300" dirty="0"/>
          </a:p>
        </p:txBody>
      </p:sp>
      <p:sp>
        <p:nvSpPr>
          <p:cNvPr id="13" name="Shape 11"/>
          <p:cNvSpPr/>
          <p:nvPr/>
        </p:nvSpPr>
        <p:spPr>
          <a:xfrm>
            <a:off x="9692640" y="2148840"/>
            <a:ext cx="1234440" cy="1234440"/>
          </a:xfrm>
          <a:prstGeom prst="ellipse">
            <a:avLst/>
          </a:prstGeom>
          <a:solidFill>
            <a:srgbClr val="1C1F47"/>
          </a:solidFill>
          <a:ln/>
        </p:spPr>
      </p:sp>
      <p:pic>
        <p:nvPicPr>
          <p:cNvPr id="14" name="Image 0" descr="/home/claude/agents-deck/icons/network_cyan.png">    </p:cNvPr>
          <p:cNvPicPr>
            <a:picLocks noChangeAspect="1"/>
          </p:cNvPicPr>
          <p:nvPr/>
        </p:nvPicPr>
        <p:blipFill>
          <a:blip r:embed="rId1"/>
          <a:stretch>
            <a:fillRect/>
          </a:stretch>
        </p:blipFill>
        <p:spPr>
          <a:xfrm>
            <a:off x="10013594" y="2469794"/>
            <a:ext cx="592531" cy="592531"/>
          </a:xfrm>
          <a:prstGeom prst="rect">
            <a:avLst/>
          </a:prstGeom>
        </p:spPr>
      </p:pic>
      <p:sp>
        <p:nvSpPr>
          <p:cNvPr id="15" name="Text 12"/>
          <p:cNvSpPr/>
          <p:nvPr/>
        </p:nvSpPr>
        <p:spPr>
          <a:xfrm>
            <a:off x="914400" y="2697480"/>
            <a:ext cx="841248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Orchestration Layer</a:t>
            </a:r>
            <a:endParaRPr lang="en-US" sz="4400" dirty="0"/>
          </a:p>
        </p:txBody>
      </p:sp>
      <p:sp>
        <p:nvSpPr>
          <p:cNvPr id="16" name="Text 13"/>
          <p:cNvSpPr/>
          <p:nvPr/>
        </p:nvSpPr>
        <p:spPr>
          <a:xfrm>
            <a:off x="914400" y="3794760"/>
            <a:ext cx="7863840" cy="731520"/>
          </a:xfrm>
          <a:prstGeom prst="rect">
            <a:avLst/>
          </a:prstGeom>
          <a:noFill/>
          <a:ln/>
        </p:spPr>
        <p:txBody>
          <a:bodyPr wrap="square" lIns="0" tIns="0" rIns="0" bIns="0" rtlCol="0" anchor="ctr"/>
          <a:lstStyle/>
          <a:p>
            <a:pPr indent="0" marL="0">
              <a:buNone/>
            </a:pPr>
            <a:r>
              <a:rPr lang="en-US" sz="1600" dirty="0">
                <a:solidFill>
                  <a:srgbClr val="8B90B3"/>
                </a:solidFill>
                <a:latin typeface="Calibri" pitchFamily="34" charset="0"/>
                <a:ea typeface="Calibri" pitchFamily="34" charset="-122"/>
                <a:cs typeface="Calibri" pitchFamily="34" charset="-120"/>
              </a:rPr>
              <a:t>The coordination fabric that routes work across agents, tools, and state.</a:t>
            </a:r>
            <a:endParaRPr lang="en-US" sz="1600" dirty="0"/>
          </a:p>
        </p:txBody>
      </p:sp>
      <p:sp>
        <p:nvSpPr>
          <p:cNvPr id="17" name="Text 14"/>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5A5E8C"/>
                </a:solidFill>
                <a:latin typeface="Calibri" pitchFamily="34" charset="0"/>
                <a:ea typeface="Calibri" pitchFamily="34" charset="-122"/>
                <a:cs typeface="Calibri" pitchFamily="34" charset="-120"/>
              </a:rPr>
              <a:t>17</a:t>
            </a:r>
            <a:endParaRPr lang="en-US" sz="1000" dirty="0"/>
          </a:p>
        </p:txBody>
      </p:sp>
      <p:sp>
        <p:nvSpPr>
          <p:cNvPr id="18" name="Text 15"/>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4A4E7A"/>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ORCHESTRATION LAYER</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What It's Responsible For</a:t>
            </a:r>
            <a:endParaRPr lang="en-US" sz="3000" dirty="0"/>
          </a:p>
        </p:txBody>
      </p:sp>
      <p:sp>
        <p:nvSpPr>
          <p:cNvPr id="4" name="Shape 2"/>
          <p:cNvSpPr/>
          <p:nvPr/>
        </p:nvSpPr>
        <p:spPr>
          <a:xfrm>
            <a:off x="640080" y="1481328"/>
            <a:ext cx="10881360" cy="841248"/>
          </a:xfrm>
          <a:prstGeom prst="roundRect">
            <a:avLst>
              <a:gd name="adj" fmla="val 8696"/>
            </a:avLst>
          </a:prstGeom>
          <a:solidFill>
            <a:srgbClr val="F5F6FB"/>
          </a:solidFill>
          <a:ln/>
          <a:effectLst>
            <a:outerShdw sx="100000" sy="100000" kx="0" ky="0" algn="bl" rotWithShape="0" blurRad="101600" dist="38100" dir="5400000">
              <a:srgbClr val="12142E">
                <a:alpha val="10000"/>
              </a:srgbClr>
            </a:outerShdw>
          </a:effectLst>
        </p:spPr>
      </p:sp>
      <p:sp>
        <p:nvSpPr>
          <p:cNvPr id="5" name="Shape 3"/>
          <p:cNvSpPr/>
          <p:nvPr/>
        </p:nvSpPr>
        <p:spPr>
          <a:xfrm>
            <a:off x="914400" y="1650492"/>
            <a:ext cx="502920" cy="502920"/>
          </a:xfrm>
          <a:prstGeom prst="ellipse">
            <a:avLst/>
          </a:prstGeom>
          <a:solidFill>
            <a:srgbClr val="FFFFFF"/>
          </a:solidFill>
          <a:ln/>
        </p:spPr>
      </p:sp>
      <p:pic>
        <p:nvPicPr>
          <p:cNvPr id="6" name="Image 0" descr="/home/claude/agents-deck/icons/route_indigo.png">    </p:cNvPr>
          <p:cNvPicPr>
            <a:picLocks noChangeAspect="1"/>
          </p:cNvPicPr>
          <p:nvPr/>
        </p:nvPicPr>
        <p:blipFill>
          <a:blip r:embed="rId1"/>
          <a:stretch>
            <a:fillRect/>
          </a:stretch>
        </p:blipFill>
        <p:spPr>
          <a:xfrm>
            <a:off x="1045159" y="1781251"/>
            <a:ext cx="241402" cy="241402"/>
          </a:xfrm>
          <a:prstGeom prst="rect">
            <a:avLst/>
          </a:prstGeom>
        </p:spPr>
      </p:pic>
      <p:sp>
        <p:nvSpPr>
          <p:cNvPr id="7" name="Text 4"/>
          <p:cNvSpPr/>
          <p:nvPr/>
        </p:nvSpPr>
        <p:spPr>
          <a:xfrm>
            <a:off x="1600200" y="1481328"/>
            <a:ext cx="2743200" cy="841248"/>
          </a:xfrm>
          <a:prstGeom prst="rect">
            <a:avLst/>
          </a:prstGeom>
          <a:noFill/>
          <a:ln/>
        </p:spPr>
        <p:txBody>
          <a:bodyPr wrap="square" lIns="0" tIns="0" rIns="0" bIns="0" rtlCol="0" anchor="ctr"/>
          <a:lstStyle/>
          <a:p>
            <a:pPr indent="0" marL="0">
              <a:buNone/>
            </a:pPr>
            <a:r>
              <a:rPr lang="en-US" sz="1350" b="1" dirty="0">
                <a:solidFill>
                  <a:srgbClr val="12142E"/>
                </a:solidFill>
                <a:latin typeface="Calibri" pitchFamily="34" charset="0"/>
                <a:ea typeface="Calibri" pitchFamily="34" charset="-122"/>
                <a:cs typeface="Calibri" pitchFamily="34" charset="-120"/>
              </a:rPr>
              <a:t>Routing</a:t>
            </a:r>
            <a:endParaRPr lang="en-US" sz="1350" dirty="0"/>
          </a:p>
        </p:txBody>
      </p:sp>
      <p:sp>
        <p:nvSpPr>
          <p:cNvPr id="8" name="Text 5"/>
          <p:cNvSpPr/>
          <p:nvPr/>
        </p:nvSpPr>
        <p:spPr>
          <a:xfrm>
            <a:off x="4434840" y="1481328"/>
            <a:ext cx="6858000" cy="841248"/>
          </a:xfrm>
          <a:prstGeom prst="rect">
            <a:avLst/>
          </a:prstGeom>
          <a:noFill/>
          <a:ln/>
        </p:spPr>
        <p:txBody>
          <a:bodyPr wrap="square" lIns="0" tIns="0" rIns="0" bIns="0" rtlCol="0" anchor="ctr"/>
          <a:lstStyle/>
          <a:p>
            <a:pPr indent="0" marL="0">
              <a:lnSpc>
                <a:spcPct val="115000"/>
              </a:lnSpc>
              <a:buNone/>
            </a:pPr>
            <a:r>
              <a:rPr lang="en-US" sz="1150" dirty="0">
                <a:solidFill>
                  <a:srgbClr val="475569"/>
                </a:solidFill>
                <a:latin typeface="Calibri" pitchFamily="34" charset="0"/>
                <a:ea typeface="Calibri" pitchFamily="34" charset="-122"/>
                <a:cs typeface="Calibri" pitchFamily="34" charset="-120"/>
              </a:rPr>
              <a:t>Deciding which agent, tool, or workflow branch handles the current step</a:t>
            </a:r>
            <a:endParaRPr lang="en-US" sz="1150" dirty="0"/>
          </a:p>
        </p:txBody>
      </p:sp>
      <p:sp>
        <p:nvSpPr>
          <p:cNvPr id="9" name="Shape 6"/>
          <p:cNvSpPr/>
          <p:nvPr/>
        </p:nvSpPr>
        <p:spPr>
          <a:xfrm>
            <a:off x="640080" y="2414016"/>
            <a:ext cx="10881360" cy="841248"/>
          </a:xfrm>
          <a:prstGeom prst="roundRect">
            <a:avLst>
              <a:gd name="adj" fmla="val 8696"/>
            </a:avLst>
          </a:prstGeom>
          <a:solidFill>
            <a:srgbClr val="F5F6FB"/>
          </a:solidFill>
          <a:ln/>
          <a:effectLst>
            <a:outerShdw sx="100000" sy="100000" kx="0" ky="0" algn="bl" rotWithShape="0" blurRad="101600" dist="38100" dir="5400000">
              <a:srgbClr val="12142E">
                <a:alpha val="10000"/>
              </a:srgbClr>
            </a:outerShdw>
          </a:effectLst>
        </p:spPr>
      </p:sp>
      <p:sp>
        <p:nvSpPr>
          <p:cNvPr id="10" name="Shape 7"/>
          <p:cNvSpPr/>
          <p:nvPr/>
        </p:nvSpPr>
        <p:spPr>
          <a:xfrm>
            <a:off x="914400" y="2583180"/>
            <a:ext cx="502920" cy="502920"/>
          </a:xfrm>
          <a:prstGeom prst="ellipse">
            <a:avLst/>
          </a:prstGeom>
          <a:solidFill>
            <a:srgbClr val="FFFFFF"/>
          </a:solidFill>
          <a:ln/>
        </p:spPr>
      </p:sp>
      <p:pic>
        <p:nvPicPr>
          <p:cNvPr id="11" name="Image 1" descr="/home/claude/agents-deck/icons/layers_indigo.png">    </p:cNvPr>
          <p:cNvPicPr>
            <a:picLocks noChangeAspect="1"/>
          </p:cNvPicPr>
          <p:nvPr/>
        </p:nvPicPr>
        <p:blipFill>
          <a:blip r:embed="rId2"/>
          <a:stretch>
            <a:fillRect/>
          </a:stretch>
        </p:blipFill>
        <p:spPr>
          <a:xfrm>
            <a:off x="1045159" y="2713939"/>
            <a:ext cx="241402" cy="241402"/>
          </a:xfrm>
          <a:prstGeom prst="rect">
            <a:avLst/>
          </a:prstGeom>
        </p:spPr>
      </p:pic>
      <p:sp>
        <p:nvSpPr>
          <p:cNvPr id="12" name="Text 8"/>
          <p:cNvSpPr/>
          <p:nvPr/>
        </p:nvSpPr>
        <p:spPr>
          <a:xfrm>
            <a:off x="1600200" y="2414016"/>
            <a:ext cx="2743200" cy="841248"/>
          </a:xfrm>
          <a:prstGeom prst="rect">
            <a:avLst/>
          </a:prstGeom>
          <a:noFill/>
          <a:ln/>
        </p:spPr>
        <p:txBody>
          <a:bodyPr wrap="square" lIns="0" tIns="0" rIns="0" bIns="0" rtlCol="0" anchor="ctr"/>
          <a:lstStyle/>
          <a:p>
            <a:pPr indent="0" marL="0">
              <a:buNone/>
            </a:pPr>
            <a:r>
              <a:rPr lang="en-US" sz="1350" b="1" dirty="0">
                <a:solidFill>
                  <a:srgbClr val="12142E"/>
                </a:solidFill>
                <a:latin typeface="Calibri" pitchFamily="34" charset="0"/>
                <a:ea typeface="Calibri" pitchFamily="34" charset="-122"/>
                <a:cs typeface="Calibri" pitchFamily="34" charset="-120"/>
              </a:rPr>
              <a:t>State Management</a:t>
            </a:r>
            <a:endParaRPr lang="en-US" sz="1350" dirty="0"/>
          </a:p>
        </p:txBody>
      </p:sp>
      <p:sp>
        <p:nvSpPr>
          <p:cNvPr id="13" name="Text 9"/>
          <p:cNvSpPr/>
          <p:nvPr/>
        </p:nvSpPr>
        <p:spPr>
          <a:xfrm>
            <a:off x="4434840" y="2414016"/>
            <a:ext cx="6858000" cy="841248"/>
          </a:xfrm>
          <a:prstGeom prst="rect">
            <a:avLst/>
          </a:prstGeom>
          <a:noFill/>
          <a:ln/>
        </p:spPr>
        <p:txBody>
          <a:bodyPr wrap="square" lIns="0" tIns="0" rIns="0" bIns="0" rtlCol="0" anchor="ctr"/>
          <a:lstStyle/>
          <a:p>
            <a:pPr indent="0" marL="0">
              <a:lnSpc>
                <a:spcPct val="115000"/>
              </a:lnSpc>
              <a:buNone/>
            </a:pPr>
            <a:r>
              <a:rPr lang="en-US" sz="1150" dirty="0">
                <a:solidFill>
                  <a:srgbClr val="475569"/>
                </a:solidFill>
                <a:latin typeface="Calibri" pitchFamily="34" charset="0"/>
                <a:ea typeface="Calibri" pitchFamily="34" charset="-122"/>
                <a:cs typeface="Calibri" pitchFamily="34" charset="-120"/>
              </a:rPr>
              <a:t>Tracking shared context, task progress, and results across steps and agents</a:t>
            </a:r>
            <a:endParaRPr lang="en-US" sz="1150" dirty="0"/>
          </a:p>
        </p:txBody>
      </p:sp>
      <p:sp>
        <p:nvSpPr>
          <p:cNvPr id="14" name="Shape 10"/>
          <p:cNvSpPr/>
          <p:nvPr/>
        </p:nvSpPr>
        <p:spPr>
          <a:xfrm>
            <a:off x="640080" y="3346704"/>
            <a:ext cx="10881360" cy="841248"/>
          </a:xfrm>
          <a:prstGeom prst="roundRect">
            <a:avLst>
              <a:gd name="adj" fmla="val 8696"/>
            </a:avLst>
          </a:prstGeom>
          <a:solidFill>
            <a:srgbClr val="F5F6FB"/>
          </a:solidFill>
          <a:ln/>
          <a:effectLst>
            <a:outerShdw sx="100000" sy="100000" kx="0" ky="0" algn="bl" rotWithShape="0" blurRad="101600" dist="38100" dir="5400000">
              <a:srgbClr val="12142E">
                <a:alpha val="10000"/>
              </a:srgbClr>
            </a:outerShdw>
          </a:effectLst>
        </p:spPr>
      </p:sp>
      <p:sp>
        <p:nvSpPr>
          <p:cNvPr id="15" name="Shape 11"/>
          <p:cNvSpPr/>
          <p:nvPr/>
        </p:nvSpPr>
        <p:spPr>
          <a:xfrm>
            <a:off x="914400" y="3515868"/>
            <a:ext cx="502920" cy="502920"/>
          </a:xfrm>
          <a:prstGeom prst="ellipse">
            <a:avLst/>
          </a:prstGeom>
          <a:solidFill>
            <a:srgbClr val="FFFFFF"/>
          </a:solidFill>
          <a:ln/>
        </p:spPr>
      </p:sp>
      <p:pic>
        <p:nvPicPr>
          <p:cNvPr id="16" name="Image 2" descr="/home/claude/agents-deck/icons/users_indigo.png">    </p:cNvPr>
          <p:cNvPicPr>
            <a:picLocks noChangeAspect="1"/>
          </p:cNvPicPr>
          <p:nvPr/>
        </p:nvPicPr>
        <p:blipFill>
          <a:blip r:embed="rId3"/>
          <a:stretch>
            <a:fillRect/>
          </a:stretch>
        </p:blipFill>
        <p:spPr>
          <a:xfrm>
            <a:off x="1045159" y="3646627"/>
            <a:ext cx="241402" cy="241402"/>
          </a:xfrm>
          <a:prstGeom prst="rect">
            <a:avLst/>
          </a:prstGeom>
        </p:spPr>
      </p:pic>
      <p:sp>
        <p:nvSpPr>
          <p:cNvPr id="17" name="Text 12"/>
          <p:cNvSpPr/>
          <p:nvPr/>
        </p:nvSpPr>
        <p:spPr>
          <a:xfrm>
            <a:off x="1600200" y="3346704"/>
            <a:ext cx="2743200" cy="841248"/>
          </a:xfrm>
          <a:prstGeom prst="rect">
            <a:avLst/>
          </a:prstGeom>
          <a:noFill/>
          <a:ln/>
        </p:spPr>
        <p:txBody>
          <a:bodyPr wrap="square" lIns="0" tIns="0" rIns="0" bIns="0" rtlCol="0" anchor="ctr"/>
          <a:lstStyle/>
          <a:p>
            <a:pPr indent="0" marL="0">
              <a:buNone/>
            </a:pPr>
            <a:r>
              <a:rPr lang="en-US" sz="1350" b="1" dirty="0">
                <a:solidFill>
                  <a:srgbClr val="12142E"/>
                </a:solidFill>
                <a:latin typeface="Calibri" pitchFamily="34" charset="0"/>
                <a:ea typeface="Calibri" pitchFamily="34" charset="-122"/>
                <a:cs typeface="Calibri" pitchFamily="34" charset="-120"/>
              </a:rPr>
              <a:t>Coordination</a:t>
            </a:r>
            <a:endParaRPr lang="en-US" sz="1350" dirty="0"/>
          </a:p>
        </p:txBody>
      </p:sp>
      <p:sp>
        <p:nvSpPr>
          <p:cNvPr id="18" name="Text 13"/>
          <p:cNvSpPr/>
          <p:nvPr/>
        </p:nvSpPr>
        <p:spPr>
          <a:xfrm>
            <a:off x="4434840" y="3346704"/>
            <a:ext cx="6858000" cy="841248"/>
          </a:xfrm>
          <a:prstGeom prst="rect">
            <a:avLst/>
          </a:prstGeom>
          <a:noFill/>
          <a:ln/>
        </p:spPr>
        <p:txBody>
          <a:bodyPr wrap="square" lIns="0" tIns="0" rIns="0" bIns="0" rtlCol="0" anchor="ctr"/>
          <a:lstStyle/>
          <a:p>
            <a:pPr indent="0" marL="0">
              <a:lnSpc>
                <a:spcPct val="115000"/>
              </a:lnSpc>
              <a:buNone/>
            </a:pPr>
            <a:r>
              <a:rPr lang="en-US" sz="1150" dirty="0">
                <a:solidFill>
                  <a:srgbClr val="475569"/>
                </a:solidFill>
                <a:latin typeface="Calibri" pitchFamily="34" charset="0"/>
                <a:ea typeface="Calibri" pitchFamily="34" charset="-122"/>
                <a:cs typeface="Calibri" pitchFamily="34" charset="-120"/>
              </a:rPr>
              <a:t>Sequencing sub-agents, handling handoffs, merging parallel outputs</a:t>
            </a:r>
            <a:endParaRPr lang="en-US" sz="1150" dirty="0"/>
          </a:p>
        </p:txBody>
      </p:sp>
      <p:sp>
        <p:nvSpPr>
          <p:cNvPr id="19" name="Shape 14"/>
          <p:cNvSpPr/>
          <p:nvPr/>
        </p:nvSpPr>
        <p:spPr>
          <a:xfrm>
            <a:off x="640080" y="4279392"/>
            <a:ext cx="10881360" cy="841248"/>
          </a:xfrm>
          <a:prstGeom prst="roundRect">
            <a:avLst>
              <a:gd name="adj" fmla="val 8696"/>
            </a:avLst>
          </a:prstGeom>
          <a:solidFill>
            <a:srgbClr val="F5F6FB"/>
          </a:solidFill>
          <a:ln/>
          <a:effectLst>
            <a:outerShdw sx="100000" sy="100000" kx="0" ky="0" algn="bl" rotWithShape="0" blurRad="101600" dist="38100" dir="5400000">
              <a:srgbClr val="12142E">
                <a:alpha val="10000"/>
              </a:srgbClr>
            </a:outerShdw>
          </a:effectLst>
        </p:spPr>
      </p:sp>
      <p:sp>
        <p:nvSpPr>
          <p:cNvPr id="20" name="Shape 15"/>
          <p:cNvSpPr/>
          <p:nvPr/>
        </p:nvSpPr>
        <p:spPr>
          <a:xfrm>
            <a:off x="914400" y="4448556"/>
            <a:ext cx="502920" cy="502920"/>
          </a:xfrm>
          <a:prstGeom prst="ellipse">
            <a:avLst/>
          </a:prstGeom>
          <a:solidFill>
            <a:srgbClr val="FFFFFF"/>
          </a:solidFill>
          <a:ln/>
        </p:spPr>
      </p:sp>
      <p:pic>
        <p:nvPicPr>
          <p:cNvPr id="21" name="Image 3" descr="/home/claude/agents-deck/icons/warning_indigo.png">    </p:cNvPr>
          <p:cNvPicPr>
            <a:picLocks noChangeAspect="1"/>
          </p:cNvPicPr>
          <p:nvPr/>
        </p:nvPicPr>
        <p:blipFill>
          <a:blip r:embed="rId4"/>
          <a:stretch>
            <a:fillRect/>
          </a:stretch>
        </p:blipFill>
        <p:spPr>
          <a:xfrm>
            <a:off x="1045159" y="4579315"/>
            <a:ext cx="241402" cy="241402"/>
          </a:xfrm>
          <a:prstGeom prst="rect">
            <a:avLst/>
          </a:prstGeom>
        </p:spPr>
      </p:pic>
      <p:sp>
        <p:nvSpPr>
          <p:cNvPr id="22" name="Text 16"/>
          <p:cNvSpPr/>
          <p:nvPr/>
        </p:nvSpPr>
        <p:spPr>
          <a:xfrm>
            <a:off x="1600200" y="4279392"/>
            <a:ext cx="2743200" cy="841248"/>
          </a:xfrm>
          <a:prstGeom prst="rect">
            <a:avLst/>
          </a:prstGeom>
          <a:noFill/>
          <a:ln/>
        </p:spPr>
        <p:txBody>
          <a:bodyPr wrap="square" lIns="0" tIns="0" rIns="0" bIns="0" rtlCol="0" anchor="ctr"/>
          <a:lstStyle/>
          <a:p>
            <a:pPr indent="0" marL="0">
              <a:buNone/>
            </a:pPr>
            <a:r>
              <a:rPr lang="en-US" sz="1350" b="1" dirty="0">
                <a:solidFill>
                  <a:srgbClr val="12142E"/>
                </a:solidFill>
                <a:latin typeface="Calibri" pitchFamily="34" charset="0"/>
                <a:ea typeface="Calibri" pitchFamily="34" charset="-122"/>
                <a:cs typeface="Calibri" pitchFamily="34" charset="-120"/>
              </a:rPr>
              <a:t>Error Handling</a:t>
            </a:r>
            <a:endParaRPr lang="en-US" sz="1350" dirty="0"/>
          </a:p>
        </p:txBody>
      </p:sp>
      <p:sp>
        <p:nvSpPr>
          <p:cNvPr id="23" name="Text 17"/>
          <p:cNvSpPr/>
          <p:nvPr/>
        </p:nvSpPr>
        <p:spPr>
          <a:xfrm>
            <a:off x="4434840" y="4279392"/>
            <a:ext cx="6858000" cy="841248"/>
          </a:xfrm>
          <a:prstGeom prst="rect">
            <a:avLst/>
          </a:prstGeom>
          <a:noFill/>
          <a:ln/>
        </p:spPr>
        <p:txBody>
          <a:bodyPr wrap="square" lIns="0" tIns="0" rIns="0" bIns="0" rtlCol="0" anchor="ctr"/>
          <a:lstStyle/>
          <a:p>
            <a:pPr indent="0" marL="0">
              <a:lnSpc>
                <a:spcPct val="115000"/>
              </a:lnSpc>
              <a:buNone/>
            </a:pPr>
            <a:r>
              <a:rPr lang="en-US" sz="1150" dirty="0">
                <a:solidFill>
                  <a:srgbClr val="475569"/>
                </a:solidFill>
                <a:latin typeface="Calibri" pitchFamily="34" charset="0"/>
                <a:ea typeface="Calibri" pitchFamily="34" charset="-122"/>
                <a:cs typeface="Calibri" pitchFamily="34" charset="-120"/>
              </a:rPr>
              <a:t>Retries, fallbacks, and circuit-breaking when a step or agent fails</a:t>
            </a:r>
            <a:endParaRPr lang="en-US" sz="1150" dirty="0"/>
          </a:p>
        </p:txBody>
      </p:sp>
      <p:sp>
        <p:nvSpPr>
          <p:cNvPr id="24" name="Shape 18"/>
          <p:cNvSpPr/>
          <p:nvPr/>
        </p:nvSpPr>
        <p:spPr>
          <a:xfrm>
            <a:off x="640080" y="5212080"/>
            <a:ext cx="10881360" cy="841248"/>
          </a:xfrm>
          <a:prstGeom prst="roundRect">
            <a:avLst>
              <a:gd name="adj" fmla="val 8696"/>
            </a:avLst>
          </a:prstGeom>
          <a:solidFill>
            <a:srgbClr val="F5F6FB"/>
          </a:solidFill>
          <a:ln/>
          <a:effectLst>
            <a:outerShdw sx="100000" sy="100000" kx="0" ky="0" algn="bl" rotWithShape="0" blurRad="101600" dist="38100" dir="5400000">
              <a:srgbClr val="12142E">
                <a:alpha val="10000"/>
              </a:srgbClr>
            </a:outerShdw>
          </a:effectLst>
        </p:spPr>
      </p:sp>
      <p:sp>
        <p:nvSpPr>
          <p:cNvPr id="25" name="Shape 19"/>
          <p:cNvSpPr/>
          <p:nvPr/>
        </p:nvSpPr>
        <p:spPr>
          <a:xfrm>
            <a:off x="914400" y="5381244"/>
            <a:ext cx="502920" cy="502920"/>
          </a:xfrm>
          <a:prstGeom prst="ellipse">
            <a:avLst/>
          </a:prstGeom>
          <a:solidFill>
            <a:srgbClr val="FFFFFF"/>
          </a:solidFill>
          <a:ln/>
        </p:spPr>
      </p:sp>
      <p:pic>
        <p:nvPicPr>
          <p:cNvPr id="26" name="Image 4" descr="/home/claude/agents-deck/icons/gauge_indigo.png">    </p:cNvPr>
          <p:cNvPicPr>
            <a:picLocks noChangeAspect="1"/>
          </p:cNvPicPr>
          <p:nvPr/>
        </p:nvPicPr>
        <p:blipFill>
          <a:blip r:embed="rId5"/>
          <a:stretch>
            <a:fillRect/>
          </a:stretch>
        </p:blipFill>
        <p:spPr>
          <a:xfrm>
            <a:off x="1045159" y="5512003"/>
            <a:ext cx="241402" cy="241402"/>
          </a:xfrm>
          <a:prstGeom prst="rect">
            <a:avLst/>
          </a:prstGeom>
        </p:spPr>
      </p:pic>
      <p:sp>
        <p:nvSpPr>
          <p:cNvPr id="27" name="Text 20"/>
          <p:cNvSpPr/>
          <p:nvPr/>
        </p:nvSpPr>
        <p:spPr>
          <a:xfrm>
            <a:off x="1600200" y="5212080"/>
            <a:ext cx="2743200" cy="841248"/>
          </a:xfrm>
          <a:prstGeom prst="rect">
            <a:avLst/>
          </a:prstGeom>
          <a:noFill/>
          <a:ln/>
        </p:spPr>
        <p:txBody>
          <a:bodyPr wrap="square" lIns="0" tIns="0" rIns="0" bIns="0" rtlCol="0" anchor="ctr"/>
          <a:lstStyle/>
          <a:p>
            <a:pPr indent="0" marL="0">
              <a:buNone/>
            </a:pPr>
            <a:r>
              <a:rPr lang="en-US" sz="1350" b="1" dirty="0">
                <a:solidFill>
                  <a:srgbClr val="12142E"/>
                </a:solidFill>
                <a:latin typeface="Calibri" pitchFamily="34" charset="0"/>
                <a:ea typeface="Calibri" pitchFamily="34" charset="-122"/>
                <a:cs typeface="Calibri" pitchFamily="34" charset="-120"/>
              </a:rPr>
              <a:t>Cost &amp; Latency Control</a:t>
            </a:r>
            <a:endParaRPr lang="en-US" sz="1350" dirty="0"/>
          </a:p>
        </p:txBody>
      </p:sp>
      <p:sp>
        <p:nvSpPr>
          <p:cNvPr id="28" name="Text 21"/>
          <p:cNvSpPr/>
          <p:nvPr/>
        </p:nvSpPr>
        <p:spPr>
          <a:xfrm>
            <a:off x="4434840" y="5212080"/>
            <a:ext cx="6858000" cy="841248"/>
          </a:xfrm>
          <a:prstGeom prst="rect">
            <a:avLst/>
          </a:prstGeom>
          <a:noFill/>
          <a:ln/>
        </p:spPr>
        <p:txBody>
          <a:bodyPr wrap="square" lIns="0" tIns="0" rIns="0" bIns="0" rtlCol="0" anchor="ctr"/>
          <a:lstStyle/>
          <a:p>
            <a:pPr indent="0" marL="0">
              <a:lnSpc>
                <a:spcPct val="115000"/>
              </a:lnSpc>
              <a:buNone/>
            </a:pPr>
            <a:r>
              <a:rPr lang="en-US" sz="1150" dirty="0">
                <a:solidFill>
                  <a:srgbClr val="475569"/>
                </a:solidFill>
                <a:latin typeface="Calibri" pitchFamily="34" charset="0"/>
                <a:ea typeface="Calibri" pitchFamily="34" charset="-122"/>
                <a:cs typeface="Calibri" pitchFamily="34" charset="-120"/>
              </a:rPr>
              <a:t>Budgeting tokens, calls, and time; choosing cheaper paths when possible</a:t>
            </a:r>
            <a:endParaRPr lang="en-US" sz="1150" dirty="0"/>
          </a:p>
        </p:txBody>
      </p:sp>
      <p:sp>
        <p:nvSpPr>
          <p:cNvPr id="29" name="Text 22"/>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18</a:t>
            </a:r>
            <a:endParaRPr lang="en-US" sz="1000" dirty="0"/>
          </a:p>
        </p:txBody>
      </p:sp>
      <p:sp>
        <p:nvSpPr>
          <p:cNvPr id="30" name="Text 23"/>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ORCHESTRATION LAYER</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Four Orchestration Topologies</a:t>
            </a:r>
            <a:endParaRPr lang="en-US" sz="3000" dirty="0"/>
          </a:p>
        </p:txBody>
      </p:sp>
      <p:sp>
        <p:nvSpPr>
          <p:cNvPr id="4" name="Shape 2"/>
          <p:cNvSpPr/>
          <p:nvPr/>
        </p:nvSpPr>
        <p:spPr>
          <a:xfrm>
            <a:off x="640080" y="1508760"/>
            <a:ext cx="5257800" cy="2286000"/>
          </a:xfrm>
          <a:prstGeom prst="roundRect">
            <a:avLst>
              <a:gd name="adj" fmla="val 3200"/>
            </a:avLst>
          </a:prstGeom>
          <a:solidFill>
            <a:srgbClr val="F5F6FB"/>
          </a:solidFill>
          <a:ln/>
          <a:effectLst>
            <a:outerShdw sx="100000" sy="100000" kx="0" ky="0" algn="bl" rotWithShape="0" blurRad="101600" dist="38100" dir="5400000">
              <a:srgbClr val="12142E">
                <a:alpha val="10000"/>
              </a:srgbClr>
            </a:outerShdw>
          </a:effectLst>
        </p:spPr>
      </p:sp>
      <p:sp>
        <p:nvSpPr>
          <p:cNvPr id="5" name="Text 3"/>
          <p:cNvSpPr/>
          <p:nvPr/>
        </p:nvSpPr>
        <p:spPr>
          <a:xfrm>
            <a:off x="914400" y="1645920"/>
            <a:ext cx="4709160" cy="320040"/>
          </a:xfrm>
          <a:prstGeom prst="rect">
            <a:avLst/>
          </a:prstGeom>
          <a:noFill/>
          <a:ln/>
        </p:spPr>
        <p:txBody>
          <a:bodyPr wrap="square" lIns="0" tIns="0" rIns="0" bIns="0" rtlCol="0" anchor="ctr"/>
          <a:lstStyle/>
          <a:p>
            <a:pPr indent="0" marL="0">
              <a:buNone/>
            </a:pPr>
            <a:r>
              <a:rPr lang="en-US" sz="1450" b="1" dirty="0">
                <a:solidFill>
                  <a:srgbClr val="12142E"/>
                </a:solidFill>
                <a:latin typeface="Calibri" pitchFamily="34" charset="0"/>
                <a:ea typeface="Calibri" pitchFamily="34" charset="-122"/>
                <a:cs typeface="Calibri" pitchFamily="34" charset="-120"/>
              </a:rPr>
              <a:t>Supervisor</a:t>
            </a:r>
            <a:endParaRPr lang="en-US" sz="1450" dirty="0"/>
          </a:p>
        </p:txBody>
      </p:sp>
      <p:sp>
        <p:nvSpPr>
          <p:cNvPr id="6" name="Shape 4"/>
          <p:cNvSpPr/>
          <p:nvPr/>
        </p:nvSpPr>
        <p:spPr>
          <a:xfrm>
            <a:off x="3012948" y="2103120"/>
            <a:ext cx="512064" cy="512064"/>
          </a:xfrm>
          <a:prstGeom prst="ellipse">
            <a:avLst/>
          </a:prstGeom>
          <a:solidFill>
            <a:srgbClr val="12142E"/>
          </a:solidFill>
          <a:ln/>
        </p:spPr>
      </p:sp>
      <p:pic>
        <p:nvPicPr>
          <p:cNvPr id="7" name="Image 0" descr="/home/claude/agents-deck/icons/sitemap_cyan.png">    </p:cNvPr>
          <p:cNvPicPr>
            <a:picLocks noChangeAspect="1"/>
          </p:cNvPicPr>
          <p:nvPr/>
        </p:nvPicPr>
        <p:blipFill>
          <a:blip r:embed="rId1"/>
          <a:stretch>
            <a:fillRect/>
          </a:stretch>
        </p:blipFill>
        <p:spPr>
          <a:xfrm>
            <a:off x="3146085" y="2236257"/>
            <a:ext cx="245791" cy="245791"/>
          </a:xfrm>
          <a:prstGeom prst="rect">
            <a:avLst/>
          </a:prstGeom>
        </p:spPr>
      </p:pic>
      <p:sp>
        <p:nvSpPr>
          <p:cNvPr id="8" name="Shape 5"/>
          <p:cNvSpPr/>
          <p:nvPr/>
        </p:nvSpPr>
        <p:spPr>
          <a:xfrm>
            <a:off x="1495044" y="3017520"/>
            <a:ext cx="438912" cy="438912"/>
          </a:xfrm>
          <a:prstGeom prst="ellipse">
            <a:avLst/>
          </a:prstGeom>
          <a:solidFill>
            <a:srgbClr val="F5F6FB"/>
          </a:solidFill>
          <a:ln/>
        </p:spPr>
      </p:sp>
      <p:pic>
        <p:nvPicPr>
          <p:cNvPr id="9" name="Image 1" descr="/home/claude/agents-deck/icons/robot_indigo.png">    </p:cNvPr>
          <p:cNvPicPr>
            <a:picLocks noChangeAspect="1"/>
          </p:cNvPicPr>
          <p:nvPr/>
        </p:nvPicPr>
        <p:blipFill>
          <a:blip r:embed="rId2"/>
          <a:stretch>
            <a:fillRect/>
          </a:stretch>
        </p:blipFill>
        <p:spPr>
          <a:xfrm>
            <a:off x="1609161" y="3131637"/>
            <a:ext cx="210678" cy="210678"/>
          </a:xfrm>
          <a:prstGeom prst="rect">
            <a:avLst/>
          </a:prstGeom>
        </p:spPr>
      </p:pic>
      <p:sp>
        <p:nvSpPr>
          <p:cNvPr id="10" name="Shape 6"/>
          <p:cNvSpPr/>
          <p:nvPr/>
        </p:nvSpPr>
        <p:spPr>
          <a:xfrm flipV="1">
            <a:off x="1714500" y="2615184"/>
            <a:ext cx="1554480" cy="402336"/>
          </a:xfrm>
          <a:prstGeom prst="line">
            <a:avLst/>
          </a:prstGeom>
          <a:noFill/>
          <a:ln w="12700">
            <a:solidFill>
              <a:srgbClr val="C7C9E6"/>
            </a:solidFill>
            <a:prstDash val="solid"/>
          </a:ln>
        </p:spPr>
      </p:sp>
      <p:sp>
        <p:nvSpPr>
          <p:cNvPr id="11" name="Shape 7"/>
          <p:cNvSpPr/>
          <p:nvPr/>
        </p:nvSpPr>
        <p:spPr>
          <a:xfrm>
            <a:off x="2546604" y="3017520"/>
            <a:ext cx="438912" cy="438912"/>
          </a:xfrm>
          <a:prstGeom prst="ellipse">
            <a:avLst/>
          </a:prstGeom>
          <a:solidFill>
            <a:srgbClr val="F5F6FB"/>
          </a:solidFill>
          <a:ln/>
        </p:spPr>
      </p:sp>
      <p:pic>
        <p:nvPicPr>
          <p:cNvPr id="12" name="Image 2" descr="/home/claude/agents-deck/icons/robot_indigo.png">    </p:cNvPr>
          <p:cNvPicPr>
            <a:picLocks noChangeAspect="1"/>
          </p:cNvPicPr>
          <p:nvPr/>
        </p:nvPicPr>
        <p:blipFill>
          <a:blip r:embed="rId3"/>
          <a:stretch>
            <a:fillRect/>
          </a:stretch>
        </p:blipFill>
        <p:spPr>
          <a:xfrm>
            <a:off x="2660721" y="3131637"/>
            <a:ext cx="210678" cy="210678"/>
          </a:xfrm>
          <a:prstGeom prst="rect">
            <a:avLst/>
          </a:prstGeom>
        </p:spPr>
      </p:pic>
      <p:sp>
        <p:nvSpPr>
          <p:cNvPr id="13" name="Shape 8"/>
          <p:cNvSpPr/>
          <p:nvPr/>
        </p:nvSpPr>
        <p:spPr>
          <a:xfrm flipV="1">
            <a:off x="2766060" y="2615184"/>
            <a:ext cx="502920" cy="402336"/>
          </a:xfrm>
          <a:prstGeom prst="line">
            <a:avLst/>
          </a:prstGeom>
          <a:noFill/>
          <a:ln w="12700">
            <a:solidFill>
              <a:srgbClr val="C7C9E6"/>
            </a:solidFill>
            <a:prstDash val="solid"/>
          </a:ln>
        </p:spPr>
      </p:sp>
      <p:sp>
        <p:nvSpPr>
          <p:cNvPr id="14" name="Shape 9"/>
          <p:cNvSpPr/>
          <p:nvPr/>
        </p:nvSpPr>
        <p:spPr>
          <a:xfrm>
            <a:off x="3598164" y="3017520"/>
            <a:ext cx="438912" cy="438912"/>
          </a:xfrm>
          <a:prstGeom prst="ellipse">
            <a:avLst/>
          </a:prstGeom>
          <a:solidFill>
            <a:srgbClr val="F5F6FB"/>
          </a:solidFill>
          <a:ln/>
        </p:spPr>
      </p:sp>
      <p:pic>
        <p:nvPicPr>
          <p:cNvPr id="15" name="Image 3" descr="/home/claude/agents-deck/icons/robot_indigo.png">    </p:cNvPr>
          <p:cNvPicPr>
            <a:picLocks noChangeAspect="1"/>
          </p:cNvPicPr>
          <p:nvPr/>
        </p:nvPicPr>
        <p:blipFill>
          <a:blip r:embed="rId4"/>
          <a:stretch>
            <a:fillRect/>
          </a:stretch>
        </p:blipFill>
        <p:spPr>
          <a:xfrm>
            <a:off x="3712281" y="3131637"/>
            <a:ext cx="210678" cy="210678"/>
          </a:xfrm>
          <a:prstGeom prst="rect">
            <a:avLst/>
          </a:prstGeom>
        </p:spPr>
      </p:pic>
      <p:sp>
        <p:nvSpPr>
          <p:cNvPr id="16" name="Shape 10"/>
          <p:cNvSpPr/>
          <p:nvPr/>
        </p:nvSpPr>
        <p:spPr>
          <a:xfrm>
            <a:off x="3268980" y="2615184"/>
            <a:ext cx="548640" cy="402336"/>
          </a:xfrm>
          <a:prstGeom prst="line">
            <a:avLst/>
          </a:prstGeom>
          <a:noFill/>
          <a:ln w="12700">
            <a:solidFill>
              <a:srgbClr val="C7C9E6"/>
            </a:solidFill>
            <a:prstDash val="solid"/>
          </a:ln>
        </p:spPr>
      </p:sp>
      <p:sp>
        <p:nvSpPr>
          <p:cNvPr id="17" name="Shape 11"/>
          <p:cNvSpPr/>
          <p:nvPr/>
        </p:nvSpPr>
        <p:spPr>
          <a:xfrm>
            <a:off x="4649724" y="3017520"/>
            <a:ext cx="438912" cy="438912"/>
          </a:xfrm>
          <a:prstGeom prst="ellipse">
            <a:avLst/>
          </a:prstGeom>
          <a:solidFill>
            <a:srgbClr val="F5F6FB"/>
          </a:solidFill>
          <a:ln/>
        </p:spPr>
      </p:sp>
      <p:pic>
        <p:nvPicPr>
          <p:cNvPr id="18" name="Image 4" descr="/home/claude/agents-deck/icons/robot_indigo.png">    </p:cNvPr>
          <p:cNvPicPr>
            <a:picLocks noChangeAspect="1"/>
          </p:cNvPicPr>
          <p:nvPr/>
        </p:nvPicPr>
        <p:blipFill>
          <a:blip r:embed="rId5"/>
          <a:stretch>
            <a:fillRect/>
          </a:stretch>
        </p:blipFill>
        <p:spPr>
          <a:xfrm>
            <a:off x="4763841" y="3131637"/>
            <a:ext cx="210678" cy="210678"/>
          </a:xfrm>
          <a:prstGeom prst="rect">
            <a:avLst/>
          </a:prstGeom>
        </p:spPr>
      </p:pic>
      <p:sp>
        <p:nvSpPr>
          <p:cNvPr id="19" name="Shape 12"/>
          <p:cNvSpPr/>
          <p:nvPr/>
        </p:nvSpPr>
        <p:spPr>
          <a:xfrm>
            <a:off x="3268980" y="2615184"/>
            <a:ext cx="1600200" cy="402336"/>
          </a:xfrm>
          <a:prstGeom prst="line">
            <a:avLst/>
          </a:prstGeom>
          <a:noFill/>
          <a:ln w="12700">
            <a:solidFill>
              <a:srgbClr val="C7C9E6"/>
            </a:solidFill>
            <a:prstDash val="solid"/>
          </a:ln>
        </p:spPr>
      </p:sp>
      <p:sp>
        <p:nvSpPr>
          <p:cNvPr id="20" name="Text 13"/>
          <p:cNvSpPr/>
          <p:nvPr/>
        </p:nvSpPr>
        <p:spPr>
          <a:xfrm>
            <a:off x="914400" y="3291840"/>
            <a:ext cx="470916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One controller agent delegates tasks to worker agents and integrates their results.</a:t>
            </a:r>
            <a:endParaRPr lang="en-US" sz="1000" dirty="0"/>
          </a:p>
        </p:txBody>
      </p:sp>
      <p:sp>
        <p:nvSpPr>
          <p:cNvPr id="21" name="Shape 14"/>
          <p:cNvSpPr/>
          <p:nvPr/>
        </p:nvSpPr>
        <p:spPr>
          <a:xfrm>
            <a:off x="6263640" y="1508760"/>
            <a:ext cx="5257800" cy="2286000"/>
          </a:xfrm>
          <a:prstGeom prst="roundRect">
            <a:avLst>
              <a:gd name="adj" fmla="val 3200"/>
            </a:avLst>
          </a:prstGeom>
          <a:solidFill>
            <a:srgbClr val="F5F6FB"/>
          </a:solidFill>
          <a:ln/>
          <a:effectLst>
            <a:outerShdw sx="100000" sy="100000" kx="0" ky="0" algn="bl" rotWithShape="0" blurRad="101600" dist="38100" dir="5400000">
              <a:srgbClr val="12142E">
                <a:alpha val="10000"/>
              </a:srgbClr>
            </a:outerShdw>
          </a:effectLst>
        </p:spPr>
      </p:sp>
      <p:sp>
        <p:nvSpPr>
          <p:cNvPr id="22" name="Text 15"/>
          <p:cNvSpPr/>
          <p:nvPr/>
        </p:nvSpPr>
        <p:spPr>
          <a:xfrm>
            <a:off x="6537960" y="1645920"/>
            <a:ext cx="4709160" cy="320040"/>
          </a:xfrm>
          <a:prstGeom prst="rect">
            <a:avLst/>
          </a:prstGeom>
          <a:noFill/>
          <a:ln/>
        </p:spPr>
        <p:txBody>
          <a:bodyPr wrap="square" lIns="0" tIns="0" rIns="0" bIns="0" rtlCol="0" anchor="ctr"/>
          <a:lstStyle/>
          <a:p>
            <a:pPr indent="0" marL="0">
              <a:buNone/>
            </a:pPr>
            <a:r>
              <a:rPr lang="en-US" sz="1450" b="1" dirty="0">
                <a:solidFill>
                  <a:srgbClr val="12142E"/>
                </a:solidFill>
                <a:latin typeface="Calibri" pitchFamily="34" charset="0"/>
                <a:ea typeface="Calibri" pitchFamily="34" charset="-122"/>
                <a:cs typeface="Calibri" pitchFamily="34" charset="-120"/>
              </a:rPr>
              <a:t>Hierarchical</a:t>
            </a:r>
            <a:endParaRPr lang="en-US" sz="1450" dirty="0"/>
          </a:p>
        </p:txBody>
      </p:sp>
      <p:sp>
        <p:nvSpPr>
          <p:cNvPr id="23" name="Shape 16"/>
          <p:cNvSpPr/>
          <p:nvPr/>
        </p:nvSpPr>
        <p:spPr>
          <a:xfrm>
            <a:off x="8654796" y="2057400"/>
            <a:ext cx="475488" cy="475488"/>
          </a:xfrm>
          <a:prstGeom prst="ellipse">
            <a:avLst/>
          </a:prstGeom>
          <a:solidFill>
            <a:srgbClr val="12142E"/>
          </a:solidFill>
          <a:ln/>
        </p:spPr>
      </p:sp>
      <p:pic>
        <p:nvPicPr>
          <p:cNvPr id="24" name="Image 5" descr="/home/claude/agents-deck/icons/sitemap_cyan.png">    </p:cNvPr>
          <p:cNvPicPr>
            <a:picLocks noChangeAspect="1"/>
          </p:cNvPicPr>
          <p:nvPr/>
        </p:nvPicPr>
        <p:blipFill>
          <a:blip r:embed="rId6"/>
          <a:stretch>
            <a:fillRect/>
          </a:stretch>
        </p:blipFill>
        <p:spPr>
          <a:xfrm>
            <a:off x="8778423" y="2181027"/>
            <a:ext cx="228234" cy="228234"/>
          </a:xfrm>
          <a:prstGeom prst="rect">
            <a:avLst/>
          </a:prstGeom>
        </p:spPr>
      </p:pic>
      <p:sp>
        <p:nvSpPr>
          <p:cNvPr id="25" name="Shape 17"/>
          <p:cNvSpPr/>
          <p:nvPr/>
        </p:nvSpPr>
        <p:spPr>
          <a:xfrm>
            <a:off x="7685532" y="2788920"/>
            <a:ext cx="402336" cy="402336"/>
          </a:xfrm>
          <a:prstGeom prst="ellipse">
            <a:avLst/>
          </a:prstGeom>
          <a:solidFill>
            <a:srgbClr val="1C1F47"/>
          </a:solidFill>
          <a:ln/>
        </p:spPr>
      </p:sp>
      <p:pic>
        <p:nvPicPr>
          <p:cNvPr id="26" name="Image 6" descr="/home/claude/agents-deck/icons/sitemap_cyan.png">    </p:cNvPr>
          <p:cNvPicPr>
            <a:picLocks noChangeAspect="1"/>
          </p:cNvPicPr>
          <p:nvPr/>
        </p:nvPicPr>
        <p:blipFill>
          <a:blip r:embed="rId7"/>
          <a:stretch>
            <a:fillRect/>
          </a:stretch>
        </p:blipFill>
        <p:spPr>
          <a:xfrm>
            <a:off x="7790139" y="2893527"/>
            <a:ext cx="193121" cy="193121"/>
          </a:xfrm>
          <a:prstGeom prst="rect">
            <a:avLst/>
          </a:prstGeom>
        </p:spPr>
      </p:pic>
      <p:sp>
        <p:nvSpPr>
          <p:cNvPr id="27" name="Shape 18"/>
          <p:cNvSpPr/>
          <p:nvPr/>
        </p:nvSpPr>
        <p:spPr>
          <a:xfrm flipV="1">
            <a:off x="7886700" y="2532888"/>
            <a:ext cx="1005840" cy="256032"/>
          </a:xfrm>
          <a:prstGeom prst="line">
            <a:avLst/>
          </a:prstGeom>
          <a:noFill/>
          <a:ln w="12700">
            <a:solidFill>
              <a:srgbClr val="C7C9E6"/>
            </a:solidFill>
            <a:prstDash val="solid"/>
          </a:ln>
        </p:spPr>
      </p:sp>
      <p:sp>
        <p:nvSpPr>
          <p:cNvPr id="28" name="Shape 19"/>
          <p:cNvSpPr/>
          <p:nvPr/>
        </p:nvSpPr>
        <p:spPr>
          <a:xfrm>
            <a:off x="7200900" y="3429000"/>
            <a:ext cx="365760" cy="365760"/>
          </a:xfrm>
          <a:prstGeom prst="ellipse">
            <a:avLst/>
          </a:prstGeom>
          <a:solidFill>
            <a:srgbClr val="F5F6FB"/>
          </a:solidFill>
          <a:ln/>
        </p:spPr>
      </p:sp>
      <p:pic>
        <p:nvPicPr>
          <p:cNvPr id="29" name="Image 7" descr="/home/claude/agents-deck/icons/robot_indigo.png">    </p:cNvPr>
          <p:cNvPicPr>
            <a:picLocks noChangeAspect="1"/>
          </p:cNvPicPr>
          <p:nvPr/>
        </p:nvPicPr>
        <p:blipFill>
          <a:blip r:embed="rId8"/>
          <a:stretch>
            <a:fillRect/>
          </a:stretch>
        </p:blipFill>
        <p:spPr>
          <a:xfrm>
            <a:off x="7295998" y="3524098"/>
            <a:ext cx="175565" cy="175565"/>
          </a:xfrm>
          <a:prstGeom prst="rect">
            <a:avLst/>
          </a:prstGeom>
        </p:spPr>
      </p:pic>
      <p:sp>
        <p:nvSpPr>
          <p:cNvPr id="30" name="Shape 20"/>
          <p:cNvSpPr/>
          <p:nvPr/>
        </p:nvSpPr>
        <p:spPr>
          <a:xfrm flipV="1">
            <a:off x="7383780" y="3191256"/>
            <a:ext cx="502920" cy="237744"/>
          </a:xfrm>
          <a:prstGeom prst="line">
            <a:avLst/>
          </a:prstGeom>
          <a:noFill/>
          <a:ln w="12700">
            <a:solidFill>
              <a:srgbClr val="C7C9E6"/>
            </a:solidFill>
            <a:prstDash val="solid"/>
          </a:ln>
        </p:spPr>
      </p:sp>
      <p:sp>
        <p:nvSpPr>
          <p:cNvPr id="31" name="Shape 21"/>
          <p:cNvSpPr/>
          <p:nvPr/>
        </p:nvSpPr>
        <p:spPr>
          <a:xfrm>
            <a:off x="8206740" y="3429000"/>
            <a:ext cx="365760" cy="365760"/>
          </a:xfrm>
          <a:prstGeom prst="ellipse">
            <a:avLst/>
          </a:prstGeom>
          <a:solidFill>
            <a:srgbClr val="F5F6FB"/>
          </a:solidFill>
          <a:ln/>
        </p:spPr>
      </p:sp>
      <p:pic>
        <p:nvPicPr>
          <p:cNvPr id="32" name="Image 8" descr="/home/claude/agents-deck/icons/robot_indigo.png">    </p:cNvPr>
          <p:cNvPicPr>
            <a:picLocks noChangeAspect="1"/>
          </p:cNvPicPr>
          <p:nvPr/>
        </p:nvPicPr>
        <p:blipFill>
          <a:blip r:embed="rId9"/>
          <a:stretch>
            <a:fillRect/>
          </a:stretch>
        </p:blipFill>
        <p:spPr>
          <a:xfrm>
            <a:off x="8301838" y="3524098"/>
            <a:ext cx="175565" cy="175565"/>
          </a:xfrm>
          <a:prstGeom prst="rect">
            <a:avLst/>
          </a:prstGeom>
        </p:spPr>
      </p:pic>
      <p:sp>
        <p:nvSpPr>
          <p:cNvPr id="33" name="Shape 22"/>
          <p:cNvSpPr/>
          <p:nvPr/>
        </p:nvSpPr>
        <p:spPr>
          <a:xfrm>
            <a:off x="7886700" y="3191256"/>
            <a:ext cx="502920" cy="237744"/>
          </a:xfrm>
          <a:prstGeom prst="line">
            <a:avLst/>
          </a:prstGeom>
          <a:noFill/>
          <a:ln w="12700">
            <a:solidFill>
              <a:srgbClr val="C7C9E6"/>
            </a:solidFill>
            <a:prstDash val="solid"/>
          </a:ln>
        </p:spPr>
      </p:sp>
      <p:sp>
        <p:nvSpPr>
          <p:cNvPr id="34" name="Shape 23"/>
          <p:cNvSpPr/>
          <p:nvPr/>
        </p:nvSpPr>
        <p:spPr>
          <a:xfrm>
            <a:off x="9697212" y="2788920"/>
            <a:ext cx="402336" cy="402336"/>
          </a:xfrm>
          <a:prstGeom prst="ellipse">
            <a:avLst/>
          </a:prstGeom>
          <a:solidFill>
            <a:srgbClr val="1C1F47"/>
          </a:solidFill>
          <a:ln/>
        </p:spPr>
      </p:sp>
      <p:pic>
        <p:nvPicPr>
          <p:cNvPr id="35" name="Image 9" descr="/home/claude/agents-deck/icons/sitemap_cyan.png">    </p:cNvPr>
          <p:cNvPicPr>
            <a:picLocks noChangeAspect="1"/>
          </p:cNvPicPr>
          <p:nvPr/>
        </p:nvPicPr>
        <p:blipFill>
          <a:blip r:embed="rId10"/>
          <a:stretch>
            <a:fillRect/>
          </a:stretch>
        </p:blipFill>
        <p:spPr>
          <a:xfrm>
            <a:off x="9801819" y="2893527"/>
            <a:ext cx="193121" cy="193121"/>
          </a:xfrm>
          <a:prstGeom prst="rect">
            <a:avLst/>
          </a:prstGeom>
        </p:spPr>
      </p:pic>
      <p:sp>
        <p:nvSpPr>
          <p:cNvPr id="36" name="Shape 24"/>
          <p:cNvSpPr/>
          <p:nvPr/>
        </p:nvSpPr>
        <p:spPr>
          <a:xfrm>
            <a:off x="8892540" y="2532888"/>
            <a:ext cx="1005840" cy="256032"/>
          </a:xfrm>
          <a:prstGeom prst="line">
            <a:avLst/>
          </a:prstGeom>
          <a:noFill/>
          <a:ln w="12700">
            <a:solidFill>
              <a:srgbClr val="C7C9E6"/>
            </a:solidFill>
            <a:prstDash val="solid"/>
          </a:ln>
        </p:spPr>
      </p:sp>
      <p:sp>
        <p:nvSpPr>
          <p:cNvPr id="37" name="Shape 25"/>
          <p:cNvSpPr/>
          <p:nvPr/>
        </p:nvSpPr>
        <p:spPr>
          <a:xfrm>
            <a:off x="9212580" y="3429000"/>
            <a:ext cx="365760" cy="365760"/>
          </a:xfrm>
          <a:prstGeom prst="ellipse">
            <a:avLst/>
          </a:prstGeom>
          <a:solidFill>
            <a:srgbClr val="F5F6FB"/>
          </a:solidFill>
          <a:ln/>
        </p:spPr>
      </p:sp>
      <p:pic>
        <p:nvPicPr>
          <p:cNvPr id="38" name="Image 10" descr="/home/claude/agents-deck/icons/robot_indigo.png">    </p:cNvPr>
          <p:cNvPicPr>
            <a:picLocks noChangeAspect="1"/>
          </p:cNvPicPr>
          <p:nvPr/>
        </p:nvPicPr>
        <p:blipFill>
          <a:blip r:embed="rId11"/>
          <a:stretch>
            <a:fillRect/>
          </a:stretch>
        </p:blipFill>
        <p:spPr>
          <a:xfrm>
            <a:off x="9307678" y="3524098"/>
            <a:ext cx="175565" cy="175565"/>
          </a:xfrm>
          <a:prstGeom prst="rect">
            <a:avLst/>
          </a:prstGeom>
        </p:spPr>
      </p:pic>
      <p:sp>
        <p:nvSpPr>
          <p:cNvPr id="39" name="Shape 26"/>
          <p:cNvSpPr/>
          <p:nvPr/>
        </p:nvSpPr>
        <p:spPr>
          <a:xfrm flipV="1">
            <a:off x="9395460" y="3191256"/>
            <a:ext cx="502920" cy="237744"/>
          </a:xfrm>
          <a:prstGeom prst="line">
            <a:avLst/>
          </a:prstGeom>
          <a:noFill/>
          <a:ln w="12700">
            <a:solidFill>
              <a:srgbClr val="C7C9E6"/>
            </a:solidFill>
            <a:prstDash val="solid"/>
          </a:ln>
        </p:spPr>
      </p:sp>
      <p:sp>
        <p:nvSpPr>
          <p:cNvPr id="40" name="Shape 27"/>
          <p:cNvSpPr/>
          <p:nvPr/>
        </p:nvSpPr>
        <p:spPr>
          <a:xfrm>
            <a:off x="10218420" y="3429000"/>
            <a:ext cx="365760" cy="365760"/>
          </a:xfrm>
          <a:prstGeom prst="ellipse">
            <a:avLst/>
          </a:prstGeom>
          <a:solidFill>
            <a:srgbClr val="F5F6FB"/>
          </a:solidFill>
          <a:ln/>
        </p:spPr>
      </p:sp>
      <p:pic>
        <p:nvPicPr>
          <p:cNvPr id="41" name="Image 11" descr="/home/claude/agents-deck/icons/robot_indigo.png">    </p:cNvPr>
          <p:cNvPicPr>
            <a:picLocks noChangeAspect="1"/>
          </p:cNvPicPr>
          <p:nvPr/>
        </p:nvPicPr>
        <p:blipFill>
          <a:blip r:embed="rId12"/>
          <a:stretch>
            <a:fillRect/>
          </a:stretch>
        </p:blipFill>
        <p:spPr>
          <a:xfrm>
            <a:off x="10313518" y="3524098"/>
            <a:ext cx="175565" cy="175565"/>
          </a:xfrm>
          <a:prstGeom prst="rect">
            <a:avLst/>
          </a:prstGeom>
        </p:spPr>
      </p:pic>
      <p:sp>
        <p:nvSpPr>
          <p:cNvPr id="42" name="Shape 28"/>
          <p:cNvSpPr/>
          <p:nvPr/>
        </p:nvSpPr>
        <p:spPr>
          <a:xfrm>
            <a:off x="9898380" y="3191256"/>
            <a:ext cx="502920" cy="237744"/>
          </a:xfrm>
          <a:prstGeom prst="line">
            <a:avLst/>
          </a:prstGeom>
          <a:noFill/>
          <a:ln w="12700">
            <a:solidFill>
              <a:srgbClr val="C7C9E6"/>
            </a:solidFill>
            <a:prstDash val="solid"/>
          </a:ln>
        </p:spPr>
      </p:sp>
      <p:sp>
        <p:nvSpPr>
          <p:cNvPr id="43" name="Text 29"/>
          <p:cNvSpPr/>
          <p:nvPr/>
        </p:nvSpPr>
        <p:spPr>
          <a:xfrm>
            <a:off x="6537960" y="3291840"/>
            <a:ext cx="470916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Supervisors of supervisors — teams of agents nested under higher-level coordinators.</a:t>
            </a:r>
            <a:endParaRPr lang="en-US" sz="1000" dirty="0"/>
          </a:p>
        </p:txBody>
      </p:sp>
      <p:sp>
        <p:nvSpPr>
          <p:cNvPr id="44" name="Shape 30"/>
          <p:cNvSpPr/>
          <p:nvPr/>
        </p:nvSpPr>
        <p:spPr>
          <a:xfrm>
            <a:off x="640080" y="4023360"/>
            <a:ext cx="5257800" cy="2286000"/>
          </a:xfrm>
          <a:prstGeom prst="roundRect">
            <a:avLst>
              <a:gd name="adj" fmla="val 3200"/>
            </a:avLst>
          </a:prstGeom>
          <a:solidFill>
            <a:srgbClr val="F5F6FB"/>
          </a:solidFill>
          <a:ln/>
          <a:effectLst>
            <a:outerShdw sx="100000" sy="100000" kx="0" ky="0" algn="bl" rotWithShape="0" blurRad="101600" dist="38100" dir="5400000">
              <a:srgbClr val="12142E">
                <a:alpha val="10000"/>
              </a:srgbClr>
            </a:outerShdw>
          </a:effectLst>
        </p:spPr>
      </p:sp>
      <p:sp>
        <p:nvSpPr>
          <p:cNvPr id="45" name="Text 31"/>
          <p:cNvSpPr/>
          <p:nvPr/>
        </p:nvSpPr>
        <p:spPr>
          <a:xfrm>
            <a:off x="914400" y="4160520"/>
            <a:ext cx="4709160" cy="320040"/>
          </a:xfrm>
          <a:prstGeom prst="rect">
            <a:avLst/>
          </a:prstGeom>
          <a:noFill/>
          <a:ln/>
        </p:spPr>
        <p:txBody>
          <a:bodyPr wrap="square" lIns="0" tIns="0" rIns="0" bIns="0" rtlCol="0" anchor="ctr"/>
          <a:lstStyle/>
          <a:p>
            <a:pPr indent="0" marL="0">
              <a:buNone/>
            </a:pPr>
            <a:r>
              <a:rPr lang="en-US" sz="1450" b="1" dirty="0">
                <a:solidFill>
                  <a:srgbClr val="12142E"/>
                </a:solidFill>
                <a:latin typeface="Calibri" pitchFamily="34" charset="0"/>
                <a:ea typeface="Calibri" pitchFamily="34" charset="-122"/>
                <a:cs typeface="Calibri" pitchFamily="34" charset="-120"/>
              </a:rPr>
              <a:t>Pipeline / Sequential</a:t>
            </a:r>
            <a:endParaRPr lang="en-US" sz="1450" dirty="0"/>
          </a:p>
        </p:txBody>
      </p:sp>
      <p:sp>
        <p:nvSpPr>
          <p:cNvPr id="46" name="Shape 32"/>
          <p:cNvSpPr/>
          <p:nvPr/>
        </p:nvSpPr>
        <p:spPr>
          <a:xfrm>
            <a:off x="1097280" y="5029200"/>
            <a:ext cx="502920" cy="502920"/>
          </a:xfrm>
          <a:prstGeom prst="ellipse">
            <a:avLst/>
          </a:prstGeom>
          <a:solidFill>
            <a:srgbClr val="12142E"/>
          </a:solidFill>
          <a:ln/>
        </p:spPr>
      </p:sp>
      <p:pic>
        <p:nvPicPr>
          <p:cNvPr id="47" name="Image 12" descr="/home/claude/agents-deck/icons/robot_cyan.png">    </p:cNvPr>
          <p:cNvPicPr>
            <a:picLocks noChangeAspect="1"/>
          </p:cNvPicPr>
          <p:nvPr/>
        </p:nvPicPr>
        <p:blipFill>
          <a:blip r:embed="rId13"/>
          <a:stretch>
            <a:fillRect/>
          </a:stretch>
        </p:blipFill>
        <p:spPr>
          <a:xfrm>
            <a:off x="1228039" y="5159959"/>
            <a:ext cx="241402" cy="241402"/>
          </a:xfrm>
          <a:prstGeom prst="rect">
            <a:avLst/>
          </a:prstGeom>
        </p:spPr>
      </p:pic>
      <p:sp>
        <p:nvSpPr>
          <p:cNvPr id="48" name="Shape 33"/>
          <p:cNvSpPr/>
          <p:nvPr/>
        </p:nvSpPr>
        <p:spPr>
          <a:xfrm>
            <a:off x="1600200" y="5276088"/>
            <a:ext cx="914400" cy="0"/>
          </a:xfrm>
          <a:prstGeom prst="line">
            <a:avLst/>
          </a:prstGeom>
          <a:noFill/>
          <a:ln w="15875">
            <a:solidFill>
              <a:srgbClr val="C7C9E6"/>
            </a:solidFill>
            <a:prstDash val="solid"/>
          </a:ln>
        </p:spPr>
      </p:sp>
      <p:sp>
        <p:nvSpPr>
          <p:cNvPr id="49" name="Shape 34"/>
          <p:cNvSpPr/>
          <p:nvPr/>
        </p:nvSpPr>
        <p:spPr>
          <a:xfrm>
            <a:off x="2514600" y="5029200"/>
            <a:ext cx="502920" cy="502920"/>
          </a:xfrm>
          <a:prstGeom prst="ellipse">
            <a:avLst/>
          </a:prstGeom>
          <a:solidFill>
            <a:srgbClr val="1C1F47"/>
          </a:solidFill>
          <a:ln/>
        </p:spPr>
      </p:sp>
      <p:pic>
        <p:nvPicPr>
          <p:cNvPr id="50" name="Image 13" descr="/home/claude/agents-deck/icons/robot_cyan.png">    </p:cNvPr>
          <p:cNvPicPr>
            <a:picLocks noChangeAspect="1"/>
          </p:cNvPicPr>
          <p:nvPr/>
        </p:nvPicPr>
        <p:blipFill>
          <a:blip r:embed="rId14"/>
          <a:stretch>
            <a:fillRect/>
          </a:stretch>
        </p:blipFill>
        <p:spPr>
          <a:xfrm>
            <a:off x="2645359" y="5159959"/>
            <a:ext cx="241402" cy="241402"/>
          </a:xfrm>
          <a:prstGeom prst="rect">
            <a:avLst/>
          </a:prstGeom>
        </p:spPr>
      </p:pic>
      <p:sp>
        <p:nvSpPr>
          <p:cNvPr id="51" name="Shape 35"/>
          <p:cNvSpPr/>
          <p:nvPr/>
        </p:nvSpPr>
        <p:spPr>
          <a:xfrm>
            <a:off x="3017520" y="5276088"/>
            <a:ext cx="914400" cy="0"/>
          </a:xfrm>
          <a:prstGeom prst="line">
            <a:avLst/>
          </a:prstGeom>
          <a:noFill/>
          <a:ln w="15875">
            <a:solidFill>
              <a:srgbClr val="C7C9E6"/>
            </a:solidFill>
            <a:prstDash val="solid"/>
          </a:ln>
        </p:spPr>
      </p:sp>
      <p:sp>
        <p:nvSpPr>
          <p:cNvPr id="52" name="Shape 36"/>
          <p:cNvSpPr/>
          <p:nvPr/>
        </p:nvSpPr>
        <p:spPr>
          <a:xfrm>
            <a:off x="3931920" y="5029200"/>
            <a:ext cx="502920" cy="502920"/>
          </a:xfrm>
          <a:prstGeom prst="ellipse">
            <a:avLst/>
          </a:prstGeom>
          <a:solidFill>
            <a:srgbClr val="12142E"/>
          </a:solidFill>
          <a:ln/>
        </p:spPr>
      </p:sp>
      <p:pic>
        <p:nvPicPr>
          <p:cNvPr id="53" name="Image 14" descr="/home/claude/agents-deck/icons/robot_cyan.png">    </p:cNvPr>
          <p:cNvPicPr>
            <a:picLocks noChangeAspect="1"/>
          </p:cNvPicPr>
          <p:nvPr/>
        </p:nvPicPr>
        <p:blipFill>
          <a:blip r:embed="rId15"/>
          <a:stretch>
            <a:fillRect/>
          </a:stretch>
        </p:blipFill>
        <p:spPr>
          <a:xfrm>
            <a:off x="4062679" y="5159959"/>
            <a:ext cx="241402" cy="241402"/>
          </a:xfrm>
          <a:prstGeom prst="rect">
            <a:avLst/>
          </a:prstGeom>
        </p:spPr>
      </p:pic>
      <p:sp>
        <p:nvSpPr>
          <p:cNvPr id="54" name="Shape 37"/>
          <p:cNvSpPr/>
          <p:nvPr/>
        </p:nvSpPr>
        <p:spPr>
          <a:xfrm>
            <a:off x="4434840" y="5276088"/>
            <a:ext cx="914400" cy="0"/>
          </a:xfrm>
          <a:prstGeom prst="line">
            <a:avLst/>
          </a:prstGeom>
          <a:noFill/>
          <a:ln w="15875">
            <a:solidFill>
              <a:srgbClr val="C7C9E6"/>
            </a:solidFill>
            <a:prstDash val="solid"/>
          </a:ln>
        </p:spPr>
      </p:sp>
      <p:sp>
        <p:nvSpPr>
          <p:cNvPr id="55" name="Shape 38"/>
          <p:cNvSpPr/>
          <p:nvPr/>
        </p:nvSpPr>
        <p:spPr>
          <a:xfrm>
            <a:off x="5349240" y="5029200"/>
            <a:ext cx="502920" cy="502920"/>
          </a:xfrm>
          <a:prstGeom prst="ellipse">
            <a:avLst/>
          </a:prstGeom>
          <a:solidFill>
            <a:srgbClr val="1C1F47"/>
          </a:solidFill>
          <a:ln/>
        </p:spPr>
      </p:sp>
      <p:pic>
        <p:nvPicPr>
          <p:cNvPr id="56" name="Image 15" descr="/home/claude/agents-deck/icons/robot_cyan.png">    </p:cNvPr>
          <p:cNvPicPr>
            <a:picLocks noChangeAspect="1"/>
          </p:cNvPicPr>
          <p:nvPr/>
        </p:nvPicPr>
        <p:blipFill>
          <a:blip r:embed="rId16"/>
          <a:stretch>
            <a:fillRect/>
          </a:stretch>
        </p:blipFill>
        <p:spPr>
          <a:xfrm>
            <a:off x="5479999" y="5159959"/>
            <a:ext cx="241402" cy="241402"/>
          </a:xfrm>
          <a:prstGeom prst="rect">
            <a:avLst/>
          </a:prstGeom>
        </p:spPr>
      </p:pic>
      <p:sp>
        <p:nvSpPr>
          <p:cNvPr id="57" name="Text 39"/>
          <p:cNvSpPr/>
          <p:nvPr/>
        </p:nvSpPr>
        <p:spPr>
          <a:xfrm>
            <a:off x="914400" y="5806440"/>
            <a:ext cx="470916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Fixed order hand-off: each agent's output becomes the next agent's input.</a:t>
            </a:r>
            <a:endParaRPr lang="en-US" sz="1000" dirty="0"/>
          </a:p>
        </p:txBody>
      </p:sp>
      <p:sp>
        <p:nvSpPr>
          <p:cNvPr id="58" name="Shape 40"/>
          <p:cNvSpPr/>
          <p:nvPr/>
        </p:nvSpPr>
        <p:spPr>
          <a:xfrm>
            <a:off x="6263640" y="4023360"/>
            <a:ext cx="5257800" cy="2286000"/>
          </a:xfrm>
          <a:prstGeom prst="roundRect">
            <a:avLst>
              <a:gd name="adj" fmla="val 3200"/>
            </a:avLst>
          </a:prstGeom>
          <a:solidFill>
            <a:srgbClr val="F5F6FB"/>
          </a:solidFill>
          <a:ln/>
          <a:effectLst>
            <a:outerShdw sx="100000" sy="100000" kx="0" ky="0" algn="bl" rotWithShape="0" blurRad="101600" dist="38100" dir="5400000">
              <a:srgbClr val="12142E">
                <a:alpha val="10000"/>
              </a:srgbClr>
            </a:outerShdw>
          </a:effectLst>
        </p:spPr>
      </p:sp>
      <p:sp>
        <p:nvSpPr>
          <p:cNvPr id="59" name="Text 41"/>
          <p:cNvSpPr/>
          <p:nvPr/>
        </p:nvSpPr>
        <p:spPr>
          <a:xfrm>
            <a:off x="6537960" y="4160520"/>
            <a:ext cx="4709160" cy="320040"/>
          </a:xfrm>
          <a:prstGeom prst="rect">
            <a:avLst/>
          </a:prstGeom>
          <a:noFill/>
          <a:ln/>
        </p:spPr>
        <p:txBody>
          <a:bodyPr wrap="square" lIns="0" tIns="0" rIns="0" bIns="0" rtlCol="0" anchor="ctr"/>
          <a:lstStyle/>
          <a:p>
            <a:pPr indent="0" marL="0">
              <a:buNone/>
            </a:pPr>
            <a:r>
              <a:rPr lang="en-US" sz="1450" b="1" dirty="0">
                <a:solidFill>
                  <a:srgbClr val="12142E"/>
                </a:solidFill>
                <a:latin typeface="Calibri" pitchFamily="34" charset="0"/>
                <a:ea typeface="Calibri" pitchFamily="34" charset="-122"/>
                <a:cs typeface="Calibri" pitchFamily="34" charset="-120"/>
              </a:rPr>
              <a:t>Blackboard / Shared State</a:t>
            </a:r>
            <a:endParaRPr lang="en-US" sz="1450" dirty="0"/>
          </a:p>
        </p:txBody>
      </p:sp>
      <p:sp>
        <p:nvSpPr>
          <p:cNvPr id="60" name="Shape 42"/>
          <p:cNvSpPr/>
          <p:nvPr/>
        </p:nvSpPr>
        <p:spPr>
          <a:xfrm>
            <a:off x="8069580" y="5029200"/>
            <a:ext cx="1645920" cy="640080"/>
          </a:xfrm>
          <a:prstGeom prst="roundRect">
            <a:avLst>
              <a:gd name="adj" fmla="val 8571"/>
            </a:avLst>
          </a:prstGeom>
          <a:solidFill>
            <a:srgbClr val="12142E"/>
          </a:solidFill>
          <a:ln/>
        </p:spPr>
      </p:sp>
      <p:sp>
        <p:nvSpPr>
          <p:cNvPr id="61" name="Text 43"/>
          <p:cNvSpPr/>
          <p:nvPr/>
        </p:nvSpPr>
        <p:spPr>
          <a:xfrm>
            <a:off x="8069580" y="5029200"/>
            <a:ext cx="1645920" cy="640080"/>
          </a:xfrm>
          <a:prstGeom prst="rect">
            <a:avLst/>
          </a:prstGeom>
          <a:noFill/>
          <a:ln/>
        </p:spPr>
        <p:txBody>
          <a:bodyPr wrap="square" lIns="0" tIns="0" rIns="0" bIns="0" rtlCol="0" anchor="ctr"/>
          <a:lstStyle/>
          <a:p>
            <a:pPr algn="ctr" indent="0" marL="0">
              <a:buNone/>
            </a:pPr>
            <a:r>
              <a:rPr lang="en-US" sz="1000" b="1" dirty="0">
                <a:solidFill>
                  <a:srgbClr val="22D3EE"/>
                </a:solidFill>
                <a:latin typeface="Calibri" pitchFamily="34" charset="0"/>
                <a:ea typeface="Calibri" pitchFamily="34" charset="-122"/>
                <a:cs typeface="Calibri" pitchFamily="34" charset="-120"/>
              </a:rPr>
              <a:t>Shared State</a:t>
            </a:r>
            <a:endParaRPr lang="en-US" sz="1000" dirty="0"/>
          </a:p>
        </p:txBody>
      </p:sp>
      <p:sp>
        <p:nvSpPr>
          <p:cNvPr id="62" name="Shape 44"/>
          <p:cNvSpPr/>
          <p:nvPr/>
        </p:nvSpPr>
        <p:spPr>
          <a:xfrm>
            <a:off x="7063740" y="4663440"/>
            <a:ext cx="411480" cy="411480"/>
          </a:xfrm>
          <a:prstGeom prst="ellipse">
            <a:avLst/>
          </a:prstGeom>
          <a:solidFill>
            <a:srgbClr val="F5F6FB"/>
          </a:solidFill>
          <a:ln/>
        </p:spPr>
      </p:sp>
      <p:pic>
        <p:nvPicPr>
          <p:cNvPr id="63" name="Image 16" descr="/home/claude/agents-deck/icons/robot_indigo.png">    </p:cNvPr>
          <p:cNvPicPr>
            <a:picLocks noChangeAspect="1"/>
          </p:cNvPicPr>
          <p:nvPr/>
        </p:nvPicPr>
        <p:blipFill>
          <a:blip r:embed="rId17"/>
          <a:stretch>
            <a:fillRect/>
          </a:stretch>
        </p:blipFill>
        <p:spPr>
          <a:xfrm>
            <a:off x="7170725" y="4770425"/>
            <a:ext cx="197510" cy="197510"/>
          </a:xfrm>
          <a:prstGeom prst="rect">
            <a:avLst/>
          </a:prstGeom>
        </p:spPr>
      </p:pic>
      <p:sp>
        <p:nvSpPr>
          <p:cNvPr id="64" name="Shape 45"/>
          <p:cNvSpPr/>
          <p:nvPr/>
        </p:nvSpPr>
        <p:spPr>
          <a:xfrm>
            <a:off x="7264908" y="4864608"/>
            <a:ext cx="1627632" cy="484632"/>
          </a:xfrm>
          <a:prstGeom prst="line">
            <a:avLst/>
          </a:prstGeom>
          <a:noFill/>
          <a:ln w="9525">
            <a:solidFill>
              <a:srgbClr val="C7C9E6"/>
            </a:solidFill>
            <a:prstDash val="dash"/>
          </a:ln>
        </p:spPr>
      </p:sp>
      <p:sp>
        <p:nvSpPr>
          <p:cNvPr id="65" name="Shape 46"/>
          <p:cNvSpPr/>
          <p:nvPr/>
        </p:nvSpPr>
        <p:spPr>
          <a:xfrm>
            <a:off x="10126980" y="4663440"/>
            <a:ext cx="411480" cy="411480"/>
          </a:xfrm>
          <a:prstGeom prst="ellipse">
            <a:avLst/>
          </a:prstGeom>
          <a:solidFill>
            <a:srgbClr val="F5F6FB"/>
          </a:solidFill>
          <a:ln/>
        </p:spPr>
      </p:sp>
      <p:pic>
        <p:nvPicPr>
          <p:cNvPr id="66" name="Image 17" descr="/home/claude/agents-deck/icons/robot_indigo.png">    </p:cNvPr>
          <p:cNvPicPr>
            <a:picLocks noChangeAspect="1"/>
          </p:cNvPicPr>
          <p:nvPr/>
        </p:nvPicPr>
        <p:blipFill>
          <a:blip r:embed="rId18"/>
          <a:stretch>
            <a:fillRect/>
          </a:stretch>
        </p:blipFill>
        <p:spPr>
          <a:xfrm>
            <a:off x="10233965" y="4770425"/>
            <a:ext cx="197510" cy="197510"/>
          </a:xfrm>
          <a:prstGeom prst="rect">
            <a:avLst/>
          </a:prstGeom>
        </p:spPr>
      </p:pic>
      <p:sp>
        <p:nvSpPr>
          <p:cNvPr id="67" name="Shape 47"/>
          <p:cNvSpPr/>
          <p:nvPr/>
        </p:nvSpPr>
        <p:spPr>
          <a:xfrm flipV="1">
            <a:off x="8892540" y="4864608"/>
            <a:ext cx="1435608" cy="484632"/>
          </a:xfrm>
          <a:prstGeom prst="line">
            <a:avLst/>
          </a:prstGeom>
          <a:noFill/>
          <a:ln w="9525">
            <a:solidFill>
              <a:srgbClr val="C7C9E6"/>
            </a:solidFill>
            <a:prstDash val="dash"/>
          </a:ln>
        </p:spPr>
      </p:sp>
      <p:sp>
        <p:nvSpPr>
          <p:cNvPr id="68" name="Shape 48"/>
          <p:cNvSpPr/>
          <p:nvPr/>
        </p:nvSpPr>
        <p:spPr>
          <a:xfrm>
            <a:off x="7063740" y="5760720"/>
            <a:ext cx="411480" cy="411480"/>
          </a:xfrm>
          <a:prstGeom prst="ellipse">
            <a:avLst/>
          </a:prstGeom>
          <a:solidFill>
            <a:srgbClr val="F5F6FB"/>
          </a:solidFill>
          <a:ln/>
        </p:spPr>
      </p:sp>
      <p:pic>
        <p:nvPicPr>
          <p:cNvPr id="69" name="Image 18" descr="/home/claude/agents-deck/icons/robot_indigo.png">    </p:cNvPr>
          <p:cNvPicPr>
            <a:picLocks noChangeAspect="1"/>
          </p:cNvPicPr>
          <p:nvPr/>
        </p:nvPicPr>
        <p:blipFill>
          <a:blip r:embed="rId19"/>
          <a:stretch>
            <a:fillRect/>
          </a:stretch>
        </p:blipFill>
        <p:spPr>
          <a:xfrm>
            <a:off x="7170725" y="5867705"/>
            <a:ext cx="197510" cy="197510"/>
          </a:xfrm>
          <a:prstGeom prst="rect">
            <a:avLst/>
          </a:prstGeom>
        </p:spPr>
      </p:pic>
      <p:sp>
        <p:nvSpPr>
          <p:cNvPr id="70" name="Shape 49"/>
          <p:cNvSpPr/>
          <p:nvPr/>
        </p:nvSpPr>
        <p:spPr>
          <a:xfrm flipV="1">
            <a:off x="7264908" y="5349240"/>
            <a:ext cx="1627632" cy="612648"/>
          </a:xfrm>
          <a:prstGeom prst="line">
            <a:avLst/>
          </a:prstGeom>
          <a:noFill/>
          <a:ln w="9525">
            <a:solidFill>
              <a:srgbClr val="C7C9E6"/>
            </a:solidFill>
            <a:prstDash val="dash"/>
          </a:ln>
        </p:spPr>
      </p:sp>
      <p:sp>
        <p:nvSpPr>
          <p:cNvPr id="71" name="Shape 50"/>
          <p:cNvSpPr/>
          <p:nvPr/>
        </p:nvSpPr>
        <p:spPr>
          <a:xfrm>
            <a:off x="10126980" y="5760720"/>
            <a:ext cx="411480" cy="411480"/>
          </a:xfrm>
          <a:prstGeom prst="ellipse">
            <a:avLst/>
          </a:prstGeom>
          <a:solidFill>
            <a:srgbClr val="F5F6FB"/>
          </a:solidFill>
          <a:ln/>
        </p:spPr>
      </p:sp>
      <p:pic>
        <p:nvPicPr>
          <p:cNvPr id="72" name="Image 19" descr="/home/claude/agents-deck/icons/robot_indigo.png">    </p:cNvPr>
          <p:cNvPicPr>
            <a:picLocks noChangeAspect="1"/>
          </p:cNvPicPr>
          <p:nvPr/>
        </p:nvPicPr>
        <p:blipFill>
          <a:blip r:embed="rId20"/>
          <a:stretch>
            <a:fillRect/>
          </a:stretch>
        </p:blipFill>
        <p:spPr>
          <a:xfrm>
            <a:off x="10233965" y="5867705"/>
            <a:ext cx="197510" cy="197510"/>
          </a:xfrm>
          <a:prstGeom prst="rect">
            <a:avLst/>
          </a:prstGeom>
        </p:spPr>
      </p:pic>
      <p:sp>
        <p:nvSpPr>
          <p:cNvPr id="73" name="Shape 51"/>
          <p:cNvSpPr/>
          <p:nvPr/>
        </p:nvSpPr>
        <p:spPr>
          <a:xfrm>
            <a:off x="8892540" y="5349240"/>
            <a:ext cx="1435608" cy="612648"/>
          </a:xfrm>
          <a:prstGeom prst="line">
            <a:avLst/>
          </a:prstGeom>
          <a:noFill/>
          <a:ln w="9525">
            <a:solidFill>
              <a:srgbClr val="C7C9E6"/>
            </a:solidFill>
            <a:prstDash val="dash"/>
          </a:ln>
        </p:spPr>
      </p:sp>
      <p:sp>
        <p:nvSpPr>
          <p:cNvPr id="74" name="Text 52"/>
          <p:cNvSpPr/>
          <p:nvPr/>
        </p:nvSpPr>
        <p:spPr>
          <a:xfrm>
            <a:off x="6537960" y="5806440"/>
            <a:ext cx="470916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Agents read and write to shared state independently; no fixed order.</a:t>
            </a:r>
            <a:endParaRPr lang="en-US" sz="1000" dirty="0"/>
          </a:p>
        </p:txBody>
      </p:sp>
      <p:sp>
        <p:nvSpPr>
          <p:cNvPr id="75" name="Text 53"/>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19</a:t>
            </a:r>
            <a:endParaRPr lang="en-US" sz="1000" dirty="0"/>
          </a:p>
        </p:txBody>
      </p:sp>
      <p:sp>
        <p:nvSpPr>
          <p:cNvPr id="76" name="Text 54"/>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142E"/>
        </a:solidFill>
      </p:bgPr>
    </p:bg>
    <p:spTree>
      <p:nvGrpSpPr>
        <p:cNvPr id="1" name=""/>
        <p:cNvGrpSpPr/>
        <p:nvPr/>
      </p:nvGrpSpPr>
      <p:grpSpPr>
        <a:xfrm>
          <a:off x="0" y="0"/>
          <a:ext cx="0" cy="0"/>
          <a:chOff x="0" y="0"/>
          <a:chExt cx="0" cy="0"/>
        </a:xfrm>
      </p:grpSpPr>
      <p:sp>
        <p:nvSpPr>
          <p:cNvPr id="2" name="Shape 0"/>
          <p:cNvSpPr/>
          <p:nvPr/>
        </p:nvSpPr>
        <p:spPr>
          <a:xfrm>
            <a:off x="914400" y="914400"/>
            <a:ext cx="54864" cy="54864"/>
          </a:xfrm>
          <a:prstGeom prst="ellipse">
            <a:avLst/>
          </a:prstGeom>
          <a:solidFill>
            <a:srgbClr val="2A2D5C"/>
          </a:solidFill>
          <a:ln/>
        </p:spPr>
      </p:sp>
      <p:sp>
        <p:nvSpPr>
          <p:cNvPr id="3" name="Shape 1"/>
          <p:cNvSpPr/>
          <p:nvPr/>
        </p:nvSpPr>
        <p:spPr>
          <a:xfrm>
            <a:off x="1463040" y="2194560"/>
            <a:ext cx="54864" cy="54864"/>
          </a:xfrm>
          <a:prstGeom prst="ellipse">
            <a:avLst/>
          </a:prstGeom>
          <a:solidFill>
            <a:srgbClr val="2A2D5C"/>
          </a:solidFill>
          <a:ln/>
        </p:spPr>
      </p:sp>
      <p:sp>
        <p:nvSpPr>
          <p:cNvPr id="4" name="Shape 2"/>
          <p:cNvSpPr/>
          <p:nvPr/>
        </p:nvSpPr>
        <p:spPr>
          <a:xfrm>
            <a:off x="731520" y="3840480"/>
            <a:ext cx="54864" cy="54864"/>
          </a:xfrm>
          <a:prstGeom prst="ellipse">
            <a:avLst/>
          </a:prstGeom>
          <a:solidFill>
            <a:srgbClr val="2A2D5C"/>
          </a:solidFill>
          <a:ln/>
        </p:spPr>
      </p:sp>
      <p:sp>
        <p:nvSpPr>
          <p:cNvPr id="5" name="Shape 3"/>
          <p:cNvSpPr/>
          <p:nvPr/>
        </p:nvSpPr>
        <p:spPr>
          <a:xfrm>
            <a:off x="1737360" y="5120640"/>
            <a:ext cx="54864" cy="54864"/>
          </a:xfrm>
          <a:prstGeom prst="ellipse">
            <a:avLst/>
          </a:prstGeom>
          <a:solidFill>
            <a:srgbClr val="2A2D5C"/>
          </a:solidFill>
          <a:ln/>
        </p:spPr>
      </p:sp>
      <p:sp>
        <p:nvSpPr>
          <p:cNvPr id="6" name="Shape 4"/>
          <p:cNvSpPr/>
          <p:nvPr/>
        </p:nvSpPr>
        <p:spPr>
          <a:xfrm>
            <a:off x="2377440" y="1463040"/>
            <a:ext cx="54864" cy="54864"/>
          </a:xfrm>
          <a:prstGeom prst="ellipse">
            <a:avLst/>
          </a:prstGeom>
          <a:solidFill>
            <a:srgbClr val="2A2D5C"/>
          </a:solidFill>
          <a:ln/>
        </p:spPr>
      </p:sp>
      <p:sp>
        <p:nvSpPr>
          <p:cNvPr id="7" name="Shape 5"/>
          <p:cNvSpPr/>
          <p:nvPr/>
        </p:nvSpPr>
        <p:spPr>
          <a:xfrm>
            <a:off x="10789920" y="1097280"/>
            <a:ext cx="54864" cy="54864"/>
          </a:xfrm>
          <a:prstGeom prst="ellipse">
            <a:avLst/>
          </a:prstGeom>
          <a:solidFill>
            <a:srgbClr val="2A2D5C"/>
          </a:solidFill>
          <a:ln/>
        </p:spPr>
      </p:sp>
      <p:sp>
        <p:nvSpPr>
          <p:cNvPr id="8" name="Shape 6"/>
          <p:cNvSpPr/>
          <p:nvPr/>
        </p:nvSpPr>
        <p:spPr>
          <a:xfrm>
            <a:off x="11338560" y="2743200"/>
            <a:ext cx="54864" cy="54864"/>
          </a:xfrm>
          <a:prstGeom prst="ellipse">
            <a:avLst/>
          </a:prstGeom>
          <a:solidFill>
            <a:srgbClr val="2A2D5C"/>
          </a:solidFill>
          <a:ln/>
        </p:spPr>
      </p:sp>
      <p:sp>
        <p:nvSpPr>
          <p:cNvPr id="9" name="Shape 7"/>
          <p:cNvSpPr/>
          <p:nvPr/>
        </p:nvSpPr>
        <p:spPr>
          <a:xfrm>
            <a:off x="10515600" y="4572000"/>
            <a:ext cx="54864" cy="54864"/>
          </a:xfrm>
          <a:prstGeom prst="ellipse">
            <a:avLst/>
          </a:prstGeom>
          <a:solidFill>
            <a:srgbClr val="2A2D5C"/>
          </a:solidFill>
          <a:ln/>
        </p:spPr>
      </p:sp>
      <p:sp>
        <p:nvSpPr>
          <p:cNvPr id="10" name="Shape 8"/>
          <p:cNvSpPr/>
          <p:nvPr/>
        </p:nvSpPr>
        <p:spPr>
          <a:xfrm>
            <a:off x="11521440" y="5577840"/>
            <a:ext cx="54864" cy="54864"/>
          </a:xfrm>
          <a:prstGeom prst="ellipse">
            <a:avLst/>
          </a:prstGeom>
          <a:solidFill>
            <a:srgbClr val="2A2D5C"/>
          </a:solidFill>
          <a:ln/>
        </p:spPr>
      </p:sp>
      <p:sp>
        <p:nvSpPr>
          <p:cNvPr id="11" name="Shape 9"/>
          <p:cNvSpPr/>
          <p:nvPr/>
        </p:nvSpPr>
        <p:spPr>
          <a:xfrm>
            <a:off x="9966960" y="2011680"/>
            <a:ext cx="54864" cy="54864"/>
          </a:xfrm>
          <a:prstGeom prst="ellipse">
            <a:avLst/>
          </a:prstGeom>
          <a:solidFill>
            <a:srgbClr val="2A2D5C"/>
          </a:solidFill>
          <a:ln/>
        </p:spPr>
      </p:sp>
      <p:sp>
        <p:nvSpPr>
          <p:cNvPr id="12" name="Text 10"/>
          <p:cNvSpPr/>
          <p:nvPr/>
        </p:nvSpPr>
        <p:spPr>
          <a:xfrm>
            <a:off x="914400" y="2331720"/>
            <a:ext cx="5486400" cy="365760"/>
          </a:xfrm>
          <a:prstGeom prst="rect">
            <a:avLst/>
          </a:prstGeom>
          <a:noFill/>
          <a:ln/>
        </p:spPr>
        <p:txBody>
          <a:bodyPr wrap="square" lIns="0" tIns="0" rIns="0" bIns="0" rtlCol="0" anchor="ctr"/>
          <a:lstStyle/>
          <a:p>
            <a:pPr indent="0" marL="0">
              <a:buNone/>
            </a:pPr>
            <a:r>
              <a:rPr lang="en-US" sz="1300" b="1" spc="300" kern="0" dirty="0">
                <a:solidFill>
                  <a:srgbClr val="22D3EE"/>
                </a:solidFill>
                <a:latin typeface="Calibri" pitchFamily="34" charset="0"/>
                <a:ea typeface="Calibri" pitchFamily="34" charset="-122"/>
                <a:cs typeface="Calibri" pitchFamily="34" charset="-120"/>
              </a:rPr>
              <a:t>SECTION 6 / 7</a:t>
            </a:r>
            <a:endParaRPr lang="en-US" sz="1300" dirty="0"/>
          </a:p>
        </p:txBody>
      </p:sp>
      <p:sp>
        <p:nvSpPr>
          <p:cNvPr id="13" name="Shape 11"/>
          <p:cNvSpPr/>
          <p:nvPr/>
        </p:nvSpPr>
        <p:spPr>
          <a:xfrm>
            <a:off x="9692640" y="2148840"/>
            <a:ext cx="1234440" cy="1234440"/>
          </a:xfrm>
          <a:prstGeom prst="ellipse">
            <a:avLst/>
          </a:prstGeom>
          <a:solidFill>
            <a:srgbClr val="1C1F47"/>
          </a:solidFill>
          <a:ln/>
        </p:spPr>
      </p:sp>
      <p:pic>
        <p:nvPicPr>
          <p:cNvPr id="14" name="Image 0" descr="/home/claude/agents-deck/icons/route_cyan.png">    </p:cNvPr>
          <p:cNvPicPr>
            <a:picLocks noChangeAspect="1"/>
          </p:cNvPicPr>
          <p:nvPr/>
        </p:nvPicPr>
        <p:blipFill>
          <a:blip r:embed="rId1"/>
          <a:stretch>
            <a:fillRect/>
          </a:stretch>
        </p:blipFill>
        <p:spPr>
          <a:xfrm>
            <a:off x="10013594" y="2469794"/>
            <a:ext cx="592531" cy="592531"/>
          </a:xfrm>
          <a:prstGeom prst="rect">
            <a:avLst/>
          </a:prstGeom>
        </p:spPr>
      </p:pic>
      <p:sp>
        <p:nvSpPr>
          <p:cNvPr id="15" name="Text 12"/>
          <p:cNvSpPr/>
          <p:nvPr/>
        </p:nvSpPr>
        <p:spPr>
          <a:xfrm>
            <a:off x="914400" y="2697480"/>
            <a:ext cx="841248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Workflows</a:t>
            </a:r>
            <a:endParaRPr lang="en-US" sz="4400" dirty="0"/>
          </a:p>
        </p:txBody>
      </p:sp>
      <p:sp>
        <p:nvSpPr>
          <p:cNvPr id="16" name="Text 13"/>
          <p:cNvSpPr/>
          <p:nvPr/>
        </p:nvSpPr>
        <p:spPr>
          <a:xfrm>
            <a:off x="914400" y="3794760"/>
            <a:ext cx="7863840" cy="731520"/>
          </a:xfrm>
          <a:prstGeom prst="rect">
            <a:avLst/>
          </a:prstGeom>
          <a:noFill/>
          <a:ln/>
        </p:spPr>
        <p:txBody>
          <a:bodyPr wrap="square" lIns="0" tIns="0" rIns="0" bIns="0" rtlCol="0" anchor="ctr"/>
          <a:lstStyle/>
          <a:p>
            <a:pPr indent="0" marL="0">
              <a:buNone/>
            </a:pPr>
            <a:r>
              <a:rPr lang="en-US" sz="1600" dirty="0">
                <a:solidFill>
                  <a:srgbClr val="8B90B3"/>
                </a:solidFill>
                <a:latin typeface="Calibri" pitchFamily="34" charset="0"/>
                <a:ea typeface="Calibri" pitchFamily="34" charset="-122"/>
                <a:cs typeface="Calibri" pitchFamily="34" charset="-120"/>
              </a:rPr>
              <a:t>Composable patterns for chaining LLM and agent steps reliably.</a:t>
            </a:r>
            <a:endParaRPr lang="en-US" sz="1600" dirty="0"/>
          </a:p>
        </p:txBody>
      </p:sp>
      <p:sp>
        <p:nvSpPr>
          <p:cNvPr id="17" name="Text 14"/>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5A5E8C"/>
                </a:solidFill>
                <a:latin typeface="Calibri" pitchFamily="34" charset="0"/>
                <a:ea typeface="Calibri" pitchFamily="34" charset="-122"/>
                <a:cs typeface="Calibri" pitchFamily="34" charset="-120"/>
              </a:rPr>
              <a:t>20</a:t>
            </a:r>
            <a:endParaRPr lang="en-US" sz="1000" dirty="0"/>
          </a:p>
        </p:txBody>
      </p:sp>
      <p:sp>
        <p:nvSpPr>
          <p:cNvPr id="18" name="Text 15"/>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4A4E7A"/>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WORKFLOWS</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Deterministic vs. Agentic Workflows</a:t>
            </a:r>
            <a:endParaRPr lang="en-US" sz="3000" dirty="0"/>
          </a:p>
        </p:txBody>
      </p:sp>
      <p:sp>
        <p:nvSpPr>
          <p:cNvPr id="4" name="Shape 2"/>
          <p:cNvSpPr/>
          <p:nvPr/>
        </p:nvSpPr>
        <p:spPr>
          <a:xfrm>
            <a:off x="640080" y="1554480"/>
            <a:ext cx="5257800" cy="4251960"/>
          </a:xfrm>
          <a:prstGeom prst="roundRect">
            <a:avLst>
              <a:gd name="adj" fmla="val 1720"/>
            </a:avLst>
          </a:prstGeom>
          <a:solidFill>
            <a:srgbClr val="F5F6FB"/>
          </a:solidFill>
          <a:ln/>
          <a:effectLst>
            <a:outerShdw sx="100000" sy="100000" kx="0" ky="0" algn="bl" rotWithShape="0" blurRad="101600" dist="38100" dir="5400000">
              <a:srgbClr val="12142E">
                <a:alpha val="10000"/>
              </a:srgbClr>
            </a:outerShdw>
          </a:effectLst>
        </p:spPr>
      </p:sp>
      <p:sp>
        <p:nvSpPr>
          <p:cNvPr id="5" name="Shape 3"/>
          <p:cNvSpPr/>
          <p:nvPr/>
        </p:nvSpPr>
        <p:spPr>
          <a:xfrm>
            <a:off x="6263640" y="1554480"/>
            <a:ext cx="5257800" cy="4251960"/>
          </a:xfrm>
          <a:prstGeom prst="roundRect">
            <a:avLst>
              <a:gd name="adj" fmla="val 1720"/>
            </a:avLst>
          </a:prstGeom>
          <a:solidFill>
            <a:srgbClr val="12142E"/>
          </a:solidFill>
          <a:ln/>
          <a:effectLst>
            <a:outerShdw sx="100000" sy="100000" kx="0" ky="0" algn="bl" rotWithShape="0" blurRad="101600" dist="38100" dir="5400000">
              <a:srgbClr val="12142E">
                <a:alpha val="10000"/>
              </a:srgbClr>
            </a:outerShdw>
          </a:effectLst>
        </p:spPr>
      </p:sp>
      <p:sp>
        <p:nvSpPr>
          <p:cNvPr id="6" name="Shape 4"/>
          <p:cNvSpPr/>
          <p:nvPr/>
        </p:nvSpPr>
        <p:spPr>
          <a:xfrm>
            <a:off x="914400" y="1828800"/>
            <a:ext cx="502920" cy="502920"/>
          </a:xfrm>
          <a:prstGeom prst="ellipse">
            <a:avLst/>
          </a:prstGeom>
          <a:solidFill>
            <a:srgbClr val="FFFFFF"/>
          </a:solidFill>
          <a:ln/>
        </p:spPr>
      </p:sp>
      <p:pic>
        <p:nvPicPr>
          <p:cNvPr id="7" name="Image 0" descr="/home/claude/agents-deck/icons/sitemap_indigo.png">    </p:cNvPr>
          <p:cNvPicPr>
            <a:picLocks noChangeAspect="1"/>
          </p:cNvPicPr>
          <p:nvPr/>
        </p:nvPicPr>
        <p:blipFill>
          <a:blip r:embed="rId1"/>
          <a:stretch>
            <a:fillRect/>
          </a:stretch>
        </p:blipFill>
        <p:spPr>
          <a:xfrm>
            <a:off x="1045159" y="1959559"/>
            <a:ext cx="241402" cy="241402"/>
          </a:xfrm>
          <a:prstGeom prst="rect">
            <a:avLst/>
          </a:prstGeom>
        </p:spPr>
      </p:pic>
      <p:sp>
        <p:nvSpPr>
          <p:cNvPr id="8" name="Text 5"/>
          <p:cNvSpPr/>
          <p:nvPr/>
        </p:nvSpPr>
        <p:spPr>
          <a:xfrm>
            <a:off x="1554480" y="1847088"/>
            <a:ext cx="4114800" cy="365760"/>
          </a:xfrm>
          <a:prstGeom prst="rect">
            <a:avLst/>
          </a:prstGeom>
          <a:noFill/>
          <a:ln/>
        </p:spPr>
        <p:txBody>
          <a:bodyPr wrap="square" lIns="0" tIns="0" rIns="0" bIns="0" rtlCol="0" anchor="ctr"/>
          <a:lstStyle/>
          <a:p>
            <a:pPr indent="0" marL="0">
              <a:buNone/>
            </a:pPr>
            <a:r>
              <a:rPr lang="en-US" sz="1550" b="1" dirty="0">
                <a:solidFill>
                  <a:srgbClr val="12142E"/>
                </a:solidFill>
                <a:latin typeface="Calibri" pitchFamily="34" charset="0"/>
                <a:ea typeface="Calibri" pitchFamily="34" charset="-122"/>
                <a:cs typeface="Calibri" pitchFamily="34" charset="-120"/>
              </a:rPr>
              <a:t>Deterministic Workflow</a:t>
            </a:r>
            <a:endParaRPr lang="en-US" sz="1550" dirty="0"/>
          </a:p>
        </p:txBody>
      </p:sp>
      <p:sp>
        <p:nvSpPr>
          <p:cNvPr id="9" name="Text 6"/>
          <p:cNvSpPr/>
          <p:nvPr/>
        </p:nvSpPr>
        <p:spPr>
          <a:xfrm>
            <a:off x="914400" y="2560320"/>
            <a:ext cx="4709160" cy="2926080"/>
          </a:xfrm>
          <a:prstGeom prst="rect">
            <a:avLst/>
          </a:prstGeom>
          <a:noFill/>
          <a:ln/>
        </p:spPr>
        <p:txBody>
          <a:bodyPr wrap="square" lIns="0" tIns="0" rIns="0" bIns="0" rtlCol="0" anchor="ctr"/>
          <a:lstStyle/>
          <a:p>
            <a:pPr marL="342900" indent="-342900">
              <a:spcAft>
                <a:spcPts val="1100"/>
              </a:spcAft>
              <a:buSzPct val="100000"/>
              <a:buChar char="•"/>
            </a:pPr>
            <a:r>
              <a:rPr lang="en-US" sz="1250" dirty="0">
                <a:solidFill>
                  <a:srgbClr val="475569"/>
                </a:solidFill>
                <a:latin typeface="Calibri" pitchFamily="34" charset="0"/>
                <a:ea typeface="Calibri" pitchFamily="34" charset="-122"/>
                <a:cs typeface="Calibri" pitchFamily="34" charset="-120"/>
              </a:rPr>
              <a:t>Fixed sequence of steps, defined in code</a:t>
            </a:r>
            <a:endParaRPr lang="en-US" sz="1250" dirty="0"/>
          </a:p>
          <a:p>
            <a:pPr marL="342900" indent="-342900">
              <a:spcAft>
                <a:spcPts val="1100"/>
              </a:spcAft>
              <a:buSzPct val="100000"/>
              <a:buChar char="•"/>
            </a:pPr>
            <a:r>
              <a:rPr lang="en-US" sz="1250" dirty="0">
                <a:solidFill>
                  <a:srgbClr val="475569"/>
                </a:solidFill>
                <a:latin typeface="Calibri" pitchFamily="34" charset="0"/>
                <a:ea typeface="Calibri" pitchFamily="34" charset="-122"/>
                <a:cs typeface="Calibri" pitchFamily="34" charset="-120"/>
              </a:rPr>
              <a:t>Each step may call an LLM, but control flow doesn't</a:t>
            </a:r>
            <a:endParaRPr lang="en-US" sz="1250" dirty="0"/>
          </a:p>
          <a:p>
            <a:pPr marL="342900" indent="-342900">
              <a:spcAft>
                <a:spcPts val="1100"/>
              </a:spcAft>
              <a:buSzPct val="100000"/>
              <a:buChar char="•"/>
            </a:pPr>
            <a:r>
              <a:rPr lang="en-US" sz="1250" dirty="0">
                <a:solidFill>
                  <a:srgbClr val="475569"/>
                </a:solidFill>
                <a:latin typeface="Calibri" pitchFamily="34" charset="0"/>
                <a:ea typeface="Calibri" pitchFamily="34" charset="-122"/>
                <a:cs typeface="Calibri" pitchFamily="34" charset="-120"/>
              </a:rPr>
              <a:t>Predictable cost, latency, and behavior</a:t>
            </a:r>
            <a:endParaRPr lang="en-US" sz="1250" dirty="0"/>
          </a:p>
          <a:p>
            <a:pPr marL="342900" indent="-342900">
              <a:spcAft>
                <a:spcPts val="1100"/>
              </a:spcAft>
              <a:buSzPct val="100000"/>
              <a:buChar char="•"/>
            </a:pPr>
            <a:r>
              <a:rPr lang="en-US" sz="1250" dirty="0">
                <a:solidFill>
                  <a:srgbClr val="475569"/>
                </a:solidFill>
                <a:latin typeface="Calibri" pitchFamily="34" charset="0"/>
                <a:ea typeface="Calibri" pitchFamily="34" charset="-122"/>
                <a:cs typeface="Calibri" pitchFamily="34" charset="-120"/>
              </a:rPr>
              <a:t>Best when the process is well understood</a:t>
            </a:r>
            <a:endParaRPr lang="en-US" sz="1250" dirty="0"/>
          </a:p>
        </p:txBody>
      </p:sp>
      <p:sp>
        <p:nvSpPr>
          <p:cNvPr id="10" name="Shape 7"/>
          <p:cNvSpPr/>
          <p:nvPr/>
        </p:nvSpPr>
        <p:spPr>
          <a:xfrm>
            <a:off x="6537960" y="1828800"/>
            <a:ext cx="502920" cy="502920"/>
          </a:xfrm>
          <a:prstGeom prst="ellipse">
            <a:avLst/>
          </a:prstGeom>
          <a:solidFill>
            <a:srgbClr val="1C1F47"/>
          </a:solidFill>
          <a:ln/>
        </p:spPr>
      </p:sp>
      <p:pic>
        <p:nvPicPr>
          <p:cNvPr id="11" name="Image 1" descr="/home/claude/agents-deck/icons/robot_cyan.png">    </p:cNvPr>
          <p:cNvPicPr>
            <a:picLocks noChangeAspect="1"/>
          </p:cNvPicPr>
          <p:nvPr/>
        </p:nvPicPr>
        <p:blipFill>
          <a:blip r:embed="rId2"/>
          <a:stretch>
            <a:fillRect/>
          </a:stretch>
        </p:blipFill>
        <p:spPr>
          <a:xfrm>
            <a:off x="6668719" y="1959559"/>
            <a:ext cx="241402" cy="241402"/>
          </a:xfrm>
          <a:prstGeom prst="rect">
            <a:avLst/>
          </a:prstGeom>
        </p:spPr>
      </p:pic>
      <p:sp>
        <p:nvSpPr>
          <p:cNvPr id="12" name="Text 8"/>
          <p:cNvSpPr/>
          <p:nvPr/>
        </p:nvSpPr>
        <p:spPr>
          <a:xfrm>
            <a:off x="7178040" y="1847088"/>
            <a:ext cx="411480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Agentic Workflow</a:t>
            </a:r>
            <a:endParaRPr lang="en-US" sz="1550" dirty="0"/>
          </a:p>
        </p:txBody>
      </p:sp>
      <p:sp>
        <p:nvSpPr>
          <p:cNvPr id="13" name="Text 9"/>
          <p:cNvSpPr/>
          <p:nvPr/>
        </p:nvSpPr>
        <p:spPr>
          <a:xfrm>
            <a:off x="6537960" y="2560320"/>
            <a:ext cx="4709160" cy="2926080"/>
          </a:xfrm>
          <a:prstGeom prst="rect">
            <a:avLst/>
          </a:prstGeom>
          <a:noFill/>
          <a:ln/>
        </p:spPr>
        <p:txBody>
          <a:bodyPr wrap="square" lIns="0" tIns="0" rIns="0" bIns="0" rtlCol="0" anchor="ctr"/>
          <a:lstStyle/>
          <a:p>
            <a:pPr marL="342900" indent="-342900">
              <a:spcAft>
                <a:spcPts val="1100"/>
              </a:spcAft>
              <a:buSzPct val="100000"/>
              <a:buChar char="•"/>
            </a:pPr>
            <a:r>
              <a:rPr lang="en-US" sz="1250" dirty="0">
                <a:solidFill>
                  <a:srgbClr val="C7C9E6"/>
                </a:solidFill>
                <a:latin typeface="Calibri" pitchFamily="34" charset="0"/>
                <a:ea typeface="Calibri" pitchFamily="34" charset="-122"/>
                <a:cs typeface="Calibri" pitchFamily="34" charset="-120"/>
              </a:rPr>
              <a:t>The model decides the sequence and which steps run</a:t>
            </a:r>
            <a:endParaRPr lang="en-US" sz="1250" dirty="0"/>
          </a:p>
          <a:p>
            <a:pPr marL="342900" indent="-342900">
              <a:spcAft>
                <a:spcPts val="1100"/>
              </a:spcAft>
              <a:buSzPct val="100000"/>
              <a:buChar char="•"/>
            </a:pPr>
            <a:r>
              <a:rPr lang="en-US" sz="1250" dirty="0">
                <a:solidFill>
                  <a:srgbClr val="C7C9E6"/>
                </a:solidFill>
                <a:latin typeface="Calibri" pitchFamily="34" charset="0"/>
                <a:ea typeface="Calibri" pitchFamily="34" charset="-122"/>
                <a:cs typeface="Calibri" pitchFamily="34" charset="-120"/>
              </a:rPr>
              <a:t>Control flow itself is delegated to the LLM</a:t>
            </a:r>
            <a:endParaRPr lang="en-US" sz="1250" dirty="0"/>
          </a:p>
          <a:p>
            <a:pPr marL="342900" indent="-342900">
              <a:spcAft>
                <a:spcPts val="1100"/>
              </a:spcAft>
              <a:buSzPct val="100000"/>
              <a:buChar char="•"/>
            </a:pPr>
            <a:r>
              <a:rPr lang="en-US" sz="1250" dirty="0">
                <a:solidFill>
                  <a:srgbClr val="C7C9E6"/>
                </a:solidFill>
                <a:latin typeface="Calibri" pitchFamily="34" charset="0"/>
                <a:ea typeface="Calibri" pitchFamily="34" charset="-122"/>
                <a:cs typeface="Calibri" pitchFamily="34" charset="-120"/>
              </a:rPr>
              <a:t>Flexible, handles the unexpected — less predictable</a:t>
            </a:r>
            <a:endParaRPr lang="en-US" sz="1250" dirty="0"/>
          </a:p>
          <a:p>
            <a:pPr marL="342900" indent="-342900">
              <a:spcAft>
                <a:spcPts val="1100"/>
              </a:spcAft>
              <a:buSzPct val="100000"/>
              <a:buChar char="•"/>
            </a:pPr>
            <a:r>
              <a:rPr lang="en-US" sz="1250" dirty="0">
                <a:solidFill>
                  <a:srgbClr val="C7C9E6"/>
                </a:solidFill>
                <a:latin typeface="Calibri" pitchFamily="34" charset="0"/>
                <a:ea typeface="Calibri" pitchFamily="34" charset="-122"/>
                <a:cs typeface="Calibri" pitchFamily="34" charset="-120"/>
              </a:rPr>
              <a:t>Best when the path can't be fully specified upfront</a:t>
            </a:r>
            <a:endParaRPr lang="en-US" sz="1250" dirty="0"/>
          </a:p>
        </p:txBody>
      </p:sp>
      <p:sp>
        <p:nvSpPr>
          <p:cNvPr id="14" name="Text 10"/>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21</a:t>
            </a:r>
            <a:endParaRPr lang="en-US" sz="1000" dirty="0"/>
          </a:p>
        </p:txBody>
      </p:sp>
      <p:sp>
        <p:nvSpPr>
          <p:cNvPr id="15" name="Text 11"/>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WORKFLOWS</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Five Composable Patterns</a:t>
            </a:r>
            <a:endParaRPr lang="en-US" sz="3000" dirty="0"/>
          </a:p>
        </p:txBody>
      </p:sp>
      <p:sp>
        <p:nvSpPr>
          <p:cNvPr id="4" name="Shape 2"/>
          <p:cNvSpPr/>
          <p:nvPr/>
        </p:nvSpPr>
        <p:spPr>
          <a:xfrm>
            <a:off x="640080" y="1417320"/>
            <a:ext cx="10881360" cy="841248"/>
          </a:xfrm>
          <a:prstGeom prst="roundRect">
            <a:avLst>
              <a:gd name="adj" fmla="val 8696"/>
            </a:avLst>
          </a:prstGeom>
          <a:solidFill>
            <a:srgbClr val="F5F6FB"/>
          </a:solidFill>
          <a:ln/>
          <a:effectLst>
            <a:outerShdw sx="100000" sy="100000" kx="0" ky="0" algn="bl" rotWithShape="0" blurRad="101600" dist="38100" dir="5400000">
              <a:srgbClr val="12142E">
                <a:alpha val="10000"/>
              </a:srgbClr>
            </a:outerShdw>
          </a:effectLst>
        </p:spPr>
      </p:sp>
      <p:sp>
        <p:nvSpPr>
          <p:cNvPr id="5" name="Text 3"/>
          <p:cNvSpPr/>
          <p:nvPr/>
        </p:nvSpPr>
        <p:spPr>
          <a:xfrm>
            <a:off x="914400" y="1417320"/>
            <a:ext cx="2286000" cy="841248"/>
          </a:xfrm>
          <a:prstGeom prst="rect">
            <a:avLst/>
          </a:prstGeom>
          <a:noFill/>
          <a:ln/>
        </p:spPr>
        <p:txBody>
          <a:bodyPr wrap="square" lIns="0" tIns="0" rIns="0" bIns="0" rtlCol="0" anchor="ctr"/>
          <a:lstStyle/>
          <a:p>
            <a:pPr indent="0" marL="0">
              <a:buNone/>
            </a:pPr>
            <a:r>
              <a:rPr lang="en-US" sz="1300" b="1" dirty="0">
                <a:solidFill>
                  <a:srgbClr val="12142E"/>
                </a:solidFill>
                <a:latin typeface="Calibri" pitchFamily="34" charset="0"/>
                <a:ea typeface="Calibri" pitchFamily="34" charset="-122"/>
                <a:cs typeface="Calibri" pitchFamily="34" charset="-120"/>
              </a:rPr>
              <a:t>Prompt Chaining</a:t>
            </a:r>
            <a:endParaRPr lang="en-US" sz="1300" dirty="0"/>
          </a:p>
        </p:txBody>
      </p:sp>
      <p:sp>
        <p:nvSpPr>
          <p:cNvPr id="6" name="Shape 4"/>
          <p:cNvSpPr/>
          <p:nvPr/>
        </p:nvSpPr>
        <p:spPr>
          <a:xfrm>
            <a:off x="3383280" y="1609344"/>
            <a:ext cx="457200" cy="457200"/>
          </a:xfrm>
          <a:prstGeom prst="ellipse">
            <a:avLst/>
          </a:prstGeom>
          <a:solidFill>
            <a:srgbClr val="12142E"/>
          </a:solidFill>
          <a:ln/>
        </p:spPr>
      </p:sp>
      <p:sp>
        <p:nvSpPr>
          <p:cNvPr id="7" name="Text 5"/>
          <p:cNvSpPr/>
          <p:nvPr/>
        </p:nvSpPr>
        <p:spPr>
          <a:xfrm>
            <a:off x="3383280" y="1609344"/>
            <a:ext cx="457200" cy="457200"/>
          </a:xfrm>
          <a:prstGeom prst="rect">
            <a:avLst/>
          </a:prstGeom>
          <a:noFill/>
          <a:ln/>
        </p:spPr>
        <p:txBody>
          <a:bodyPr wrap="square" lIns="0" tIns="0" rIns="0" bIns="0" rtlCol="0" anchor="ctr"/>
          <a:lstStyle/>
          <a:p>
            <a:pPr algn="ctr" indent="0" marL="0">
              <a:buNone/>
            </a:pPr>
            <a:endParaRPr lang="en-US" sz="1200" dirty="0"/>
          </a:p>
        </p:txBody>
      </p:sp>
      <p:sp>
        <p:nvSpPr>
          <p:cNvPr id="8" name="Shape 6"/>
          <p:cNvSpPr/>
          <p:nvPr/>
        </p:nvSpPr>
        <p:spPr>
          <a:xfrm>
            <a:off x="3840480" y="1837944"/>
            <a:ext cx="594360" cy="0"/>
          </a:xfrm>
          <a:prstGeom prst="line">
            <a:avLst/>
          </a:prstGeom>
          <a:noFill/>
          <a:ln w="15875">
            <a:solidFill>
              <a:srgbClr val="C7C9E6"/>
            </a:solidFill>
            <a:prstDash val="solid"/>
          </a:ln>
        </p:spPr>
      </p:sp>
      <p:sp>
        <p:nvSpPr>
          <p:cNvPr id="9" name="Shape 7"/>
          <p:cNvSpPr/>
          <p:nvPr/>
        </p:nvSpPr>
        <p:spPr>
          <a:xfrm>
            <a:off x="4434840" y="1609344"/>
            <a:ext cx="457200" cy="457200"/>
          </a:xfrm>
          <a:prstGeom prst="ellipse">
            <a:avLst/>
          </a:prstGeom>
          <a:solidFill>
            <a:srgbClr val="12142E"/>
          </a:solidFill>
          <a:ln/>
        </p:spPr>
      </p:sp>
      <p:sp>
        <p:nvSpPr>
          <p:cNvPr id="10" name="Text 8"/>
          <p:cNvSpPr/>
          <p:nvPr/>
        </p:nvSpPr>
        <p:spPr>
          <a:xfrm>
            <a:off x="4434840" y="1609344"/>
            <a:ext cx="457200" cy="457200"/>
          </a:xfrm>
          <a:prstGeom prst="rect">
            <a:avLst/>
          </a:prstGeom>
          <a:noFill/>
          <a:ln/>
        </p:spPr>
        <p:txBody>
          <a:bodyPr wrap="square" lIns="0" tIns="0" rIns="0" bIns="0" rtlCol="0" anchor="ctr"/>
          <a:lstStyle/>
          <a:p>
            <a:pPr algn="ctr" indent="0" marL="0">
              <a:buNone/>
            </a:pPr>
            <a:endParaRPr lang="en-US" sz="1200" dirty="0"/>
          </a:p>
        </p:txBody>
      </p:sp>
      <p:sp>
        <p:nvSpPr>
          <p:cNvPr id="11" name="Shape 9"/>
          <p:cNvSpPr/>
          <p:nvPr/>
        </p:nvSpPr>
        <p:spPr>
          <a:xfrm>
            <a:off x="4892040" y="1837944"/>
            <a:ext cx="594360" cy="0"/>
          </a:xfrm>
          <a:prstGeom prst="line">
            <a:avLst/>
          </a:prstGeom>
          <a:noFill/>
          <a:ln w="15875">
            <a:solidFill>
              <a:srgbClr val="C7C9E6"/>
            </a:solidFill>
            <a:prstDash val="solid"/>
          </a:ln>
        </p:spPr>
      </p:sp>
      <p:sp>
        <p:nvSpPr>
          <p:cNvPr id="12" name="Shape 10"/>
          <p:cNvSpPr/>
          <p:nvPr/>
        </p:nvSpPr>
        <p:spPr>
          <a:xfrm>
            <a:off x="5486400" y="1609344"/>
            <a:ext cx="457200" cy="457200"/>
          </a:xfrm>
          <a:prstGeom prst="ellipse">
            <a:avLst/>
          </a:prstGeom>
          <a:solidFill>
            <a:srgbClr val="12142E"/>
          </a:solidFill>
          <a:ln/>
        </p:spPr>
      </p:sp>
      <p:sp>
        <p:nvSpPr>
          <p:cNvPr id="13" name="Text 11"/>
          <p:cNvSpPr/>
          <p:nvPr/>
        </p:nvSpPr>
        <p:spPr>
          <a:xfrm>
            <a:off x="5486400" y="1609344"/>
            <a:ext cx="457200" cy="457200"/>
          </a:xfrm>
          <a:prstGeom prst="rect">
            <a:avLst/>
          </a:prstGeom>
          <a:noFill/>
          <a:ln/>
        </p:spPr>
        <p:txBody>
          <a:bodyPr wrap="square" lIns="0" tIns="0" rIns="0" bIns="0" rtlCol="0" anchor="ctr"/>
          <a:lstStyle/>
          <a:p>
            <a:pPr algn="ctr" indent="0" marL="0">
              <a:buNone/>
            </a:pPr>
            <a:endParaRPr lang="en-US" sz="1200" dirty="0"/>
          </a:p>
        </p:txBody>
      </p:sp>
      <p:sp>
        <p:nvSpPr>
          <p:cNvPr id="14" name="Shape 12"/>
          <p:cNvSpPr/>
          <p:nvPr/>
        </p:nvSpPr>
        <p:spPr>
          <a:xfrm>
            <a:off x="5943600" y="1837944"/>
            <a:ext cx="594360" cy="0"/>
          </a:xfrm>
          <a:prstGeom prst="line">
            <a:avLst/>
          </a:prstGeom>
          <a:noFill/>
          <a:ln w="15875">
            <a:solidFill>
              <a:srgbClr val="C7C9E6"/>
            </a:solidFill>
            <a:prstDash val="solid"/>
          </a:ln>
        </p:spPr>
      </p:sp>
      <p:sp>
        <p:nvSpPr>
          <p:cNvPr id="15" name="Shape 13"/>
          <p:cNvSpPr/>
          <p:nvPr/>
        </p:nvSpPr>
        <p:spPr>
          <a:xfrm>
            <a:off x="6537960" y="1609344"/>
            <a:ext cx="457200" cy="457200"/>
          </a:xfrm>
          <a:prstGeom prst="ellipse">
            <a:avLst/>
          </a:prstGeom>
          <a:solidFill>
            <a:srgbClr val="12142E"/>
          </a:solidFill>
          <a:ln/>
        </p:spPr>
      </p:sp>
      <p:sp>
        <p:nvSpPr>
          <p:cNvPr id="16" name="Text 14"/>
          <p:cNvSpPr/>
          <p:nvPr/>
        </p:nvSpPr>
        <p:spPr>
          <a:xfrm>
            <a:off x="6537960" y="1609344"/>
            <a:ext cx="457200" cy="457200"/>
          </a:xfrm>
          <a:prstGeom prst="rect">
            <a:avLst/>
          </a:prstGeom>
          <a:noFill/>
          <a:ln/>
        </p:spPr>
        <p:txBody>
          <a:bodyPr wrap="square" lIns="0" tIns="0" rIns="0" bIns="0" rtlCol="0" anchor="ctr"/>
          <a:lstStyle/>
          <a:p>
            <a:pPr algn="ctr" indent="0" marL="0">
              <a:buNone/>
            </a:pPr>
            <a:endParaRPr lang="en-US" sz="1200" dirty="0"/>
          </a:p>
        </p:txBody>
      </p:sp>
      <p:sp>
        <p:nvSpPr>
          <p:cNvPr id="17" name="Text 15"/>
          <p:cNvSpPr/>
          <p:nvPr/>
        </p:nvSpPr>
        <p:spPr>
          <a:xfrm>
            <a:off x="6583680" y="1417320"/>
            <a:ext cx="4754880" cy="841248"/>
          </a:xfrm>
          <a:prstGeom prst="rect">
            <a:avLst/>
          </a:prstGeom>
          <a:noFill/>
          <a:ln/>
        </p:spPr>
        <p:txBody>
          <a:bodyPr wrap="square" lIns="0" tIns="0" rIns="0" bIns="0" rtlCol="0" anchor="ctr"/>
          <a:lstStyle/>
          <a:p>
            <a:pPr indent="0" marL="0">
              <a:lnSpc>
                <a:spcPct val="110000"/>
              </a:lnSpc>
              <a:buNone/>
            </a:pPr>
            <a:r>
              <a:rPr lang="en-US" sz="1050" dirty="0">
                <a:solidFill>
                  <a:srgbClr val="475569"/>
                </a:solidFill>
                <a:latin typeface="Calibri" pitchFamily="34" charset="0"/>
                <a:ea typeface="Calibri" pitchFamily="34" charset="-122"/>
                <a:cs typeface="Calibri" pitchFamily="34" charset="-120"/>
              </a:rPr>
              <a:t>Fixed sequence: output of step N feeds step N+1 directly.</a:t>
            </a:r>
            <a:endParaRPr lang="en-US" sz="1050" dirty="0"/>
          </a:p>
        </p:txBody>
      </p:sp>
      <p:sp>
        <p:nvSpPr>
          <p:cNvPr id="18" name="Shape 16"/>
          <p:cNvSpPr/>
          <p:nvPr/>
        </p:nvSpPr>
        <p:spPr>
          <a:xfrm>
            <a:off x="640080" y="2350008"/>
            <a:ext cx="10881360" cy="841248"/>
          </a:xfrm>
          <a:prstGeom prst="roundRect">
            <a:avLst>
              <a:gd name="adj" fmla="val 8696"/>
            </a:avLst>
          </a:prstGeom>
          <a:solidFill>
            <a:srgbClr val="F5F6FB"/>
          </a:solidFill>
          <a:ln/>
          <a:effectLst>
            <a:outerShdw sx="100000" sy="100000" kx="0" ky="0" algn="bl" rotWithShape="0" blurRad="101600" dist="38100" dir="5400000">
              <a:srgbClr val="12142E">
                <a:alpha val="10000"/>
              </a:srgbClr>
            </a:outerShdw>
          </a:effectLst>
        </p:spPr>
      </p:sp>
      <p:sp>
        <p:nvSpPr>
          <p:cNvPr id="19" name="Text 17"/>
          <p:cNvSpPr/>
          <p:nvPr/>
        </p:nvSpPr>
        <p:spPr>
          <a:xfrm>
            <a:off x="914400" y="2350008"/>
            <a:ext cx="2286000" cy="841248"/>
          </a:xfrm>
          <a:prstGeom prst="rect">
            <a:avLst/>
          </a:prstGeom>
          <a:noFill/>
          <a:ln/>
        </p:spPr>
        <p:txBody>
          <a:bodyPr wrap="square" lIns="0" tIns="0" rIns="0" bIns="0" rtlCol="0" anchor="ctr"/>
          <a:lstStyle/>
          <a:p>
            <a:pPr indent="0" marL="0">
              <a:buNone/>
            </a:pPr>
            <a:r>
              <a:rPr lang="en-US" sz="1300" b="1" dirty="0">
                <a:solidFill>
                  <a:srgbClr val="12142E"/>
                </a:solidFill>
                <a:latin typeface="Calibri" pitchFamily="34" charset="0"/>
                <a:ea typeface="Calibri" pitchFamily="34" charset="-122"/>
                <a:cs typeface="Calibri" pitchFamily="34" charset="-120"/>
              </a:rPr>
              <a:t>Routing</a:t>
            </a:r>
            <a:endParaRPr lang="en-US" sz="1300" dirty="0"/>
          </a:p>
        </p:txBody>
      </p:sp>
      <p:sp>
        <p:nvSpPr>
          <p:cNvPr id="20" name="Shape 18"/>
          <p:cNvSpPr/>
          <p:nvPr/>
        </p:nvSpPr>
        <p:spPr>
          <a:xfrm>
            <a:off x="3383280" y="2542032"/>
            <a:ext cx="457200" cy="457200"/>
          </a:xfrm>
          <a:prstGeom prst="ellipse">
            <a:avLst/>
          </a:prstGeom>
          <a:solidFill>
            <a:srgbClr val="4F5BD5"/>
          </a:solidFill>
          <a:ln/>
        </p:spPr>
      </p:sp>
      <p:sp>
        <p:nvSpPr>
          <p:cNvPr id="21" name="Text 19"/>
          <p:cNvSpPr/>
          <p:nvPr/>
        </p:nvSpPr>
        <p:spPr>
          <a:xfrm>
            <a:off x="3383280" y="254203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22" name="Shape 20"/>
          <p:cNvSpPr/>
          <p:nvPr/>
        </p:nvSpPr>
        <p:spPr>
          <a:xfrm>
            <a:off x="3840480" y="2770632"/>
            <a:ext cx="594360" cy="0"/>
          </a:xfrm>
          <a:prstGeom prst="line">
            <a:avLst/>
          </a:prstGeom>
          <a:noFill/>
          <a:ln w="15875">
            <a:solidFill>
              <a:srgbClr val="C7C9E6"/>
            </a:solidFill>
            <a:prstDash val="solid"/>
          </a:ln>
        </p:spPr>
      </p:sp>
      <p:sp>
        <p:nvSpPr>
          <p:cNvPr id="23" name="Shape 21"/>
          <p:cNvSpPr/>
          <p:nvPr/>
        </p:nvSpPr>
        <p:spPr>
          <a:xfrm>
            <a:off x="4434840" y="2542032"/>
            <a:ext cx="457200" cy="457200"/>
          </a:xfrm>
          <a:prstGeom prst="ellipse">
            <a:avLst/>
          </a:prstGeom>
          <a:solidFill>
            <a:srgbClr val="12142E"/>
          </a:solidFill>
          <a:ln/>
        </p:spPr>
      </p:sp>
      <p:sp>
        <p:nvSpPr>
          <p:cNvPr id="24" name="Text 22"/>
          <p:cNvSpPr/>
          <p:nvPr/>
        </p:nvSpPr>
        <p:spPr>
          <a:xfrm>
            <a:off x="4434840" y="2542032"/>
            <a:ext cx="457200" cy="457200"/>
          </a:xfrm>
          <a:prstGeom prst="rect">
            <a:avLst/>
          </a:prstGeom>
          <a:noFill/>
          <a:ln/>
        </p:spPr>
        <p:txBody>
          <a:bodyPr wrap="square" lIns="0" tIns="0" rIns="0" bIns="0" rtlCol="0" anchor="ctr"/>
          <a:lstStyle/>
          <a:p>
            <a:pPr algn="ctr" indent="0" marL="0">
              <a:buNone/>
            </a:pPr>
            <a:endParaRPr lang="en-US" sz="1200" dirty="0"/>
          </a:p>
        </p:txBody>
      </p:sp>
      <p:sp>
        <p:nvSpPr>
          <p:cNvPr id="25" name="Shape 23"/>
          <p:cNvSpPr/>
          <p:nvPr/>
        </p:nvSpPr>
        <p:spPr>
          <a:xfrm>
            <a:off x="4892040" y="2770632"/>
            <a:ext cx="594360" cy="0"/>
          </a:xfrm>
          <a:prstGeom prst="line">
            <a:avLst/>
          </a:prstGeom>
          <a:noFill/>
          <a:ln w="15875">
            <a:solidFill>
              <a:srgbClr val="C7C9E6"/>
            </a:solidFill>
            <a:prstDash val="solid"/>
          </a:ln>
        </p:spPr>
      </p:sp>
      <p:sp>
        <p:nvSpPr>
          <p:cNvPr id="26" name="Shape 24"/>
          <p:cNvSpPr/>
          <p:nvPr/>
        </p:nvSpPr>
        <p:spPr>
          <a:xfrm>
            <a:off x="5486400" y="2542032"/>
            <a:ext cx="457200" cy="457200"/>
          </a:xfrm>
          <a:prstGeom prst="ellipse">
            <a:avLst/>
          </a:prstGeom>
          <a:solidFill>
            <a:srgbClr val="12142E"/>
          </a:solidFill>
          <a:ln/>
        </p:spPr>
      </p:sp>
      <p:sp>
        <p:nvSpPr>
          <p:cNvPr id="27" name="Text 25"/>
          <p:cNvSpPr/>
          <p:nvPr/>
        </p:nvSpPr>
        <p:spPr>
          <a:xfrm>
            <a:off x="5486400" y="2542032"/>
            <a:ext cx="457200" cy="457200"/>
          </a:xfrm>
          <a:prstGeom prst="rect">
            <a:avLst/>
          </a:prstGeom>
          <a:noFill/>
          <a:ln/>
        </p:spPr>
        <p:txBody>
          <a:bodyPr wrap="square" lIns="0" tIns="0" rIns="0" bIns="0" rtlCol="0" anchor="ctr"/>
          <a:lstStyle/>
          <a:p>
            <a:pPr algn="ctr" indent="0" marL="0">
              <a:buNone/>
            </a:pPr>
            <a:endParaRPr lang="en-US" sz="1200" dirty="0"/>
          </a:p>
        </p:txBody>
      </p:sp>
      <p:sp>
        <p:nvSpPr>
          <p:cNvPr id="28" name="Text 26"/>
          <p:cNvSpPr/>
          <p:nvPr/>
        </p:nvSpPr>
        <p:spPr>
          <a:xfrm>
            <a:off x="6583680" y="2350008"/>
            <a:ext cx="4754880" cy="841248"/>
          </a:xfrm>
          <a:prstGeom prst="rect">
            <a:avLst/>
          </a:prstGeom>
          <a:noFill/>
          <a:ln/>
        </p:spPr>
        <p:txBody>
          <a:bodyPr wrap="square" lIns="0" tIns="0" rIns="0" bIns="0" rtlCol="0" anchor="ctr"/>
          <a:lstStyle/>
          <a:p>
            <a:pPr indent="0" marL="0">
              <a:lnSpc>
                <a:spcPct val="110000"/>
              </a:lnSpc>
              <a:buNone/>
            </a:pPr>
            <a:r>
              <a:rPr lang="en-US" sz="1050" dirty="0">
                <a:solidFill>
                  <a:srgbClr val="475569"/>
                </a:solidFill>
                <a:latin typeface="Calibri" pitchFamily="34" charset="0"/>
                <a:ea typeface="Calibri" pitchFamily="34" charset="-122"/>
                <a:cs typeface="Calibri" pitchFamily="34" charset="-120"/>
              </a:rPr>
              <a:t>A classifier step sends input down one of several specialized paths.</a:t>
            </a:r>
            <a:endParaRPr lang="en-US" sz="1050" dirty="0"/>
          </a:p>
        </p:txBody>
      </p:sp>
      <p:sp>
        <p:nvSpPr>
          <p:cNvPr id="29" name="Shape 27"/>
          <p:cNvSpPr/>
          <p:nvPr/>
        </p:nvSpPr>
        <p:spPr>
          <a:xfrm>
            <a:off x="640080" y="3282696"/>
            <a:ext cx="10881360" cy="841248"/>
          </a:xfrm>
          <a:prstGeom prst="roundRect">
            <a:avLst>
              <a:gd name="adj" fmla="val 8696"/>
            </a:avLst>
          </a:prstGeom>
          <a:solidFill>
            <a:srgbClr val="F5F6FB"/>
          </a:solidFill>
          <a:ln/>
          <a:effectLst>
            <a:outerShdw sx="100000" sy="100000" kx="0" ky="0" algn="bl" rotWithShape="0" blurRad="101600" dist="38100" dir="5400000">
              <a:srgbClr val="12142E">
                <a:alpha val="10000"/>
              </a:srgbClr>
            </a:outerShdw>
          </a:effectLst>
        </p:spPr>
      </p:sp>
      <p:sp>
        <p:nvSpPr>
          <p:cNvPr id="30" name="Text 28"/>
          <p:cNvSpPr/>
          <p:nvPr/>
        </p:nvSpPr>
        <p:spPr>
          <a:xfrm>
            <a:off x="914400" y="3282696"/>
            <a:ext cx="2286000" cy="841248"/>
          </a:xfrm>
          <a:prstGeom prst="rect">
            <a:avLst/>
          </a:prstGeom>
          <a:noFill/>
          <a:ln/>
        </p:spPr>
        <p:txBody>
          <a:bodyPr wrap="square" lIns="0" tIns="0" rIns="0" bIns="0" rtlCol="0" anchor="ctr"/>
          <a:lstStyle/>
          <a:p>
            <a:pPr indent="0" marL="0">
              <a:buNone/>
            </a:pPr>
            <a:r>
              <a:rPr lang="en-US" sz="1300" b="1" dirty="0">
                <a:solidFill>
                  <a:srgbClr val="12142E"/>
                </a:solidFill>
                <a:latin typeface="Calibri" pitchFamily="34" charset="0"/>
                <a:ea typeface="Calibri" pitchFamily="34" charset="-122"/>
                <a:cs typeface="Calibri" pitchFamily="34" charset="-120"/>
              </a:rPr>
              <a:t>Parallelization</a:t>
            </a:r>
            <a:endParaRPr lang="en-US" sz="1300" dirty="0"/>
          </a:p>
        </p:txBody>
      </p:sp>
      <p:sp>
        <p:nvSpPr>
          <p:cNvPr id="31" name="Shape 29"/>
          <p:cNvSpPr/>
          <p:nvPr/>
        </p:nvSpPr>
        <p:spPr>
          <a:xfrm>
            <a:off x="3383280" y="3474720"/>
            <a:ext cx="457200" cy="457200"/>
          </a:xfrm>
          <a:prstGeom prst="ellipse">
            <a:avLst/>
          </a:prstGeom>
          <a:solidFill>
            <a:srgbClr val="12142E"/>
          </a:solidFill>
          <a:ln/>
        </p:spPr>
      </p:sp>
      <p:sp>
        <p:nvSpPr>
          <p:cNvPr id="32" name="Text 30"/>
          <p:cNvSpPr/>
          <p:nvPr/>
        </p:nvSpPr>
        <p:spPr>
          <a:xfrm>
            <a:off x="3383280" y="3474720"/>
            <a:ext cx="457200" cy="457200"/>
          </a:xfrm>
          <a:prstGeom prst="rect">
            <a:avLst/>
          </a:prstGeom>
          <a:noFill/>
          <a:ln/>
        </p:spPr>
        <p:txBody>
          <a:bodyPr wrap="square" lIns="0" tIns="0" rIns="0" bIns="0" rtlCol="0" anchor="ctr"/>
          <a:lstStyle/>
          <a:p>
            <a:pPr algn="ctr" indent="0" marL="0">
              <a:buNone/>
            </a:pPr>
            <a:endParaRPr lang="en-US" sz="1200" dirty="0"/>
          </a:p>
        </p:txBody>
      </p:sp>
      <p:sp>
        <p:nvSpPr>
          <p:cNvPr id="33" name="Shape 31"/>
          <p:cNvSpPr/>
          <p:nvPr/>
        </p:nvSpPr>
        <p:spPr>
          <a:xfrm>
            <a:off x="3840480" y="3703320"/>
            <a:ext cx="594360" cy="0"/>
          </a:xfrm>
          <a:prstGeom prst="line">
            <a:avLst/>
          </a:prstGeom>
          <a:noFill/>
          <a:ln w="15875">
            <a:solidFill>
              <a:srgbClr val="C7C9E6"/>
            </a:solidFill>
            <a:prstDash val="solid"/>
          </a:ln>
        </p:spPr>
      </p:sp>
      <p:sp>
        <p:nvSpPr>
          <p:cNvPr id="34" name="Shape 32"/>
          <p:cNvSpPr/>
          <p:nvPr/>
        </p:nvSpPr>
        <p:spPr>
          <a:xfrm>
            <a:off x="4434840" y="3474720"/>
            <a:ext cx="457200" cy="457200"/>
          </a:xfrm>
          <a:prstGeom prst="ellipse">
            <a:avLst/>
          </a:prstGeom>
          <a:solidFill>
            <a:srgbClr val="12142E"/>
          </a:solidFill>
          <a:ln/>
        </p:spPr>
      </p:sp>
      <p:sp>
        <p:nvSpPr>
          <p:cNvPr id="35" name="Text 33"/>
          <p:cNvSpPr/>
          <p:nvPr/>
        </p:nvSpPr>
        <p:spPr>
          <a:xfrm>
            <a:off x="4434840" y="3474720"/>
            <a:ext cx="457200" cy="457200"/>
          </a:xfrm>
          <a:prstGeom prst="rect">
            <a:avLst/>
          </a:prstGeom>
          <a:noFill/>
          <a:ln/>
        </p:spPr>
        <p:txBody>
          <a:bodyPr wrap="square" lIns="0" tIns="0" rIns="0" bIns="0" rtlCol="0" anchor="ctr"/>
          <a:lstStyle/>
          <a:p>
            <a:pPr algn="ctr" indent="0" marL="0">
              <a:buNone/>
            </a:pPr>
            <a:endParaRPr lang="en-US" sz="1200" dirty="0"/>
          </a:p>
        </p:txBody>
      </p:sp>
      <p:sp>
        <p:nvSpPr>
          <p:cNvPr id="36" name="Shape 34"/>
          <p:cNvSpPr/>
          <p:nvPr/>
        </p:nvSpPr>
        <p:spPr>
          <a:xfrm>
            <a:off x="4892040" y="3703320"/>
            <a:ext cx="594360" cy="0"/>
          </a:xfrm>
          <a:prstGeom prst="line">
            <a:avLst/>
          </a:prstGeom>
          <a:noFill/>
          <a:ln w="15875">
            <a:solidFill>
              <a:srgbClr val="C7C9E6"/>
            </a:solidFill>
            <a:prstDash val="solid"/>
          </a:ln>
        </p:spPr>
      </p:sp>
      <p:sp>
        <p:nvSpPr>
          <p:cNvPr id="37" name="Shape 35"/>
          <p:cNvSpPr/>
          <p:nvPr/>
        </p:nvSpPr>
        <p:spPr>
          <a:xfrm>
            <a:off x="5486400" y="3474720"/>
            <a:ext cx="457200" cy="457200"/>
          </a:xfrm>
          <a:prstGeom prst="ellipse">
            <a:avLst/>
          </a:prstGeom>
          <a:solidFill>
            <a:srgbClr val="12142E"/>
          </a:solidFill>
          <a:ln/>
        </p:spPr>
      </p:sp>
      <p:sp>
        <p:nvSpPr>
          <p:cNvPr id="38" name="Text 36"/>
          <p:cNvSpPr/>
          <p:nvPr/>
        </p:nvSpPr>
        <p:spPr>
          <a:xfrm>
            <a:off x="5486400" y="3474720"/>
            <a:ext cx="457200" cy="457200"/>
          </a:xfrm>
          <a:prstGeom prst="rect">
            <a:avLst/>
          </a:prstGeom>
          <a:noFill/>
          <a:ln/>
        </p:spPr>
        <p:txBody>
          <a:bodyPr wrap="square" lIns="0" tIns="0" rIns="0" bIns="0" rtlCol="0" anchor="ctr"/>
          <a:lstStyle/>
          <a:p>
            <a:pPr algn="ctr" indent="0" marL="0">
              <a:buNone/>
            </a:pPr>
            <a:endParaRPr lang="en-US" sz="1200" dirty="0"/>
          </a:p>
        </p:txBody>
      </p:sp>
      <p:sp>
        <p:nvSpPr>
          <p:cNvPr id="39" name="Text 37"/>
          <p:cNvSpPr/>
          <p:nvPr/>
        </p:nvSpPr>
        <p:spPr>
          <a:xfrm>
            <a:off x="6583680" y="3282696"/>
            <a:ext cx="4754880" cy="841248"/>
          </a:xfrm>
          <a:prstGeom prst="rect">
            <a:avLst/>
          </a:prstGeom>
          <a:noFill/>
          <a:ln/>
        </p:spPr>
        <p:txBody>
          <a:bodyPr wrap="square" lIns="0" tIns="0" rIns="0" bIns="0" rtlCol="0" anchor="ctr"/>
          <a:lstStyle/>
          <a:p>
            <a:pPr indent="0" marL="0">
              <a:lnSpc>
                <a:spcPct val="110000"/>
              </a:lnSpc>
              <a:buNone/>
            </a:pPr>
            <a:r>
              <a:rPr lang="en-US" sz="1050" dirty="0">
                <a:solidFill>
                  <a:srgbClr val="475569"/>
                </a:solidFill>
                <a:latin typeface="Calibri" pitchFamily="34" charset="0"/>
                <a:ea typeface="Calibri" pitchFamily="34" charset="-122"/>
                <a:cs typeface="Calibri" pitchFamily="34" charset="-120"/>
              </a:rPr>
              <a:t>Independent sub-tasks run at once, then results are aggregated.</a:t>
            </a:r>
            <a:endParaRPr lang="en-US" sz="1050" dirty="0"/>
          </a:p>
        </p:txBody>
      </p:sp>
      <p:sp>
        <p:nvSpPr>
          <p:cNvPr id="40" name="Shape 38"/>
          <p:cNvSpPr/>
          <p:nvPr/>
        </p:nvSpPr>
        <p:spPr>
          <a:xfrm>
            <a:off x="640080" y="4215384"/>
            <a:ext cx="10881360" cy="841248"/>
          </a:xfrm>
          <a:prstGeom prst="roundRect">
            <a:avLst>
              <a:gd name="adj" fmla="val 8696"/>
            </a:avLst>
          </a:prstGeom>
          <a:solidFill>
            <a:srgbClr val="F5F6FB"/>
          </a:solidFill>
          <a:ln/>
          <a:effectLst>
            <a:outerShdw sx="100000" sy="100000" kx="0" ky="0" algn="bl" rotWithShape="0" blurRad="101600" dist="38100" dir="5400000">
              <a:srgbClr val="12142E">
                <a:alpha val="10000"/>
              </a:srgbClr>
            </a:outerShdw>
          </a:effectLst>
        </p:spPr>
      </p:sp>
      <p:sp>
        <p:nvSpPr>
          <p:cNvPr id="41" name="Text 39"/>
          <p:cNvSpPr/>
          <p:nvPr/>
        </p:nvSpPr>
        <p:spPr>
          <a:xfrm>
            <a:off x="914400" y="4215384"/>
            <a:ext cx="2286000" cy="841248"/>
          </a:xfrm>
          <a:prstGeom prst="rect">
            <a:avLst/>
          </a:prstGeom>
          <a:noFill/>
          <a:ln/>
        </p:spPr>
        <p:txBody>
          <a:bodyPr wrap="square" lIns="0" tIns="0" rIns="0" bIns="0" rtlCol="0" anchor="ctr"/>
          <a:lstStyle/>
          <a:p>
            <a:pPr indent="0" marL="0">
              <a:buNone/>
            </a:pPr>
            <a:r>
              <a:rPr lang="en-US" sz="1300" b="1" dirty="0">
                <a:solidFill>
                  <a:srgbClr val="12142E"/>
                </a:solidFill>
                <a:latin typeface="Calibri" pitchFamily="34" charset="0"/>
                <a:ea typeface="Calibri" pitchFamily="34" charset="-122"/>
                <a:cs typeface="Calibri" pitchFamily="34" charset="-120"/>
              </a:rPr>
              <a:t>Orchestrator–Workers</a:t>
            </a:r>
            <a:endParaRPr lang="en-US" sz="1300" dirty="0"/>
          </a:p>
        </p:txBody>
      </p:sp>
      <p:sp>
        <p:nvSpPr>
          <p:cNvPr id="42" name="Shape 40"/>
          <p:cNvSpPr/>
          <p:nvPr/>
        </p:nvSpPr>
        <p:spPr>
          <a:xfrm>
            <a:off x="3383280" y="4407408"/>
            <a:ext cx="457200" cy="457200"/>
          </a:xfrm>
          <a:prstGeom prst="ellipse">
            <a:avLst/>
          </a:prstGeom>
          <a:solidFill>
            <a:srgbClr val="12142E"/>
          </a:solidFill>
          <a:ln/>
        </p:spPr>
      </p:sp>
      <p:sp>
        <p:nvSpPr>
          <p:cNvPr id="43" name="Text 41"/>
          <p:cNvSpPr/>
          <p:nvPr/>
        </p:nvSpPr>
        <p:spPr>
          <a:xfrm>
            <a:off x="3383280" y="4407408"/>
            <a:ext cx="457200" cy="457200"/>
          </a:xfrm>
          <a:prstGeom prst="rect">
            <a:avLst/>
          </a:prstGeom>
          <a:noFill/>
          <a:ln/>
        </p:spPr>
        <p:txBody>
          <a:bodyPr wrap="square" lIns="0" tIns="0" rIns="0" bIns="0" rtlCol="0" anchor="ctr"/>
          <a:lstStyle/>
          <a:p>
            <a:pPr algn="ctr" indent="0" marL="0">
              <a:buNone/>
            </a:pPr>
            <a:endParaRPr lang="en-US" sz="1200" dirty="0"/>
          </a:p>
        </p:txBody>
      </p:sp>
      <p:sp>
        <p:nvSpPr>
          <p:cNvPr id="44" name="Shape 42"/>
          <p:cNvSpPr/>
          <p:nvPr/>
        </p:nvSpPr>
        <p:spPr>
          <a:xfrm>
            <a:off x="3840480" y="4636008"/>
            <a:ext cx="594360" cy="0"/>
          </a:xfrm>
          <a:prstGeom prst="line">
            <a:avLst/>
          </a:prstGeom>
          <a:noFill/>
          <a:ln w="15875">
            <a:solidFill>
              <a:srgbClr val="C7C9E6"/>
            </a:solidFill>
            <a:prstDash val="solid"/>
          </a:ln>
        </p:spPr>
      </p:sp>
      <p:sp>
        <p:nvSpPr>
          <p:cNvPr id="45" name="Shape 43"/>
          <p:cNvSpPr/>
          <p:nvPr/>
        </p:nvSpPr>
        <p:spPr>
          <a:xfrm>
            <a:off x="4434840" y="4407408"/>
            <a:ext cx="457200" cy="457200"/>
          </a:xfrm>
          <a:prstGeom prst="ellipse">
            <a:avLst/>
          </a:prstGeom>
          <a:solidFill>
            <a:srgbClr val="12142E"/>
          </a:solidFill>
          <a:ln/>
        </p:spPr>
      </p:sp>
      <p:sp>
        <p:nvSpPr>
          <p:cNvPr id="46" name="Text 44"/>
          <p:cNvSpPr/>
          <p:nvPr/>
        </p:nvSpPr>
        <p:spPr>
          <a:xfrm>
            <a:off x="4434840" y="4407408"/>
            <a:ext cx="457200" cy="457200"/>
          </a:xfrm>
          <a:prstGeom prst="rect">
            <a:avLst/>
          </a:prstGeom>
          <a:noFill/>
          <a:ln/>
        </p:spPr>
        <p:txBody>
          <a:bodyPr wrap="square" lIns="0" tIns="0" rIns="0" bIns="0" rtlCol="0" anchor="ctr"/>
          <a:lstStyle/>
          <a:p>
            <a:pPr algn="ctr" indent="0" marL="0">
              <a:buNone/>
            </a:pPr>
            <a:endParaRPr lang="en-US" sz="1200" dirty="0"/>
          </a:p>
        </p:txBody>
      </p:sp>
      <p:sp>
        <p:nvSpPr>
          <p:cNvPr id="47" name="Shape 45"/>
          <p:cNvSpPr/>
          <p:nvPr/>
        </p:nvSpPr>
        <p:spPr>
          <a:xfrm>
            <a:off x="4892040" y="4636008"/>
            <a:ext cx="594360" cy="0"/>
          </a:xfrm>
          <a:prstGeom prst="line">
            <a:avLst/>
          </a:prstGeom>
          <a:noFill/>
          <a:ln w="15875">
            <a:solidFill>
              <a:srgbClr val="C7C9E6"/>
            </a:solidFill>
            <a:prstDash val="solid"/>
          </a:ln>
        </p:spPr>
      </p:sp>
      <p:sp>
        <p:nvSpPr>
          <p:cNvPr id="48" name="Shape 46"/>
          <p:cNvSpPr/>
          <p:nvPr/>
        </p:nvSpPr>
        <p:spPr>
          <a:xfrm>
            <a:off x="5486400" y="4407408"/>
            <a:ext cx="457200" cy="457200"/>
          </a:xfrm>
          <a:prstGeom prst="ellipse">
            <a:avLst/>
          </a:prstGeom>
          <a:solidFill>
            <a:srgbClr val="12142E"/>
          </a:solidFill>
          <a:ln/>
        </p:spPr>
      </p:sp>
      <p:sp>
        <p:nvSpPr>
          <p:cNvPr id="49" name="Text 47"/>
          <p:cNvSpPr/>
          <p:nvPr/>
        </p:nvSpPr>
        <p:spPr>
          <a:xfrm>
            <a:off x="5486400" y="4407408"/>
            <a:ext cx="457200" cy="457200"/>
          </a:xfrm>
          <a:prstGeom prst="rect">
            <a:avLst/>
          </a:prstGeom>
          <a:noFill/>
          <a:ln/>
        </p:spPr>
        <p:txBody>
          <a:bodyPr wrap="square" lIns="0" tIns="0" rIns="0" bIns="0" rtlCol="0" anchor="ctr"/>
          <a:lstStyle/>
          <a:p>
            <a:pPr algn="ctr" indent="0" marL="0">
              <a:buNone/>
            </a:pPr>
            <a:endParaRPr lang="en-US" sz="1200" dirty="0"/>
          </a:p>
        </p:txBody>
      </p:sp>
      <p:sp>
        <p:nvSpPr>
          <p:cNvPr id="50" name="Shape 48"/>
          <p:cNvSpPr/>
          <p:nvPr/>
        </p:nvSpPr>
        <p:spPr>
          <a:xfrm>
            <a:off x="5943600" y="4636008"/>
            <a:ext cx="594360" cy="0"/>
          </a:xfrm>
          <a:prstGeom prst="line">
            <a:avLst/>
          </a:prstGeom>
          <a:noFill/>
          <a:ln w="15875">
            <a:solidFill>
              <a:srgbClr val="C7C9E6"/>
            </a:solidFill>
            <a:prstDash val="solid"/>
          </a:ln>
        </p:spPr>
      </p:sp>
      <p:sp>
        <p:nvSpPr>
          <p:cNvPr id="51" name="Shape 49"/>
          <p:cNvSpPr/>
          <p:nvPr/>
        </p:nvSpPr>
        <p:spPr>
          <a:xfrm>
            <a:off x="6537960" y="4407408"/>
            <a:ext cx="457200" cy="457200"/>
          </a:xfrm>
          <a:prstGeom prst="ellipse">
            <a:avLst/>
          </a:prstGeom>
          <a:solidFill>
            <a:srgbClr val="12142E"/>
          </a:solidFill>
          <a:ln/>
        </p:spPr>
      </p:sp>
      <p:sp>
        <p:nvSpPr>
          <p:cNvPr id="52" name="Text 50"/>
          <p:cNvSpPr/>
          <p:nvPr/>
        </p:nvSpPr>
        <p:spPr>
          <a:xfrm>
            <a:off x="6537960" y="4407408"/>
            <a:ext cx="457200" cy="457200"/>
          </a:xfrm>
          <a:prstGeom prst="rect">
            <a:avLst/>
          </a:prstGeom>
          <a:noFill/>
          <a:ln/>
        </p:spPr>
        <p:txBody>
          <a:bodyPr wrap="square" lIns="0" tIns="0" rIns="0" bIns="0" rtlCol="0" anchor="ctr"/>
          <a:lstStyle/>
          <a:p>
            <a:pPr algn="ctr" indent="0" marL="0">
              <a:buNone/>
            </a:pPr>
            <a:endParaRPr lang="en-US" sz="1200" dirty="0"/>
          </a:p>
        </p:txBody>
      </p:sp>
      <p:sp>
        <p:nvSpPr>
          <p:cNvPr id="53" name="Text 51"/>
          <p:cNvSpPr/>
          <p:nvPr/>
        </p:nvSpPr>
        <p:spPr>
          <a:xfrm>
            <a:off x="6583680" y="4215384"/>
            <a:ext cx="4754880" cy="841248"/>
          </a:xfrm>
          <a:prstGeom prst="rect">
            <a:avLst/>
          </a:prstGeom>
          <a:noFill/>
          <a:ln/>
        </p:spPr>
        <p:txBody>
          <a:bodyPr wrap="square" lIns="0" tIns="0" rIns="0" bIns="0" rtlCol="0" anchor="ctr"/>
          <a:lstStyle/>
          <a:p>
            <a:pPr indent="0" marL="0">
              <a:lnSpc>
                <a:spcPct val="110000"/>
              </a:lnSpc>
              <a:buNone/>
            </a:pPr>
            <a:r>
              <a:rPr lang="en-US" sz="1050" dirty="0">
                <a:solidFill>
                  <a:srgbClr val="475569"/>
                </a:solidFill>
                <a:latin typeface="Calibri" pitchFamily="34" charset="0"/>
                <a:ea typeface="Calibri" pitchFamily="34" charset="-122"/>
                <a:cs typeface="Calibri" pitchFamily="34" charset="-120"/>
              </a:rPr>
              <a:t>A lead step breaks work into pieces and dispatches to workers.</a:t>
            </a:r>
            <a:endParaRPr lang="en-US" sz="1050" dirty="0"/>
          </a:p>
        </p:txBody>
      </p:sp>
      <p:sp>
        <p:nvSpPr>
          <p:cNvPr id="54" name="Shape 52"/>
          <p:cNvSpPr/>
          <p:nvPr/>
        </p:nvSpPr>
        <p:spPr>
          <a:xfrm>
            <a:off x="640080" y="5148072"/>
            <a:ext cx="10881360" cy="841248"/>
          </a:xfrm>
          <a:prstGeom prst="roundRect">
            <a:avLst>
              <a:gd name="adj" fmla="val 8696"/>
            </a:avLst>
          </a:prstGeom>
          <a:solidFill>
            <a:srgbClr val="F5F6FB"/>
          </a:solidFill>
          <a:ln/>
          <a:effectLst>
            <a:outerShdw sx="100000" sy="100000" kx="0" ky="0" algn="bl" rotWithShape="0" blurRad="101600" dist="38100" dir="5400000">
              <a:srgbClr val="12142E">
                <a:alpha val="10000"/>
              </a:srgbClr>
            </a:outerShdw>
          </a:effectLst>
        </p:spPr>
      </p:sp>
      <p:sp>
        <p:nvSpPr>
          <p:cNvPr id="55" name="Text 53"/>
          <p:cNvSpPr/>
          <p:nvPr/>
        </p:nvSpPr>
        <p:spPr>
          <a:xfrm>
            <a:off x="914400" y="5148072"/>
            <a:ext cx="2286000" cy="841248"/>
          </a:xfrm>
          <a:prstGeom prst="rect">
            <a:avLst/>
          </a:prstGeom>
          <a:noFill/>
          <a:ln/>
        </p:spPr>
        <p:txBody>
          <a:bodyPr wrap="square" lIns="0" tIns="0" rIns="0" bIns="0" rtlCol="0" anchor="ctr"/>
          <a:lstStyle/>
          <a:p>
            <a:pPr indent="0" marL="0">
              <a:buNone/>
            </a:pPr>
            <a:r>
              <a:rPr lang="en-US" sz="1300" b="1" dirty="0">
                <a:solidFill>
                  <a:srgbClr val="12142E"/>
                </a:solidFill>
                <a:latin typeface="Calibri" pitchFamily="34" charset="0"/>
                <a:ea typeface="Calibri" pitchFamily="34" charset="-122"/>
                <a:cs typeface="Calibri" pitchFamily="34" charset="-120"/>
              </a:rPr>
              <a:t>Evaluator–Optimizer</a:t>
            </a:r>
            <a:endParaRPr lang="en-US" sz="1300" dirty="0"/>
          </a:p>
        </p:txBody>
      </p:sp>
      <p:sp>
        <p:nvSpPr>
          <p:cNvPr id="56" name="Shape 54"/>
          <p:cNvSpPr/>
          <p:nvPr/>
        </p:nvSpPr>
        <p:spPr>
          <a:xfrm>
            <a:off x="3383280" y="5340096"/>
            <a:ext cx="457200" cy="457200"/>
          </a:xfrm>
          <a:prstGeom prst="ellipse">
            <a:avLst/>
          </a:prstGeom>
          <a:solidFill>
            <a:srgbClr val="12142E"/>
          </a:solidFill>
          <a:ln/>
        </p:spPr>
      </p:sp>
      <p:sp>
        <p:nvSpPr>
          <p:cNvPr id="57" name="Text 55"/>
          <p:cNvSpPr/>
          <p:nvPr/>
        </p:nvSpPr>
        <p:spPr>
          <a:xfrm>
            <a:off x="3383280" y="5340096"/>
            <a:ext cx="457200" cy="457200"/>
          </a:xfrm>
          <a:prstGeom prst="rect">
            <a:avLst/>
          </a:prstGeom>
          <a:noFill/>
          <a:ln/>
        </p:spPr>
        <p:txBody>
          <a:bodyPr wrap="square" lIns="0" tIns="0" rIns="0" bIns="0" rtlCol="0" anchor="ctr"/>
          <a:lstStyle/>
          <a:p>
            <a:pPr algn="ctr" indent="0" marL="0">
              <a:buNone/>
            </a:pPr>
            <a:endParaRPr lang="en-US" sz="1200" dirty="0"/>
          </a:p>
        </p:txBody>
      </p:sp>
      <p:sp>
        <p:nvSpPr>
          <p:cNvPr id="58" name="Shape 56"/>
          <p:cNvSpPr/>
          <p:nvPr/>
        </p:nvSpPr>
        <p:spPr>
          <a:xfrm>
            <a:off x="3840480" y="5568696"/>
            <a:ext cx="594360" cy="0"/>
          </a:xfrm>
          <a:prstGeom prst="line">
            <a:avLst/>
          </a:prstGeom>
          <a:noFill/>
          <a:ln w="15875">
            <a:solidFill>
              <a:srgbClr val="C7C9E6"/>
            </a:solidFill>
            <a:prstDash val="solid"/>
          </a:ln>
        </p:spPr>
      </p:sp>
      <p:sp>
        <p:nvSpPr>
          <p:cNvPr id="59" name="Shape 57"/>
          <p:cNvSpPr/>
          <p:nvPr/>
        </p:nvSpPr>
        <p:spPr>
          <a:xfrm>
            <a:off x="4434840" y="5340096"/>
            <a:ext cx="457200" cy="457200"/>
          </a:xfrm>
          <a:prstGeom prst="ellipse">
            <a:avLst/>
          </a:prstGeom>
          <a:solidFill>
            <a:srgbClr val="12142E"/>
          </a:solidFill>
          <a:ln/>
        </p:spPr>
      </p:sp>
      <p:sp>
        <p:nvSpPr>
          <p:cNvPr id="60" name="Text 58"/>
          <p:cNvSpPr/>
          <p:nvPr/>
        </p:nvSpPr>
        <p:spPr>
          <a:xfrm>
            <a:off x="4434840" y="5340096"/>
            <a:ext cx="457200" cy="457200"/>
          </a:xfrm>
          <a:prstGeom prst="rect">
            <a:avLst/>
          </a:prstGeom>
          <a:noFill/>
          <a:ln/>
        </p:spPr>
        <p:txBody>
          <a:bodyPr wrap="square" lIns="0" tIns="0" rIns="0" bIns="0" rtlCol="0" anchor="ctr"/>
          <a:lstStyle/>
          <a:p>
            <a:pPr algn="ctr" indent="0" marL="0">
              <a:buNone/>
            </a:pPr>
            <a:endParaRPr lang="en-US" sz="1200" dirty="0"/>
          </a:p>
        </p:txBody>
      </p:sp>
      <p:sp>
        <p:nvSpPr>
          <p:cNvPr id="61" name="Shape 59"/>
          <p:cNvSpPr/>
          <p:nvPr/>
        </p:nvSpPr>
        <p:spPr>
          <a:xfrm>
            <a:off x="4892040" y="5568696"/>
            <a:ext cx="594360" cy="0"/>
          </a:xfrm>
          <a:prstGeom prst="line">
            <a:avLst/>
          </a:prstGeom>
          <a:noFill/>
          <a:ln w="15875">
            <a:solidFill>
              <a:srgbClr val="C7C9E6"/>
            </a:solidFill>
            <a:prstDash val="solid"/>
          </a:ln>
        </p:spPr>
      </p:sp>
      <p:sp>
        <p:nvSpPr>
          <p:cNvPr id="62" name="Shape 60"/>
          <p:cNvSpPr/>
          <p:nvPr/>
        </p:nvSpPr>
        <p:spPr>
          <a:xfrm>
            <a:off x="5486400" y="5340096"/>
            <a:ext cx="457200" cy="457200"/>
          </a:xfrm>
          <a:prstGeom prst="ellipse">
            <a:avLst/>
          </a:prstGeom>
          <a:solidFill>
            <a:srgbClr val="12142E"/>
          </a:solidFill>
          <a:ln/>
        </p:spPr>
      </p:sp>
      <p:sp>
        <p:nvSpPr>
          <p:cNvPr id="63" name="Text 61"/>
          <p:cNvSpPr/>
          <p:nvPr/>
        </p:nvSpPr>
        <p:spPr>
          <a:xfrm>
            <a:off x="5486400" y="5340096"/>
            <a:ext cx="457200" cy="457200"/>
          </a:xfrm>
          <a:prstGeom prst="rect">
            <a:avLst/>
          </a:prstGeom>
          <a:noFill/>
          <a:ln/>
        </p:spPr>
        <p:txBody>
          <a:bodyPr wrap="square" lIns="0" tIns="0" rIns="0" bIns="0" rtlCol="0" anchor="ctr"/>
          <a:lstStyle/>
          <a:p>
            <a:pPr algn="ctr" indent="0" marL="0">
              <a:buNone/>
            </a:pPr>
            <a:endParaRPr lang="en-US" sz="1200" dirty="0"/>
          </a:p>
        </p:txBody>
      </p:sp>
      <p:sp>
        <p:nvSpPr>
          <p:cNvPr id="64" name="Text 62"/>
          <p:cNvSpPr/>
          <p:nvPr/>
        </p:nvSpPr>
        <p:spPr>
          <a:xfrm>
            <a:off x="6583680" y="5148072"/>
            <a:ext cx="4754880" cy="841248"/>
          </a:xfrm>
          <a:prstGeom prst="rect">
            <a:avLst/>
          </a:prstGeom>
          <a:noFill/>
          <a:ln/>
        </p:spPr>
        <p:txBody>
          <a:bodyPr wrap="square" lIns="0" tIns="0" rIns="0" bIns="0" rtlCol="0" anchor="ctr"/>
          <a:lstStyle/>
          <a:p>
            <a:pPr indent="0" marL="0">
              <a:lnSpc>
                <a:spcPct val="110000"/>
              </a:lnSpc>
              <a:buNone/>
            </a:pPr>
            <a:r>
              <a:rPr lang="en-US" sz="1050" dirty="0">
                <a:solidFill>
                  <a:srgbClr val="475569"/>
                </a:solidFill>
                <a:latin typeface="Calibri" pitchFamily="34" charset="0"/>
                <a:ea typeface="Calibri" pitchFamily="34" charset="-122"/>
                <a:cs typeface="Calibri" pitchFamily="34" charset="-120"/>
              </a:rPr>
              <a:t>One step generates, another critiques, looping until it passes.</a:t>
            </a:r>
            <a:endParaRPr lang="en-US" sz="1050" dirty="0"/>
          </a:p>
        </p:txBody>
      </p:sp>
      <p:sp>
        <p:nvSpPr>
          <p:cNvPr id="65" name="Text 63"/>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22</a:t>
            </a:r>
            <a:endParaRPr lang="en-US" sz="1000" dirty="0"/>
          </a:p>
        </p:txBody>
      </p:sp>
      <p:sp>
        <p:nvSpPr>
          <p:cNvPr id="66" name="Text 64"/>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WORKFLOWS</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Multi-Agent Workflows</a:t>
            </a:r>
            <a:endParaRPr lang="en-US" sz="3000" dirty="0"/>
          </a:p>
        </p:txBody>
      </p:sp>
      <p:sp>
        <p:nvSpPr>
          <p:cNvPr id="4" name="Text 2"/>
          <p:cNvSpPr/>
          <p:nvPr/>
        </p:nvSpPr>
        <p:spPr>
          <a:xfrm>
            <a:off x="640080" y="1417320"/>
            <a:ext cx="10515600" cy="777240"/>
          </a:xfrm>
          <a:prstGeom prst="rect">
            <a:avLst/>
          </a:prstGeom>
          <a:noFill/>
          <a:ln/>
        </p:spPr>
        <p:txBody>
          <a:bodyPr wrap="square" lIns="0" tIns="0" rIns="0" bIns="0" rtlCol="0" anchor="ctr"/>
          <a:lstStyle/>
          <a:p>
            <a:pPr indent="0" marL="0">
              <a:lnSpc>
                <a:spcPct val="125000"/>
              </a:lnSpc>
              <a:buNone/>
            </a:pPr>
            <a:r>
              <a:rPr lang="en-US" sz="1450" dirty="0">
                <a:solidFill>
                  <a:srgbClr val="475569"/>
                </a:solidFill>
                <a:latin typeface="Calibri" pitchFamily="34" charset="0"/>
                <a:ea typeface="Calibri" pitchFamily="34" charset="-122"/>
                <a:cs typeface="Calibri" pitchFamily="34" charset="-120"/>
              </a:rPr>
              <a:t>A multi-agent workflow splits a task across several specialized agents — each with its own role, tools, and context — instead of asking one generalist agent to do everything.</a:t>
            </a:r>
            <a:endParaRPr lang="en-US" sz="1450" dirty="0"/>
          </a:p>
        </p:txBody>
      </p:sp>
      <p:sp>
        <p:nvSpPr>
          <p:cNvPr id="5" name="Shape 3"/>
          <p:cNvSpPr/>
          <p:nvPr/>
        </p:nvSpPr>
        <p:spPr>
          <a:xfrm>
            <a:off x="640080" y="2423160"/>
            <a:ext cx="5257800" cy="3383280"/>
          </a:xfrm>
          <a:prstGeom prst="roundRect">
            <a:avLst>
              <a:gd name="adj" fmla="val 2162"/>
            </a:avLst>
          </a:prstGeom>
          <a:solidFill>
            <a:srgbClr val="F5F6FB"/>
          </a:solidFill>
          <a:ln/>
          <a:effectLst>
            <a:outerShdw sx="100000" sy="100000" kx="0" ky="0" algn="bl" rotWithShape="0" blurRad="101600" dist="38100" dir="5400000">
              <a:srgbClr val="12142E">
                <a:alpha val="10000"/>
              </a:srgbClr>
            </a:outerShdw>
          </a:effectLst>
        </p:spPr>
      </p:sp>
      <p:sp>
        <p:nvSpPr>
          <p:cNvPr id="6" name="Shape 4"/>
          <p:cNvSpPr/>
          <p:nvPr/>
        </p:nvSpPr>
        <p:spPr>
          <a:xfrm>
            <a:off x="6263640" y="2423160"/>
            <a:ext cx="5257800" cy="3383280"/>
          </a:xfrm>
          <a:prstGeom prst="roundRect">
            <a:avLst>
              <a:gd name="adj" fmla="val 2162"/>
            </a:avLst>
          </a:prstGeom>
          <a:solidFill>
            <a:srgbClr val="12142E"/>
          </a:solidFill>
          <a:ln/>
          <a:effectLst>
            <a:outerShdw sx="100000" sy="100000" kx="0" ky="0" algn="bl" rotWithShape="0" blurRad="101600" dist="38100" dir="5400000">
              <a:srgbClr val="12142E">
                <a:alpha val="10000"/>
              </a:srgbClr>
            </a:outerShdw>
          </a:effectLst>
        </p:spPr>
      </p:sp>
      <p:sp>
        <p:nvSpPr>
          <p:cNvPr id="7" name="Shape 5"/>
          <p:cNvSpPr/>
          <p:nvPr/>
        </p:nvSpPr>
        <p:spPr>
          <a:xfrm>
            <a:off x="914400" y="2697480"/>
            <a:ext cx="502920" cy="502920"/>
          </a:xfrm>
          <a:prstGeom prst="ellipse">
            <a:avLst/>
          </a:prstGeom>
          <a:solidFill>
            <a:srgbClr val="FFFFFF"/>
          </a:solidFill>
          <a:ln/>
        </p:spPr>
      </p:sp>
      <p:pic>
        <p:nvPicPr>
          <p:cNvPr id="8" name="Image 0" descr="/home/claude/agents-deck/icons/robot_indigo.png">    </p:cNvPr>
          <p:cNvPicPr>
            <a:picLocks noChangeAspect="1"/>
          </p:cNvPicPr>
          <p:nvPr/>
        </p:nvPicPr>
        <p:blipFill>
          <a:blip r:embed="rId1"/>
          <a:stretch>
            <a:fillRect/>
          </a:stretch>
        </p:blipFill>
        <p:spPr>
          <a:xfrm>
            <a:off x="1045159" y="2828239"/>
            <a:ext cx="241402" cy="241402"/>
          </a:xfrm>
          <a:prstGeom prst="rect">
            <a:avLst/>
          </a:prstGeom>
        </p:spPr>
      </p:pic>
      <p:sp>
        <p:nvSpPr>
          <p:cNvPr id="9" name="Text 6"/>
          <p:cNvSpPr/>
          <p:nvPr/>
        </p:nvSpPr>
        <p:spPr>
          <a:xfrm>
            <a:off x="1554480" y="2715768"/>
            <a:ext cx="4114800" cy="365760"/>
          </a:xfrm>
          <a:prstGeom prst="rect">
            <a:avLst/>
          </a:prstGeom>
          <a:noFill/>
          <a:ln/>
        </p:spPr>
        <p:txBody>
          <a:bodyPr wrap="square" lIns="0" tIns="0" rIns="0" bIns="0" rtlCol="0" anchor="ctr"/>
          <a:lstStyle/>
          <a:p>
            <a:pPr indent="0" marL="0">
              <a:buNone/>
            </a:pPr>
            <a:r>
              <a:rPr lang="en-US" sz="1500" b="1" dirty="0">
                <a:solidFill>
                  <a:srgbClr val="12142E"/>
                </a:solidFill>
                <a:latin typeface="Calibri" pitchFamily="34" charset="0"/>
                <a:ea typeface="Calibri" pitchFamily="34" charset="-122"/>
                <a:cs typeface="Calibri" pitchFamily="34" charset="-120"/>
              </a:rPr>
              <a:t>Single Generalist Agent</a:t>
            </a:r>
            <a:endParaRPr lang="en-US" sz="1500" dirty="0"/>
          </a:p>
        </p:txBody>
      </p:sp>
      <p:sp>
        <p:nvSpPr>
          <p:cNvPr id="10" name="Text 7"/>
          <p:cNvSpPr/>
          <p:nvPr/>
        </p:nvSpPr>
        <p:spPr>
          <a:xfrm>
            <a:off x="914400" y="3383280"/>
            <a:ext cx="4709160" cy="228600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475569"/>
                </a:solidFill>
                <a:latin typeface="Calibri" pitchFamily="34" charset="0"/>
                <a:ea typeface="Calibri" pitchFamily="34" charset="-122"/>
                <a:cs typeface="Calibri" pitchFamily="34" charset="-120"/>
              </a:rPr>
              <a:t>One large prompt covering every responsibility</a:t>
            </a:r>
            <a:endParaRPr lang="en-US" sz="1200" dirty="0"/>
          </a:p>
          <a:p>
            <a:pPr marL="342900" indent="-342900">
              <a:spcAft>
                <a:spcPts val="1000"/>
              </a:spcAft>
              <a:buSzPct val="100000"/>
              <a:buChar char="•"/>
            </a:pPr>
            <a:r>
              <a:rPr lang="en-US" sz="1200" dirty="0">
                <a:solidFill>
                  <a:srgbClr val="475569"/>
                </a:solidFill>
                <a:latin typeface="Calibri" pitchFamily="34" charset="0"/>
                <a:ea typeface="Calibri" pitchFamily="34" charset="-122"/>
                <a:cs typeface="Calibri" pitchFamily="34" charset="-120"/>
              </a:rPr>
              <a:t>One context window holds everything at once</a:t>
            </a:r>
            <a:endParaRPr lang="en-US" sz="1200" dirty="0"/>
          </a:p>
          <a:p>
            <a:pPr marL="342900" indent="-342900">
              <a:spcAft>
                <a:spcPts val="1000"/>
              </a:spcAft>
              <a:buSzPct val="100000"/>
              <a:buChar char="•"/>
            </a:pPr>
            <a:r>
              <a:rPr lang="en-US" sz="1200" dirty="0">
                <a:solidFill>
                  <a:srgbClr val="475569"/>
                </a:solidFill>
                <a:latin typeface="Calibri" pitchFamily="34" charset="0"/>
                <a:ea typeface="Calibri" pitchFamily="34" charset="-122"/>
                <a:cs typeface="Calibri" pitchFamily="34" charset="-120"/>
              </a:rPr>
              <a:t>Simple to reason about — until scope grows</a:t>
            </a:r>
            <a:endParaRPr lang="en-US" sz="1200" dirty="0"/>
          </a:p>
          <a:p>
            <a:pPr marL="342900" indent="-342900">
              <a:spcAft>
                <a:spcPts val="1000"/>
              </a:spcAft>
              <a:buSzPct val="100000"/>
              <a:buChar char="•"/>
            </a:pPr>
            <a:r>
              <a:rPr lang="en-US" sz="1200" dirty="0">
                <a:solidFill>
                  <a:srgbClr val="475569"/>
                </a:solidFill>
                <a:latin typeface="Calibri" pitchFamily="34" charset="0"/>
                <a:ea typeface="Calibri" pitchFamily="34" charset="-122"/>
                <a:cs typeface="Calibri" pitchFamily="34" charset="-120"/>
              </a:rPr>
              <a:t>Degrades as the task list gets long or varied</a:t>
            </a:r>
            <a:endParaRPr lang="en-US" sz="1200" dirty="0"/>
          </a:p>
        </p:txBody>
      </p:sp>
      <p:sp>
        <p:nvSpPr>
          <p:cNvPr id="11" name="Shape 8"/>
          <p:cNvSpPr/>
          <p:nvPr/>
        </p:nvSpPr>
        <p:spPr>
          <a:xfrm>
            <a:off x="6537960" y="2697480"/>
            <a:ext cx="502920" cy="502920"/>
          </a:xfrm>
          <a:prstGeom prst="ellipse">
            <a:avLst/>
          </a:prstGeom>
          <a:solidFill>
            <a:srgbClr val="1C1F47"/>
          </a:solidFill>
          <a:ln/>
        </p:spPr>
      </p:sp>
      <p:pic>
        <p:nvPicPr>
          <p:cNvPr id="12" name="Image 1" descr="/home/claude/agents-deck/icons/users_cyan.png">    </p:cNvPr>
          <p:cNvPicPr>
            <a:picLocks noChangeAspect="1"/>
          </p:cNvPicPr>
          <p:nvPr/>
        </p:nvPicPr>
        <p:blipFill>
          <a:blip r:embed="rId2"/>
          <a:stretch>
            <a:fillRect/>
          </a:stretch>
        </p:blipFill>
        <p:spPr>
          <a:xfrm>
            <a:off x="6668719" y="2828239"/>
            <a:ext cx="241402" cy="241402"/>
          </a:xfrm>
          <a:prstGeom prst="rect">
            <a:avLst/>
          </a:prstGeom>
        </p:spPr>
      </p:pic>
      <p:sp>
        <p:nvSpPr>
          <p:cNvPr id="13" name="Text 9"/>
          <p:cNvSpPr/>
          <p:nvPr/>
        </p:nvSpPr>
        <p:spPr>
          <a:xfrm>
            <a:off x="7178040" y="2715768"/>
            <a:ext cx="41148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Multi-Agent Workflow</a:t>
            </a:r>
            <a:endParaRPr lang="en-US" sz="1500" dirty="0"/>
          </a:p>
        </p:txBody>
      </p:sp>
      <p:sp>
        <p:nvSpPr>
          <p:cNvPr id="14" name="Text 10"/>
          <p:cNvSpPr/>
          <p:nvPr/>
        </p:nvSpPr>
        <p:spPr>
          <a:xfrm>
            <a:off x="6537960" y="3383280"/>
            <a:ext cx="4709160" cy="228600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C7C9E6"/>
                </a:solidFill>
                <a:latin typeface="Calibri" pitchFamily="34" charset="0"/>
                <a:ea typeface="Calibri" pitchFamily="34" charset="-122"/>
                <a:cs typeface="Calibri" pitchFamily="34" charset="-120"/>
              </a:rPr>
              <a:t>Each agent has a narrow role and its own prompt</a:t>
            </a:r>
            <a:endParaRPr lang="en-US" sz="1200" dirty="0"/>
          </a:p>
          <a:p>
            <a:pPr marL="342900" indent="-342900">
              <a:spcAft>
                <a:spcPts val="1000"/>
              </a:spcAft>
              <a:buSzPct val="100000"/>
              <a:buChar char="•"/>
            </a:pPr>
            <a:r>
              <a:rPr lang="en-US" sz="1200" dirty="0">
                <a:solidFill>
                  <a:srgbClr val="C7C9E6"/>
                </a:solidFill>
                <a:latin typeface="Calibri" pitchFamily="34" charset="0"/>
                <a:ea typeface="Calibri" pitchFamily="34" charset="-122"/>
                <a:cs typeface="Calibri" pitchFamily="34" charset="-120"/>
              </a:rPr>
              <a:t>Context per agent stays small and focused</a:t>
            </a:r>
            <a:endParaRPr lang="en-US" sz="1200" dirty="0"/>
          </a:p>
          <a:p>
            <a:pPr marL="342900" indent="-342900">
              <a:spcAft>
                <a:spcPts val="1000"/>
              </a:spcAft>
              <a:buSzPct val="100000"/>
              <a:buChar char="•"/>
            </a:pPr>
            <a:r>
              <a:rPr lang="en-US" sz="1200" dirty="0">
                <a:solidFill>
                  <a:srgbClr val="C7C9E6"/>
                </a:solidFill>
                <a:latin typeface="Calibri" pitchFamily="34" charset="0"/>
                <a:ea typeface="Calibri" pitchFamily="34" charset="-122"/>
                <a:cs typeface="Calibri" pitchFamily="34" charset="-120"/>
              </a:rPr>
              <a:t>Agents hand off structured results, not raw context</a:t>
            </a:r>
            <a:endParaRPr lang="en-US" sz="1200" dirty="0"/>
          </a:p>
          <a:p>
            <a:pPr marL="342900" indent="-342900">
              <a:spcAft>
                <a:spcPts val="1000"/>
              </a:spcAft>
              <a:buSzPct val="100000"/>
              <a:buChar char="•"/>
            </a:pPr>
            <a:r>
              <a:rPr lang="en-US" sz="1200" dirty="0">
                <a:solidFill>
                  <a:srgbClr val="C7C9E6"/>
                </a:solidFill>
                <a:latin typeface="Calibri" pitchFamily="34" charset="0"/>
                <a:ea typeface="Calibri" pitchFamily="34" charset="-122"/>
                <a:cs typeface="Calibri" pitchFamily="34" charset="-120"/>
              </a:rPr>
              <a:t>Scales cleanly — add or swap an agent independently</a:t>
            </a:r>
            <a:endParaRPr lang="en-US" sz="1200" dirty="0"/>
          </a:p>
        </p:txBody>
      </p:sp>
      <p:sp>
        <p:nvSpPr>
          <p:cNvPr id="15" name="Text 11"/>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23</a:t>
            </a:r>
            <a:endParaRPr lang="en-US" sz="1000" dirty="0"/>
          </a:p>
        </p:txBody>
      </p:sp>
      <p:sp>
        <p:nvSpPr>
          <p:cNvPr id="16" name="Text 12"/>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WORKFLOWS</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Multi-Agent Workflow Patterns</a:t>
            </a:r>
            <a:endParaRPr lang="en-US" sz="3000" dirty="0"/>
          </a:p>
        </p:txBody>
      </p:sp>
      <p:sp>
        <p:nvSpPr>
          <p:cNvPr id="4" name="Shape 2"/>
          <p:cNvSpPr/>
          <p:nvPr/>
        </p:nvSpPr>
        <p:spPr>
          <a:xfrm>
            <a:off x="640080" y="1554480"/>
            <a:ext cx="5257800" cy="2212848"/>
          </a:xfrm>
          <a:prstGeom prst="roundRect">
            <a:avLst>
              <a:gd name="adj" fmla="val 3306"/>
            </a:avLst>
          </a:prstGeom>
          <a:solidFill>
            <a:srgbClr val="F5F6FB"/>
          </a:solidFill>
          <a:ln/>
          <a:effectLst>
            <a:outerShdw sx="100000" sy="100000" kx="0" ky="0" algn="bl" rotWithShape="0" blurRad="101600" dist="38100" dir="5400000">
              <a:srgbClr val="12142E">
                <a:alpha val="10000"/>
              </a:srgbClr>
            </a:outerShdw>
          </a:effectLst>
        </p:spPr>
      </p:sp>
      <p:sp>
        <p:nvSpPr>
          <p:cNvPr id="5" name="Shape 3"/>
          <p:cNvSpPr/>
          <p:nvPr/>
        </p:nvSpPr>
        <p:spPr>
          <a:xfrm>
            <a:off x="896112" y="1792224"/>
            <a:ext cx="530352" cy="530352"/>
          </a:xfrm>
          <a:prstGeom prst="ellipse">
            <a:avLst/>
          </a:prstGeom>
          <a:solidFill>
            <a:srgbClr val="12142E"/>
          </a:solidFill>
          <a:ln/>
        </p:spPr>
      </p:sp>
      <p:pic>
        <p:nvPicPr>
          <p:cNvPr id="6" name="Image 0" descr="/home/claude/agents-deck/icons/route_cyan.png">    </p:cNvPr>
          <p:cNvPicPr>
            <a:picLocks noChangeAspect="1"/>
          </p:cNvPicPr>
          <p:nvPr/>
        </p:nvPicPr>
        <p:blipFill>
          <a:blip r:embed="rId1"/>
          <a:stretch>
            <a:fillRect/>
          </a:stretch>
        </p:blipFill>
        <p:spPr>
          <a:xfrm>
            <a:off x="1034004" y="1930116"/>
            <a:ext cx="254569" cy="254569"/>
          </a:xfrm>
          <a:prstGeom prst="rect">
            <a:avLst/>
          </a:prstGeom>
        </p:spPr>
      </p:pic>
      <p:sp>
        <p:nvSpPr>
          <p:cNvPr id="7" name="Text 4"/>
          <p:cNvSpPr/>
          <p:nvPr/>
        </p:nvSpPr>
        <p:spPr>
          <a:xfrm>
            <a:off x="1600200" y="1792224"/>
            <a:ext cx="4069080" cy="320040"/>
          </a:xfrm>
          <a:prstGeom prst="rect">
            <a:avLst/>
          </a:prstGeom>
          <a:noFill/>
          <a:ln/>
        </p:spPr>
        <p:txBody>
          <a:bodyPr wrap="square" lIns="0" tIns="0" rIns="0" bIns="0" rtlCol="0" anchor="ctr"/>
          <a:lstStyle/>
          <a:p>
            <a:pPr indent="0" marL="0">
              <a:buNone/>
            </a:pPr>
            <a:r>
              <a:rPr lang="en-US" sz="1400" b="1" dirty="0">
                <a:solidFill>
                  <a:srgbClr val="12142E"/>
                </a:solidFill>
                <a:latin typeface="Calibri" pitchFamily="34" charset="0"/>
                <a:ea typeface="Calibri" pitchFamily="34" charset="-122"/>
                <a:cs typeface="Calibri" pitchFamily="34" charset="-120"/>
              </a:rPr>
              <a:t>Sequential Handoff</a:t>
            </a:r>
            <a:endParaRPr lang="en-US" sz="1400" dirty="0"/>
          </a:p>
        </p:txBody>
      </p:sp>
      <p:sp>
        <p:nvSpPr>
          <p:cNvPr id="8" name="Text 5"/>
          <p:cNvSpPr/>
          <p:nvPr/>
        </p:nvSpPr>
        <p:spPr>
          <a:xfrm>
            <a:off x="896112" y="2450592"/>
            <a:ext cx="4745736" cy="457200"/>
          </a:xfrm>
          <a:prstGeom prst="rect">
            <a:avLst/>
          </a:prstGeom>
          <a:noFill/>
          <a:ln/>
        </p:spPr>
        <p:txBody>
          <a:bodyPr wrap="square" lIns="0" tIns="0" rIns="0" bIns="0" rtlCol="0" anchor="ctr"/>
          <a:lstStyle/>
          <a:p>
            <a:pPr indent="0" marL="0">
              <a:lnSpc>
                <a:spcPct val="110000"/>
              </a:lnSpc>
              <a:buNone/>
            </a:pPr>
            <a:r>
              <a:rPr lang="en-US" sz="1050" i="1" dirty="0">
                <a:solidFill>
                  <a:srgbClr val="4F5BD5"/>
                </a:solidFill>
                <a:latin typeface="Calibri" pitchFamily="34" charset="0"/>
                <a:ea typeface="Calibri" pitchFamily="34" charset="-122"/>
                <a:cs typeface="Calibri" pitchFamily="34" charset="-120"/>
              </a:rPr>
              <a:t>Research agent → Writer agent → Editor agent</a:t>
            </a:r>
            <a:endParaRPr lang="en-US" sz="1050" dirty="0"/>
          </a:p>
        </p:txBody>
      </p:sp>
      <p:sp>
        <p:nvSpPr>
          <p:cNvPr id="9" name="Text 6"/>
          <p:cNvSpPr/>
          <p:nvPr/>
        </p:nvSpPr>
        <p:spPr>
          <a:xfrm>
            <a:off x="896112" y="2926080"/>
            <a:ext cx="4745736" cy="777240"/>
          </a:xfrm>
          <a:prstGeom prst="rect">
            <a:avLst/>
          </a:prstGeom>
          <a:noFill/>
          <a:ln/>
        </p:spPr>
        <p:txBody>
          <a:bodyPr wrap="square" lIns="0" tIns="0" rIns="0" bIns="0" rtlCol="0" anchor="ctr"/>
          <a:lstStyle/>
          <a:p>
            <a:pPr indent="0" marL="0">
              <a:lnSpc>
                <a:spcPct val="115000"/>
              </a:lnSpc>
              <a:buNone/>
            </a:pPr>
            <a:r>
              <a:rPr lang="en-US" sz="1050" dirty="0">
                <a:solidFill>
                  <a:srgbClr val="475569"/>
                </a:solidFill>
                <a:latin typeface="Calibri" pitchFamily="34" charset="0"/>
                <a:ea typeface="Calibri" pitchFamily="34" charset="-122"/>
                <a:cs typeface="Calibri" pitchFamily="34" charset="-120"/>
              </a:rPr>
              <a:t>Each agent finishes its piece and passes structured output to the next. Simple, predictable, easy to debug.</a:t>
            </a:r>
            <a:endParaRPr lang="en-US" sz="1050" dirty="0"/>
          </a:p>
        </p:txBody>
      </p:sp>
      <p:sp>
        <p:nvSpPr>
          <p:cNvPr id="10" name="Shape 7"/>
          <p:cNvSpPr/>
          <p:nvPr/>
        </p:nvSpPr>
        <p:spPr>
          <a:xfrm>
            <a:off x="6263640" y="1554480"/>
            <a:ext cx="5257800" cy="2212848"/>
          </a:xfrm>
          <a:prstGeom prst="roundRect">
            <a:avLst>
              <a:gd name="adj" fmla="val 3306"/>
            </a:avLst>
          </a:prstGeom>
          <a:solidFill>
            <a:srgbClr val="F5F6FB"/>
          </a:solidFill>
          <a:ln/>
          <a:effectLst>
            <a:outerShdw sx="100000" sy="100000" kx="0" ky="0" algn="bl" rotWithShape="0" blurRad="101600" dist="38100" dir="5400000">
              <a:srgbClr val="12142E">
                <a:alpha val="10000"/>
              </a:srgbClr>
            </a:outerShdw>
          </a:effectLst>
        </p:spPr>
      </p:sp>
      <p:sp>
        <p:nvSpPr>
          <p:cNvPr id="11" name="Shape 8"/>
          <p:cNvSpPr/>
          <p:nvPr/>
        </p:nvSpPr>
        <p:spPr>
          <a:xfrm>
            <a:off x="6519672" y="1792224"/>
            <a:ext cx="530352" cy="530352"/>
          </a:xfrm>
          <a:prstGeom prst="ellipse">
            <a:avLst/>
          </a:prstGeom>
          <a:solidFill>
            <a:srgbClr val="12142E"/>
          </a:solidFill>
          <a:ln/>
        </p:spPr>
      </p:sp>
      <p:pic>
        <p:nvPicPr>
          <p:cNvPr id="12" name="Image 1" descr="/home/claude/agents-deck/icons/layers_cyan.png">    </p:cNvPr>
          <p:cNvPicPr>
            <a:picLocks noChangeAspect="1"/>
          </p:cNvPicPr>
          <p:nvPr/>
        </p:nvPicPr>
        <p:blipFill>
          <a:blip r:embed="rId2"/>
          <a:stretch>
            <a:fillRect/>
          </a:stretch>
        </p:blipFill>
        <p:spPr>
          <a:xfrm>
            <a:off x="6657564" y="1930116"/>
            <a:ext cx="254569" cy="254569"/>
          </a:xfrm>
          <a:prstGeom prst="rect">
            <a:avLst/>
          </a:prstGeom>
        </p:spPr>
      </p:pic>
      <p:sp>
        <p:nvSpPr>
          <p:cNvPr id="13" name="Text 9"/>
          <p:cNvSpPr/>
          <p:nvPr/>
        </p:nvSpPr>
        <p:spPr>
          <a:xfrm>
            <a:off x="7223760" y="1792224"/>
            <a:ext cx="4069080" cy="320040"/>
          </a:xfrm>
          <a:prstGeom prst="rect">
            <a:avLst/>
          </a:prstGeom>
          <a:noFill/>
          <a:ln/>
        </p:spPr>
        <p:txBody>
          <a:bodyPr wrap="square" lIns="0" tIns="0" rIns="0" bIns="0" rtlCol="0" anchor="ctr"/>
          <a:lstStyle/>
          <a:p>
            <a:pPr indent="0" marL="0">
              <a:buNone/>
            </a:pPr>
            <a:r>
              <a:rPr lang="en-US" sz="1400" b="1" dirty="0">
                <a:solidFill>
                  <a:srgbClr val="12142E"/>
                </a:solidFill>
                <a:latin typeface="Calibri" pitchFamily="34" charset="0"/>
                <a:ea typeface="Calibri" pitchFamily="34" charset="-122"/>
                <a:cs typeface="Calibri" pitchFamily="34" charset="-120"/>
              </a:rPr>
              <a:t>Parallel Fan-Out / Fan-In</a:t>
            </a:r>
            <a:endParaRPr lang="en-US" sz="1400" dirty="0"/>
          </a:p>
        </p:txBody>
      </p:sp>
      <p:sp>
        <p:nvSpPr>
          <p:cNvPr id="14" name="Text 10"/>
          <p:cNvSpPr/>
          <p:nvPr/>
        </p:nvSpPr>
        <p:spPr>
          <a:xfrm>
            <a:off x="6519672" y="2450592"/>
            <a:ext cx="4745736" cy="457200"/>
          </a:xfrm>
          <a:prstGeom prst="rect">
            <a:avLst/>
          </a:prstGeom>
          <a:noFill/>
          <a:ln/>
        </p:spPr>
        <p:txBody>
          <a:bodyPr wrap="square" lIns="0" tIns="0" rIns="0" bIns="0" rtlCol="0" anchor="ctr"/>
          <a:lstStyle/>
          <a:p>
            <a:pPr indent="0" marL="0">
              <a:lnSpc>
                <a:spcPct val="110000"/>
              </a:lnSpc>
              <a:buNone/>
            </a:pPr>
            <a:r>
              <a:rPr lang="en-US" sz="1050" i="1" dirty="0">
                <a:solidFill>
                  <a:srgbClr val="4F5BD5"/>
                </a:solidFill>
                <a:latin typeface="Calibri" pitchFamily="34" charset="0"/>
                <a:ea typeface="Calibri" pitchFamily="34" charset="-122"/>
                <a:cs typeface="Calibri" pitchFamily="34" charset="-120"/>
              </a:rPr>
              <a:t>3 specialist agents research subtopics at once → aggregator merges</a:t>
            </a:r>
            <a:endParaRPr lang="en-US" sz="1050" dirty="0"/>
          </a:p>
        </p:txBody>
      </p:sp>
      <p:sp>
        <p:nvSpPr>
          <p:cNvPr id="15" name="Text 11"/>
          <p:cNvSpPr/>
          <p:nvPr/>
        </p:nvSpPr>
        <p:spPr>
          <a:xfrm>
            <a:off x="6519672" y="2926080"/>
            <a:ext cx="4745736" cy="777240"/>
          </a:xfrm>
          <a:prstGeom prst="rect">
            <a:avLst/>
          </a:prstGeom>
          <a:noFill/>
          <a:ln/>
        </p:spPr>
        <p:txBody>
          <a:bodyPr wrap="square" lIns="0" tIns="0" rIns="0" bIns="0" rtlCol="0" anchor="ctr"/>
          <a:lstStyle/>
          <a:p>
            <a:pPr indent="0" marL="0">
              <a:lnSpc>
                <a:spcPct val="115000"/>
              </a:lnSpc>
              <a:buNone/>
            </a:pPr>
            <a:r>
              <a:rPr lang="en-US" sz="1050" dirty="0">
                <a:solidFill>
                  <a:srgbClr val="475569"/>
                </a:solidFill>
                <a:latin typeface="Calibri" pitchFamily="34" charset="0"/>
                <a:ea typeface="Calibri" pitchFamily="34" charset="-122"/>
                <a:cs typeface="Calibri" pitchFamily="34" charset="-120"/>
              </a:rPr>
              <a:t>Independent agents work simultaneously on different slices; a final step combines their results.</a:t>
            </a:r>
            <a:endParaRPr lang="en-US" sz="1050" dirty="0"/>
          </a:p>
        </p:txBody>
      </p:sp>
      <p:sp>
        <p:nvSpPr>
          <p:cNvPr id="16" name="Shape 12"/>
          <p:cNvSpPr/>
          <p:nvPr/>
        </p:nvSpPr>
        <p:spPr>
          <a:xfrm>
            <a:off x="640080" y="3968496"/>
            <a:ext cx="5257800" cy="2212848"/>
          </a:xfrm>
          <a:prstGeom prst="roundRect">
            <a:avLst>
              <a:gd name="adj" fmla="val 3306"/>
            </a:avLst>
          </a:prstGeom>
          <a:solidFill>
            <a:srgbClr val="F5F6FB"/>
          </a:solidFill>
          <a:ln/>
          <a:effectLst>
            <a:outerShdw sx="100000" sy="100000" kx="0" ky="0" algn="bl" rotWithShape="0" blurRad="101600" dist="38100" dir="5400000">
              <a:srgbClr val="12142E">
                <a:alpha val="10000"/>
              </a:srgbClr>
            </a:outerShdw>
          </a:effectLst>
        </p:spPr>
      </p:sp>
      <p:sp>
        <p:nvSpPr>
          <p:cNvPr id="17" name="Shape 13"/>
          <p:cNvSpPr/>
          <p:nvPr/>
        </p:nvSpPr>
        <p:spPr>
          <a:xfrm>
            <a:off x="896112" y="4206240"/>
            <a:ext cx="530352" cy="530352"/>
          </a:xfrm>
          <a:prstGeom prst="ellipse">
            <a:avLst/>
          </a:prstGeom>
          <a:solidFill>
            <a:srgbClr val="12142E"/>
          </a:solidFill>
          <a:ln/>
        </p:spPr>
      </p:sp>
      <p:pic>
        <p:nvPicPr>
          <p:cNvPr id="18" name="Image 2" descr="/home/claude/agents-deck/icons/sitemap_cyan.png">    </p:cNvPr>
          <p:cNvPicPr>
            <a:picLocks noChangeAspect="1"/>
          </p:cNvPicPr>
          <p:nvPr/>
        </p:nvPicPr>
        <p:blipFill>
          <a:blip r:embed="rId3"/>
          <a:stretch>
            <a:fillRect/>
          </a:stretch>
        </p:blipFill>
        <p:spPr>
          <a:xfrm>
            <a:off x="1034004" y="4344132"/>
            <a:ext cx="254569" cy="254569"/>
          </a:xfrm>
          <a:prstGeom prst="rect">
            <a:avLst/>
          </a:prstGeom>
        </p:spPr>
      </p:pic>
      <p:sp>
        <p:nvSpPr>
          <p:cNvPr id="19" name="Text 14"/>
          <p:cNvSpPr/>
          <p:nvPr/>
        </p:nvSpPr>
        <p:spPr>
          <a:xfrm>
            <a:off x="1600200" y="4206240"/>
            <a:ext cx="4069080" cy="320040"/>
          </a:xfrm>
          <a:prstGeom prst="rect">
            <a:avLst/>
          </a:prstGeom>
          <a:noFill/>
          <a:ln/>
        </p:spPr>
        <p:txBody>
          <a:bodyPr wrap="square" lIns="0" tIns="0" rIns="0" bIns="0" rtlCol="0" anchor="ctr"/>
          <a:lstStyle/>
          <a:p>
            <a:pPr indent="0" marL="0">
              <a:buNone/>
            </a:pPr>
            <a:r>
              <a:rPr lang="en-US" sz="1400" b="1" dirty="0">
                <a:solidFill>
                  <a:srgbClr val="12142E"/>
                </a:solidFill>
                <a:latin typeface="Calibri" pitchFamily="34" charset="0"/>
                <a:ea typeface="Calibri" pitchFamily="34" charset="-122"/>
                <a:cs typeface="Calibri" pitchFamily="34" charset="-120"/>
              </a:rPr>
              <a:t>Manager–Worker Delegation</a:t>
            </a:r>
            <a:endParaRPr lang="en-US" sz="1400" dirty="0"/>
          </a:p>
        </p:txBody>
      </p:sp>
      <p:sp>
        <p:nvSpPr>
          <p:cNvPr id="20" name="Text 15"/>
          <p:cNvSpPr/>
          <p:nvPr/>
        </p:nvSpPr>
        <p:spPr>
          <a:xfrm>
            <a:off x="896112" y="4864608"/>
            <a:ext cx="4745736" cy="457200"/>
          </a:xfrm>
          <a:prstGeom prst="rect">
            <a:avLst/>
          </a:prstGeom>
          <a:noFill/>
          <a:ln/>
        </p:spPr>
        <p:txBody>
          <a:bodyPr wrap="square" lIns="0" tIns="0" rIns="0" bIns="0" rtlCol="0" anchor="ctr"/>
          <a:lstStyle/>
          <a:p>
            <a:pPr indent="0" marL="0">
              <a:lnSpc>
                <a:spcPct val="110000"/>
              </a:lnSpc>
              <a:buNone/>
            </a:pPr>
            <a:r>
              <a:rPr lang="en-US" sz="1050" i="1" dirty="0">
                <a:solidFill>
                  <a:srgbClr val="4F5BD5"/>
                </a:solidFill>
                <a:latin typeface="Calibri" pitchFamily="34" charset="0"/>
                <a:ea typeface="Calibri" pitchFamily="34" charset="-122"/>
                <a:cs typeface="Calibri" pitchFamily="34" charset="-120"/>
              </a:rPr>
              <a:t>Manager agent assigns tickets to a pool of worker agents by expertise</a:t>
            </a:r>
            <a:endParaRPr lang="en-US" sz="1050" dirty="0"/>
          </a:p>
        </p:txBody>
      </p:sp>
      <p:sp>
        <p:nvSpPr>
          <p:cNvPr id="21" name="Text 16"/>
          <p:cNvSpPr/>
          <p:nvPr/>
        </p:nvSpPr>
        <p:spPr>
          <a:xfrm>
            <a:off x="896112" y="5340096"/>
            <a:ext cx="4745736" cy="777240"/>
          </a:xfrm>
          <a:prstGeom prst="rect">
            <a:avLst/>
          </a:prstGeom>
          <a:noFill/>
          <a:ln/>
        </p:spPr>
        <p:txBody>
          <a:bodyPr wrap="square" lIns="0" tIns="0" rIns="0" bIns="0" rtlCol="0" anchor="ctr"/>
          <a:lstStyle/>
          <a:p>
            <a:pPr indent="0" marL="0">
              <a:lnSpc>
                <a:spcPct val="115000"/>
              </a:lnSpc>
              <a:buNone/>
            </a:pPr>
            <a:r>
              <a:rPr lang="en-US" sz="1050" dirty="0">
                <a:solidFill>
                  <a:srgbClr val="475569"/>
                </a:solidFill>
                <a:latin typeface="Calibri" pitchFamily="34" charset="0"/>
                <a:ea typeface="Calibri" pitchFamily="34" charset="-122"/>
                <a:cs typeface="Calibri" pitchFamily="34" charset="-120"/>
              </a:rPr>
              <a:t>A manager dynamically decides who does what, based on current load or task type — not fixed in advance.</a:t>
            </a:r>
            <a:endParaRPr lang="en-US" sz="1050" dirty="0"/>
          </a:p>
        </p:txBody>
      </p:sp>
      <p:sp>
        <p:nvSpPr>
          <p:cNvPr id="22" name="Shape 17"/>
          <p:cNvSpPr/>
          <p:nvPr/>
        </p:nvSpPr>
        <p:spPr>
          <a:xfrm>
            <a:off x="6263640" y="3968496"/>
            <a:ext cx="5257800" cy="2212848"/>
          </a:xfrm>
          <a:prstGeom prst="roundRect">
            <a:avLst>
              <a:gd name="adj" fmla="val 3306"/>
            </a:avLst>
          </a:prstGeom>
          <a:solidFill>
            <a:srgbClr val="F5F6FB"/>
          </a:solidFill>
          <a:ln/>
          <a:effectLst>
            <a:outerShdw sx="100000" sy="100000" kx="0" ky="0" algn="bl" rotWithShape="0" blurRad="101600" dist="38100" dir="5400000">
              <a:srgbClr val="12142E">
                <a:alpha val="10000"/>
              </a:srgbClr>
            </a:outerShdw>
          </a:effectLst>
        </p:spPr>
      </p:sp>
      <p:sp>
        <p:nvSpPr>
          <p:cNvPr id="23" name="Shape 18"/>
          <p:cNvSpPr/>
          <p:nvPr/>
        </p:nvSpPr>
        <p:spPr>
          <a:xfrm>
            <a:off x="6519672" y="4206240"/>
            <a:ext cx="530352" cy="530352"/>
          </a:xfrm>
          <a:prstGeom prst="ellipse">
            <a:avLst/>
          </a:prstGeom>
          <a:solidFill>
            <a:srgbClr val="12142E"/>
          </a:solidFill>
          <a:ln/>
        </p:spPr>
      </p:sp>
      <p:pic>
        <p:nvPicPr>
          <p:cNvPr id="24" name="Image 3" descr="/home/claude/agents-deck/icons/balance_cyan.png">    </p:cNvPr>
          <p:cNvPicPr>
            <a:picLocks noChangeAspect="1"/>
          </p:cNvPicPr>
          <p:nvPr/>
        </p:nvPicPr>
        <p:blipFill>
          <a:blip r:embed="rId4"/>
          <a:stretch>
            <a:fillRect/>
          </a:stretch>
        </p:blipFill>
        <p:spPr>
          <a:xfrm>
            <a:off x="6657564" y="4344132"/>
            <a:ext cx="254569" cy="254569"/>
          </a:xfrm>
          <a:prstGeom prst="rect">
            <a:avLst/>
          </a:prstGeom>
        </p:spPr>
      </p:pic>
      <p:sp>
        <p:nvSpPr>
          <p:cNvPr id="25" name="Text 19"/>
          <p:cNvSpPr/>
          <p:nvPr/>
        </p:nvSpPr>
        <p:spPr>
          <a:xfrm>
            <a:off x="7223760" y="4206240"/>
            <a:ext cx="4069080" cy="320040"/>
          </a:xfrm>
          <a:prstGeom prst="rect">
            <a:avLst/>
          </a:prstGeom>
          <a:noFill/>
          <a:ln/>
        </p:spPr>
        <p:txBody>
          <a:bodyPr wrap="square" lIns="0" tIns="0" rIns="0" bIns="0" rtlCol="0" anchor="ctr"/>
          <a:lstStyle/>
          <a:p>
            <a:pPr indent="0" marL="0">
              <a:buNone/>
            </a:pPr>
            <a:r>
              <a:rPr lang="en-US" sz="1400" b="1" dirty="0">
                <a:solidFill>
                  <a:srgbClr val="12142E"/>
                </a:solidFill>
                <a:latin typeface="Calibri" pitchFamily="34" charset="0"/>
                <a:ea typeface="Calibri" pitchFamily="34" charset="-122"/>
                <a:cs typeface="Calibri" pitchFamily="34" charset="-120"/>
              </a:rPr>
              <a:t>Debate &amp; Consensus</a:t>
            </a:r>
            <a:endParaRPr lang="en-US" sz="1400" dirty="0"/>
          </a:p>
        </p:txBody>
      </p:sp>
      <p:sp>
        <p:nvSpPr>
          <p:cNvPr id="26" name="Text 20"/>
          <p:cNvSpPr/>
          <p:nvPr/>
        </p:nvSpPr>
        <p:spPr>
          <a:xfrm>
            <a:off x="6519672" y="4864608"/>
            <a:ext cx="4745736" cy="457200"/>
          </a:xfrm>
          <a:prstGeom prst="rect">
            <a:avLst/>
          </a:prstGeom>
          <a:noFill/>
          <a:ln/>
        </p:spPr>
        <p:txBody>
          <a:bodyPr wrap="square" lIns="0" tIns="0" rIns="0" bIns="0" rtlCol="0" anchor="ctr"/>
          <a:lstStyle/>
          <a:p>
            <a:pPr indent="0" marL="0">
              <a:lnSpc>
                <a:spcPct val="110000"/>
              </a:lnSpc>
              <a:buNone/>
            </a:pPr>
            <a:r>
              <a:rPr lang="en-US" sz="1050" i="1" dirty="0">
                <a:solidFill>
                  <a:srgbClr val="4F5BD5"/>
                </a:solidFill>
                <a:latin typeface="Calibri" pitchFamily="34" charset="0"/>
                <a:ea typeface="Calibri" pitchFamily="34" charset="-122"/>
                <a:cs typeface="Calibri" pitchFamily="34" charset="-120"/>
              </a:rPr>
              <a:t>Two agents answer independently → judge agent picks or merges</a:t>
            </a:r>
            <a:endParaRPr lang="en-US" sz="1050" dirty="0"/>
          </a:p>
        </p:txBody>
      </p:sp>
      <p:sp>
        <p:nvSpPr>
          <p:cNvPr id="27" name="Text 21"/>
          <p:cNvSpPr/>
          <p:nvPr/>
        </p:nvSpPr>
        <p:spPr>
          <a:xfrm>
            <a:off x="6519672" y="5340096"/>
            <a:ext cx="4745736" cy="777240"/>
          </a:xfrm>
          <a:prstGeom prst="rect">
            <a:avLst/>
          </a:prstGeom>
          <a:noFill/>
          <a:ln/>
        </p:spPr>
        <p:txBody>
          <a:bodyPr wrap="square" lIns="0" tIns="0" rIns="0" bIns="0" rtlCol="0" anchor="ctr"/>
          <a:lstStyle/>
          <a:p>
            <a:pPr indent="0" marL="0">
              <a:lnSpc>
                <a:spcPct val="115000"/>
              </a:lnSpc>
              <a:buNone/>
            </a:pPr>
            <a:r>
              <a:rPr lang="en-US" sz="1050" dirty="0">
                <a:solidFill>
                  <a:srgbClr val="475569"/>
                </a:solidFill>
                <a:latin typeface="Calibri" pitchFamily="34" charset="0"/>
                <a:ea typeface="Calibri" pitchFamily="34" charset="-122"/>
                <a:cs typeface="Calibri" pitchFamily="34" charset="-120"/>
              </a:rPr>
              <a:t>Multiple agents attack the same problem independently; a judging step improves reliability on hard questions.</a:t>
            </a:r>
            <a:endParaRPr lang="en-US" sz="1050" dirty="0"/>
          </a:p>
        </p:txBody>
      </p:sp>
      <p:sp>
        <p:nvSpPr>
          <p:cNvPr id="28" name="Text 22"/>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24</a:t>
            </a:r>
            <a:endParaRPr lang="en-US" sz="1000" dirty="0"/>
          </a:p>
        </p:txBody>
      </p:sp>
      <p:sp>
        <p:nvSpPr>
          <p:cNvPr id="29" name="Text 23"/>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WORKFLOWS</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Worked Example: Collections Workflow</a:t>
            </a:r>
            <a:endParaRPr lang="en-US" sz="3000" dirty="0"/>
          </a:p>
        </p:txBody>
      </p:sp>
      <p:sp>
        <p:nvSpPr>
          <p:cNvPr id="4" name="Shape 2"/>
          <p:cNvSpPr/>
          <p:nvPr/>
        </p:nvSpPr>
        <p:spPr>
          <a:xfrm>
            <a:off x="640080" y="1508760"/>
            <a:ext cx="10881360" cy="3977640"/>
          </a:xfrm>
          <a:prstGeom prst="roundRect">
            <a:avLst>
              <a:gd name="adj" fmla="val 1839"/>
            </a:avLst>
          </a:prstGeom>
          <a:solidFill>
            <a:srgbClr val="12142E"/>
          </a:solidFill>
          <a:ln/>
          <a:effectLst>
            <a:outerShdw sx="100000" sy="100000" kx="0" ky="0" algn="bl" rotWithShape="0" blurRad="101600" dist="38100" dir="5400000">
              <a:srgbClr val="12142E">
                <a:alpha val="10000"/>
              </a:srgbClr>
            </a:outerShdw>
          </a:effectLst>
        </p:spPr>
      </p:sp>
      <p:sp>
        <p:nvSpPr>
          <p:cNvPr id="5" name="Shape 3"/>
          <p:cNvSpPr/>
          <p:nvPr/>
        </p:nvSpPr>
        <p:spPr>
          <a:xfrm>
            <a:off x="822960" y="1874520"/>
            <a:ext cx="1737360" cy="2331720"/>
          </a:xfrm>
          <a:prstGeom prst="roundRect">
            <a:avLst>
              <a:gd name="adj" fmla="val 4211"/>
            </a:avLst>
          </a:prstGeom>
          <a:solidFill>
            <a:srgbClr val="1C1F47"/>
          </a:solidFill>
          <a:ln w="12700">
            <a:solidFill>
              <a:srgbClr val="35386E"/>
            </a:solidFill>
            <a:prstDash val="solid"/>
          </a:ln>
        </p:spPr>
      </p:sp>
      <p:sp>
        <p:nvSpPr>
          <p:cNvPr id="6" name="Shape 4"/>
          <p:cNvSpPr/>
          <p:nvPr/>
        </p:nvSpPr>
        <p:spPr>
          <a:xfrm>
            <a:off x="1399032" y="2103120"/>
            <a:ext cx="585216" cy="585216"/>
          </a:xfrm>
          <a:prstGeom prst="ellipse">
            <a:avLst/>
          </a:prstGeom>
          <a:solidFill>
            <a:srgbClr val="12142E"/>
          </a:solidFill>
          <a:ln/>
        </p:spPr>
      </p:sp>
      <p:pic>
        <p:nvPicPr>
          <p:cNvPr id="7" name="Image 0" descr="/home/claude/agents-deck/icons/search_cyan.png">    </p:cNvPr>
          <p:cNvPicPr>
            <a:picLocks noChangeAspect="1"/>
          </p:cNvPicPr>
          <p:nvPr/>
        </p:nvPicPr>
        <p:blipFill>
          <a:blip r:embed="rId1"/>
          <a:stretch>
            <a:fillRect/>
          </a:stretch>
        </p:blipFill>
        <p:spPr>
          <a:xfrm>
            <a:off x="1551188" y="2255276"/>
            <a:ext cx="280904" cy="280904"/>
          </a:xfrm>
          <a:prstGeom prst="rect">
            <a:avLst/>
          </a:prstGeom>
        </p:spPr>
      </p:pic>
      <p:sp>
        <p:nvSpPr>
          <p:cNvPr id="8" name="Text 5"/>
          <p:cNvSpPr/>
          <p:nvPr/>
        </p:nvSpPr>
        <p:spPr>
          <a:xfrm>
            <a:off x="896112" y="2788920"/>
            <a:ext cx="1591056" cy="548640"/>
          </a:xfrm>
          <a:prstGeom prst="rect">
            <a:avLst/>
          </a:prstGeom>
          <a:noFill/>
          <a:ln/>
        </p:spPr>
        <p:txBody>
          <a:bodyPr wrap="square" lIns="0" tIns="0" rIns="0" bIns="0" rtlCol="0" anchor="ctr"/>
          <a:lstStyle/>
          <a:p>
            <a:pPr algn="ctr" indent="0" marL="0">
              <a:lnSpc>
                <a:spcPct val="105000"/>
              </a:lnSpc>
              <a:buNone/>
            </a:pPr>
            <a:r>
              <a:rPr lang="en-US" sz="1250" b="1" dirty="0">
                <a:solidFill>
                  <a:srgbClr val="FFFFFF"/>
                </a:solidFill>
                <a:latin typeface="Calibri" pitchFamily="34" charset="0"/>
                <a:ea typeface="Calibri" pitchFamily="34" charset="-122"/>
                <a:cs typeface="Calibri" pitchFamily="34" charset="-120"/>
              </a:rPr>
              <a:t>Intake &amp;</a:t>
            </a:r>
            <a:endParaRPr lang="en-US" sz="1250" dirty="0"/>
          </a:p>
          <a:p>
            <a:pPr algn="ctr" indent="0" marL="0">
              <a:lnSpc>
                <a:spcPct val="105000"/>
              </a:lnSpc>
              <a:buNone/>
            </a:pPr>
            <a:r>
              <a:rPr lang="en-US" sz="1250" b="1" dirty="0">
                <a:solidFill>
                  <a:srgbClr val="FFFFFF"/>
                </a:solidFill>
                <a:latin typeface="Calibri" pitchFamily="34" charset="0"/>
                <a:ea typeface="Calibri" pitchFamily="34" charset="-122"/>
                <a:cs typeface="Calibri" pitchFamily="34" charset="-120"/>
              </a:rPr>
              <a:t>Classify</a:t>
            </a:r>
            <a:endParaRPr lang="en-US" sz="1250" dirty="0"/>
          </a:p>
        </p:txBody>
      </p:sp>
      <p:sp>
        <p:nvSpPr>
          <p:cNvPr id="9" name="Text 6"/>
          <p:cNvSpPr/>
          <p:nvPr/>
        </p:nvSpPr>
        <p:spPr>
          <a:xfrm>
            <a:off x="914400" y="3383280"/>
            <a:ext cx="1554480" cy="777240"/>
          </a:xfrm>
          <a:prstGeom prst="rect">
            <a:avLst/>
          </a:prstGeom>
          <a:noFill/>
          <a:ln/>
        </p:spPr>
        <p:txBody>
          <a:bodyPr wrap="square" lIns="0" tIns="0" rIns="0" bIns="0" rtlCol="0" anchor="ctr"/>
          <a:lstStyle/>
          <a:p>
            <a:pPr algn="ctr" indent="0" marL="0">
              <a:lnSpc>
                <a:spcPct val="115000"/>
              </a:lnSpc>
              <a:buNone/>
            </a:pPr>
            <a:r>
              <a:rPr lang="en-US" sz="950" dirty="0">
                <a:solidFill>
                  <a:srgbClr val="8B90B3"/>
                </a:solidFill>
                <a:latin typeface="Calibri" pitchFamily="34" charset="0"/>
                <a:ea typeface="Calibri" pitchFamily="34" charset="-122"/>
                <a:cs typeface="Calibri" pitchFamily="34" charset="-120"/>
              </a:rPr>
              <a:t>Reads invoice,</a:t>
            </a:r>
            <a:endParaRPr lang="en-US" sz="950" dirty="0"/>
          </a:p>
          <a:p>
            <a:pPr algn="ctr" indent="0" marL="0">
              <a:lnSpc>
                <a:spcPct val="115000"/>
              </a:lnSpc>
              <a:buNone/>
            </a:pPr>
            <a:r>
              <a:rPr lang="en-US" sz="950" dirty="0">
                <a:solidFill>
                  <a:srgbClr val="8B90B3"/>
                </a:solidFill>
                <a:latin typeface="Calibri" pitchFamily="34" charset="0"/>
                <a:ea typeface="Calibri" pitchFamily="34" charset="-122"/>
                <a:cs typeface="Calibri" pitchFamily="34" charset="-120"/>
              </a:rPr>
              <a:t>tags risk tier</a:t>
            </a:r>
            <a:endParaRPr lang="en-US" sz="950" dirty="0"/>
          </a:p>
        </p:txBody>
      </p:sp>
      <p:sp>
        <p:nvSpPr>
          <p:cNvPr id="10" name="Shape 7"/>
          <p:cNvSpPr/>
          <p:nvPr/>
        </p:nvSpPr>
        <p:spPr>
          <a:xfrm>
            <a:off x="2560320" y="3040380"/>
            <a:ext cx="411480" cy="0"/>
          </a:xfrm>
          <a:prstGeom prst="line">
            <a:avLst/>
          </a:prstGeom>
          <a:noFill/>
          <a:ln w="19050">
            <a:solidFill>
              <a:srgbClr val="22D3EE"/>
            </a:solidFill>
            <a:prstDash val="solid"/>
          </a:ln>
        </p:spPr>
      </p:sp>
      <p:sp>
        <p:nvSpPr>
          <p:cNvPr id="11" name="Shape 8"/>
          <p:cNvSpPr/>
          <p:nvPr/>
        </p:nvSpPr>
        <p:spPr>
          <a:xfrm>
            <a:off x="2971800" y="1874520"/>
            <a:ext cx="1737360" cy="2331720"/>
          </a:xfrm>
          <a:prstGeom prst="roundRect">
            <a:avLst>
              <a:gd name="adj" fmla="val 4211"/>
            </a:avLst>
          </a:prstGeom>
          <a:solidFill>
            <a:srgbClr val="1C1F47"/>
          </a:solidFill>
          <a:ln w="12700">
            <a:solidFill>
              <a:srgbClr val="35386E"/>
            </a:solidFill>
            <a:prstDash val="solid"/>
          </a:ln>
        </p:spPr>
      </p:sp>
      <p:sp>
        <p:nvSpPr>
          <p:cNvPr id="12" name="Shape 9"/>
          <p:cNvSpPr/>
          <p:nvPr/>
        </p:nvSpPr>
        <p:spPr>
          <a:xfrm>
            <a:off x="3547872" y="2103120"/>
            <a:ext cx="585216" cy="585216"/>
          </a:xfrm>
          <a:prstGeom prst="ellipse">
            <a:avLst/>
          </a:prstGeom>
          <a:solidFill>
            <a:srgbClr val="12142E"/>
          </a:solidFill>
          <a:ln/>
        </p:spPr>
      </p:sp>
      <p:pic>
        <p:nvPicPr>
          <p:cNvPr id="13" name="Image 1" descr="/home/claude/agents-deck/icons/chart_cyan.png">    </p:cNvPr>
          <p:cNvPicPr>
            <a:picLocks noChangeAspect="1"/>
          </p:cNvPicPr>
          <p:nvPr/>
        </p:nvPicPr>
        <p:blipFill>
          <a:blip r:embed="rId2"/>
          <a:stretch>
            <a:fillRect/>
          </a:stretch>
        </p:blipFill>
        <p:spPr>
          <a:xfrm>
            <a:off x="3700028" y="2255276"/>
            <a:ext cx="280904" cy="280904"/>
          </a:xfrm>
          <a:prstGeom prst="rect">
            <a:avLst/>
          </a:prstGeom>
        </p:spPr>
      </p:pic>
      <p:sp>
        <p:nvSpPr>
          <p:cNvPr id="14" name="Text 10"/>
          <p:cNvSpPr/>
          <p:nvPr/>
        </p:nvSpPr>
        <p:spPr>
          <a:xfrm>
            <a:off x="3044952" y="2788920"/>
            <a:ext cx="1591056" cy="548640"/>
          </a:xfrm>
          <a:prstGeom prst="rect">
            <a:avLst/>
          </a:prstGeom>
          <a:noFill/>
          <a:ln/>
        </p:spPr>
        <p:txBody>
          <a:bodyPr wrap="square" lIns="0" tIns="0" rIns="0" bIns="0" rtlCol="0" anchor="ctr"/>
          <a:lstStyle/>
          <a:p>
            <a:pPr algn="ctr" indent="0" marL="0">
              <a:lnSpc>
                <a:spcPct val="105000"/>
              </a:lnSpc>
              <a:buNone/>
            </a:pPr>
            <a:r>
              <a:rPr lang="en-US" sz="1250" b="1" dirty="0">
                <a:solidFill>
                  <a:srgbClr val="FFFFFF"/>
                </a:solidFill>
                <a:latin typeface="Calibri" pitchFamily="34" charset="0"/>
                <a:ea typeface="Calibri" pitchFamily="34" charset="-122"/>
                <a:cs typeface="Calibri" pitchFamily="34" charset="-120"/>
              </a:rPr>
              <a:t>Risk</a:t>
            </a:r>
            <a:endParaRPr lang="en-US" sz="1250" dirty="0"/>
          </a:p>
          <a:p>
            <a:pPr algn="ctr" indent="0" marL="0">
              <a:lnSpc>
                <a:spcPct val="105000"/>
              </a:lnSpc>
              <a:buNone/>
            </a:pPr>
            <a:r>
              <a:rPr lang="en-US" sz="1250" b="1" dirty="0">
                <a:solidFill>
                  <a:srgbClr val="FFFFFF"/>
                </a:solidFill>
                <a:latin typeface="Calibri" pitchFamily="34" charset="0"/>
                <a:ea typeface="Calibri" pitchFamily="34" charset="-122"/>
                <a:cs typeface="Calibri" pitchFamily="34" charset="-120"/>
              </a:rPr>
              <a:t>Assessment</a:t>
            </a:r>
            <a:endParaRPr lang="en-US" sz="1250" dirty="0"/>
          </a:p>
        </p:txBody>
      </p:sp>
      <p:sp>
        <p:nvSpPr>
          <p:cNvPr id="15" name="Text 11"/>
          <p:cNvSpPr/>
          <p:nvPr/>
        </p:nvSpPr>
        <p:spPr>
          <a:xfrm>
            <a:off x="3063240" y="3383280"/>
            <a:ext cx="1554480" cy="777240"/>
          </a:xfrm>
          <a:prstGeom prst="rect">
            <a:avLst/>
          </a:prstGeom>
          <a:noFill/>
          <a:ln/>
        </p:spPr>
        <p:txBody>
          <a:bodyPr wrap="square" lIns="0" tIns="0" rIns="0" bIns="0" rtlCol="0" anchor="ctr"/>
          <a:lstStyle/>
          <a:p>
            <a:pPr algn="ctr" indent="0" marL="0">
              <a:lnSpc>
                <a:spcPct val="115000"/>
              </a:lnSpc>
              <a:buNone/>
            </a:pPr>
            <a:r>
              <a:rPr lang="en-US" sz="950" dirty="0">
                <a:solidFill>
                  <a:srgbClr val="8B90B3"/>
                </a:solidFill>
                <a:latin typeface="Calibri" pitchFamily="34" charset="0"/>
                <a:ea typeface="Calibri" pitchFamily="34" charset="-122"/>
                <a:cs typeface="Calibri" pitchFamily="34" charset="-120"/>
              </a:rPr>
              <a:t>Checks payment</a:t>
            </a:r>
            <a:endParaRPr lang="en-US" sz="950" dirty="0"/>
          </a:p>
          <a:p>
            <a:pPr algn="ctr" indent="0" marL="0">
              <a:lnSpc>
                <a:spcPct val="115000"/>
              </a:lnSpc>
              <a:buNone/>
            </a:pPr>
            <a:r>
              <a:rPr lang="en-US" sz="950" dirty="0">
                <a:solidFill>
                  <a:srgbClr val="8B90B3"/>
                </a:solidFill>
                <a:latin typeface="Calibri" pitchFamily="34" charset="0"/>
                <a:ea typeface="Calibri" pitchFamily="34" charset="-122"/>
                <a:cs typeface="Calibri" pitchFamily="34" charset="-120"/>
              </a:rPr>
              <a:t>history (memory)</a:t>
            </a:r>
            <a:endParaRPr lang="en-US" sz="950" dirty="0"/>
          </a:p>
        </p:txBody>
      </p:sp>
      <p:sp>
        <p:nvSpPr>
          <p:cNvPr id="16" name="Shape 12"/>
          <p:cNvSpPr/>
          <p:nvPr/>
        </p:nvSpPr>
        <p:spPr>
          <a:xfrm>
            <a:off x="4709160" y="3040380"/>
            <a:ext cx="411480" cy="0"/>
          </a:xfrm>
          <a:prstGeom prst="line">
            <a:avLst/>
          </a:prstGeom>
          <a:noFill/>
          <a:ln w="19050">
            <a:solidFill>
              <a:srgbClr val="22D3EE"/>
            </a:solidFill>
            <a:prstDash val="solid"/>
          </a:ln>
        </p:spPr>
      </p:sp>
      <p:sp>
        <p:nvSpPr>
          <p:cNvPr id="17" name="Shape 13"/>
          <p:cNvSpPr/>
          <p:nvPr/>
        </p:nvSpPr>
        <p:spPr>
          <a:xfrm>
            <a:off x="5120640" y="1874520"/>
            <a:ext cx="1737360" cy="2331720"/>
          </a:xfrm>
          <a:prstGeom prst="roundRect">
            <a:avLst>
              <a:gd name="adj" fmla="val 4211"/>
            </a:avLst>
          </a:prstGeom>
          <a:solidFill>
            <a:srgbClr val="1C1F47"/>
          </a:solidFill>
          <a:ln w="12700">
            <a:solidFill>
              <a:srgbClr val="35386E"/>
            </a:solidFill>
            <a:prstDash val="solid"/>
          </a:ln>
        </p:spPr>
      </p:sp>
      <p:sp>
        <p:nvSpPr>
          <p:cNvPr id="18" name="Shape 14"/>
          <p:cNvSpPr/>
          <p:nvPr/>
        </p:nvSpPr>
        <p:spPr>
          <a:xfrm>
            <a:off x="5696712" y="2103120"/>
            <a:ext cx="585216" cy="585216"/>
          </a:xfrm>
          <a:prstGeom prst="ellipse">
            <a:avLst/>
          </a:prstGeom>
          <a:solidFill>
            <a:srgbClr val="12142E"/>
          </a:solidFill>
          <a:ln/>
        </p:spPr>
      </p:sp>
      <p:pic>
        <p:nvPicPr>
          <p:cNvPr id="19" name="Image 2" descr="/home/claude/agents-deck/icons/file_cyan.png">    </p:cNvPr>
          <p:cNvPicPr>
            <a:picLocks noChangeAspect="1"/>
          </p:cNvPicPr>
          <p:nvPr/>
        </p:nvPicPr>
        <p:blipFill>
          <a:blip r:embed="rId3"/>
          <a:stretch>
            <a:fillRect/>
          </a:stretch>
        </p:blipFill>
        <p:spPr>
          <a:xfrm>
            <a:off x="5848868" y="2255276"/>
            <a:ext cx="280904" cy="280904"/>
          </a:xfrm>
          <a:prstGeom prst="rect">
            <a:avLst/>
          </a:prstGeom>
        </p:spPr>
      </p:pic>
      <p:sp>
        <p:nvSpPr>
          <p:cNvPr id="20" name="Text 15"/>
          <p:cNvSpPr/>
          <p:nvPr/>
        </p:nvSpPr>
        <p:spPr>
          <a:xfrm>
            <a:off x="5193792" y="2788920"/>
            <a:ext cx="1591056" cy="548640"/>
          </a:xfrm>
          <a:prstGeom prst="rect">
            <a:avLst/>
          </a:prstGeom>
          <a:noFill/>
          <a:ln/>
        </p:spPr>
        <p:txBody>
          <a:bodyPr wrap="square" lIns="0" tIns="0" rIns="0" bIns="0" rtlCol="0" anchor="ctr"/>
          <a:lstStyle/>
          <a:p>
            <a:pPr algn="ctr" indent="0" marL="0">
              <a:lnSpc>
                <a:spcPct val="105000"/>
              </a:lnSpc>
              <a:buNone/>
            </a:pPr>
            <a:r>
              <a:rPr lang="en-US" sz="1250" b="1" dirty="0">
                <a:solidFill>
                  <a:srgbClr val="FFFFFF"/>
                </a:solidFill>
                <a:latin typeface="Calibri" pitchFamily="34" charset="0"/>
                <a:ea typeface="Calibri" pitchFamily="34" charset="-122"/>
                <a:cs typeface="Calibri" pitchFamily="34" charset="-120"/>
              </a:rPr>
              <a:t>Draft</a:t>
            </a:r>
            <a:endParaRPr lang="en-US" sz="1250" dirty="0"/>
          </a:p>
          <a:p>
            <a:pPr algn="ctr" indent="0" marL="0">
              <a:lnSpc>
                <a:spcPct val="105000"/>
              </a:lnSpc>
              <a:buNone/>
            </a:pPr>
            <a:r>
              <a:rPr lang="en-US" sz="1250" b="1" dirty="0">
                <a:solidFill>
                  <a:srgbClr val="FFFFFF"/>
                </a:solidFill>
                <a:latin typeface="Calibri" pitchFamily="34" charset="0"/>
                <a:ea typeface="Calibri" pitchFamily="34" charset="-122"/>
                <a:cs typeface="Calibri" pitchFamily="34" charset="-120"/>
              </a:rPr>
              <a:t>Email</a:t>
            </a:r>
            <a:endParaRPr lang="en-US" sz="1250" dirty="0"/>
          </a:p>
        </p:txBody>
      </p:sp>
      <p:sp>
        <p:nvSpPr>
          <p:cNvPr id="21" name="Text 16"/>
          <p:cNvSpPr/>
          <p:nvPr/>
        </p:nvSpPr>
        <p:spPr>
          <a:xfrm>
            <a:off x="5212080" y="3383280"/>
            <a:ext cx="1554480" cy="777240"/>
          </a:xfrm>
          <a:prstGeom prst="rect">
            <a:avLst/>
          </a:prstGeom>
          <a:noFill/>
          <a:ln/>
        </p:spPr>
        <p:txBody>
          <a:bodyPr wrap="square" lIns="0" tIns="0" rIns="0" bIns="0" rtlCol="0" anchor="ctr"/>
          <a:lstStyle/>
          <a:p>
            <a:pPr algn="ctr" indent="0" marL="0">
              <a:lnSpc>
                <a:spcPct val="115000"/>
              </a:lnSpc>
              <a:buNone/>
            </a:pPr>
            <a:r>
              <a:rPr lang="en-US" sz="950" dirty="0">
                <a:solidFill>
                  <a:srgbClr val="8B90B3"/>
                </a:solidFill>
                <a:latin typeface="Calibri" pitchFamily="34" charset="0"/>
                <a:ea typeface="Calibri" pitchFamily="34" charset="-122"/>
                <a:cs typeface="Calibri" pitchFamily="34" charset="-120"/>
              </a:rPr>
              <a:t>Generates tone-</a:t>
            </a:r>
            <a:endParaRPr lang="en-US" sz="950" dirty="0"/>
          </a:p>
          <a:p>
            <a:pPr algn="ctr" indent="0" marL="0">
              <a:lnSpc>
                <a:spcPct val="115000"/>
              </a:lnSpc>
              <a:buNone/>
            </a:pPr>
            <a:r>
              <a:rPr lang="en-US" sz="950" dirty="0">
                <a:solidFill>
                  <a:srgbClr val="8B90B3"/>
                </a:solidFill>
                <a:latin typeface="Calibri" pitchFamily="34" charset="0"/>
                <a:ea typeface="Calibri" pitchFamily="34" charset="-122"/>
                <a:cs typeface="Calibri" pitchFamily="34" charset="-120"/>
              </a:rPr>
              <a:t>matched message</a:t>
            </a:r>
            <a:endParaRPr lang="en-US" sz="950" dirty="0"/>
          </a:p>
        </p:txBody>
      </p:sp>
      <p:sp>
        <p:nvSpPr>
          <p:cNvPr id="22" name="Shape 17"/>
          <p:cNvSpPr/>
          <p:nvPr/>
        </p:nvSpPr>
        <p:spPr>
          <a:xfrm>
            <a:off x="6858000" y="3040380"/>
            <a:ext cx="411480" cy="0"/>
          </a:xfrm>
          <a:prstGeom prst="line">
            <a:avLst/>
          </a:prstGeom>
          <a:noFill/>
          <a:ln w="19050">
            <a:solidFill>
              <a:srgbClr val="22D3EE"/>
            </a:solidFill>
            <a:prstDash val="solid"/>
          </a:ln>
        </p:spPr>
      </p:sp>
      <p:sp>
        <p:nvSpPr>
          <p:cNvPr id="23" name="Shape 18"/>
          <p:cNvSpPr/>
          <p:nvPr/>
        </p:nvSpPr>
        <p:spPr>
          <a:xfrm>
            <a:off x="7269480" y="1874520"/>
            <a:ext cx="1737360" cy="2331720"/>
          </a:xfrm>
          <a:prstGeom prst="roundRect">
            <a:avLst>
              <a:gd name="adj" fmla="val 4211"/>
            </a:avLst>
          </a:prstGeom>
          <a:solidFill>
            <a:srgbClr val="3A2E12"/>
          </a:solidFill>
          <a:ln w="19050">
            <a:solidFill>
              <a:srgbClr val="D97706"/>
            </a:solidFill>
            <a:prstDash val="solid"/>
          </a:ln>
        </p:spPr>
      </p:sp>
      <p:sp>
        <p:nvSpPr>
          <p:cNvPr id="24" name="Shape 19"/>
          <p:cNvSpPr/>
          <p:nvPr/>
        </p:nvSpPr>
        <p:spPr>
          <a:xfrm>
            <a:off x="7845552" y="2103120"/>
            <a:ext cx="585216" cy="585216"/>
          </a:xfrm>
          <a:prstGeom prst="ellipse">
            <a:avLst/>
          </a:prstGeom>
          <a:solidFill>
            <a:srgbClr val="D97706"/>
          </a:solidFill>
          <a:ln/>
        </p:spPr>
      </p:sp>
      <p:pic>
        <p:nvPicPr>
          <p:cNvPr id="25" name="Image 3" descr="/home/claude/agents-deck/icons/users_navy.png">    </p:cNvPr>
          <p:cNvPicPr>
            <a:picLocks noChangeAspect="1"/>
          </p:cNvPicPr>
          <p:nvPr/>
        </p:nvPicPr>
        <p:blipFill>
          <a:blip r:embed="rId4"/>
          <a:stretch>
            <a:fillRect/>
          </a:stretch>
        </p:blipFill>
        <p:spPr>
          <a:xfrm>
            <a:off x="7997708" y="2255276"/>
            <a:ext cx="280904" cy="280904"/>
          </a:xfrm>
          <a:prstGeom prst="rect">
            <a:avLst/>
          </a:prstGeom>
        </p:spPr>
      </p:pic>
      <p:sp>
        <p:nvSpPr>
          <p:cNvPr id="26" name="Text 20"/>
          <p:cNvSpPr/>
          <p:nvPr/>
        </p:nvSpPr>
        <p:spPr>
          <a:xfrm>
            <a:off x="7342632" y="2788920"/>
            <a:ext cx="1591056" cy="548640"/>
          </a:xfrm>
          <a:prstGeom prst="rect">
            <a:avLst/>
          </a:prstGeom>
          <a:noFill/>
          <a:ln/>
        </p:spPr>
        <p:txBody>
          <a:bodyPr wrap="square" lIns="0" tIns="0" rIns="0" bIns="0" rtlCol="0" anchor="ctr"/>
          <a:lstStyle/>
          <a:p>
            <a:pPr algn="ctr" indent="0" marL="0">
              <a:lnSpc>
                <a:spcPct val="105000"/>
              </a:lnSpc>
              <a:buNone/>
            </a:pPr>
            <a:r>
              <a:rPr lang="en-US" sz="1250" b="1" dirty="0">
                <a:solidFill>
                  <a:srgbClr val="FFFFFF"/>
                </a:solidFill>
                <a:latin typeface="Calibri" pitchFamily="34" charset="0"/>
                <a:ea typeface="Calibri" pitchFamily="34" charset="-122"/>
                <a:cs typeface="Calibri" pitchFamily="34" charset="-120"/>
              </a:rPr>
              <a:t>Human</a:t>
            </a:r>
            <a:endParaRPr lang="en-US" sz="1250" dirty="0"/>
          </a:p>
          <a:p>
            <a:pPr algn="ctr" indent="0" marL="0">
              <a:lnSpc>
                <a:spcPct val="105000"/>
              </a:lnSpc>
              <a:buNone/>
            </a:pPr>
            <a:r>
              <a:rPr lang="en-US" sz="1250" b="1" dirty="0">
                <a:solidFill>
                  <a:srgbClr val="FFFFFF"/>
                </a:solidFill>
                <a:latin typeface="Calibri" pitchFamily="34" charset="0"/>
                <a:ea typeface="Calibri" pitchFamily="34" charset="-122"/>
                <a:cs typeface="Calibri" pitchFamily="34" charset="-120"/>
              </a:rPr>
              <a:t>Approval</a:t>
            </a:r>
            <a:endParaRPr lang="en-US" sz="1250" dirty="0"/>
          </a:p>
        </p:txBody>
      </p:sp>
      <p:sp>
        <p:nvSpPr>
          <p:cNvPr id="27" name="Text 21"/>
          <p:cNvSpPr/>
          <p:nvPr/>
        </p:nvSpPr>
        <p:spPr>
          <a:xfrm>
            <a:off x="7360920" y="3383280"/>
            <a:ext cx="1554480" cy="777240"/>
          </a:xfrm>
          <a:prstGeom prst="rect">
            <a:avLst/>
          </a:prstGeom>
          <a:noFill/>
          <a:ln/>
        </p:spPr>
        <p:txBody>
          <a:bodyPr wrap="square" lIns="0" tIns="0" rIns="0" bIns="0" rtlCol="0" anchor="ctr"/>
          <a:lstStyle/>
          <a:p>
            <a:pPr algn="ctr" indent="0" marL="0">
              <a:lnSpc>
                <a:spcPct val="115000"/>
              </a:lnSpc>
              <a:buNone/>
            </a:pPr>
            <a:r>
              <a:rPr lang="en-US" sz="950" dirty="0">
                <a:solidFill>
                  <a:srgbClr val="8B90B3"/>
                </a:solidFill>
                <a:latin typeface="Calibri" pitchFamily="34" charset="0"/>
                <a:ea typeface="Calibri" pitchFamily="34" charset="-122"/>
                <a:cs typeface="Calibri" pitchFamily="34" charset="-120"/>
              </a:rPr>
              <a:t>Reviewer approves</a:t>
            </a:r>
            <a:endParaRPr lang="en-US" sz="950" dirty="0"/>
          </a:p>
          <a:p>
            <a:pPr algn="ctr" indent="0" marL="0">
              <a:lnSpc>
                <a:spcPct val="115000"/>
              </a:lnSpc>
              <a:buNone/>
            </a:pPr>
            <a:r>
              <a:rPr lang="en-US" sz="950" dirty="0">
                <a:solidFill>
                  <a:srgbClr val="8B90B3"/>
                </a:solidFill>
                <a:latin typeface="Calibri" pitchFamily="34" charset="0"/>
                <a:ea typeface="Calibri" pitchFamily="34" charset="-122"/>
                <a:cs typeface="Calibri" pitchFamily="34" charset="-120"/>
              </a:rPr>
              <a:t>or edits</a:t>
            </a:r>
            <a:endParaRPr lang="en-US" sz="950" dirty="0"/>
          </a:p>
        </p:txBody>
      </p:sp>
      <p:sp>
        <p:nvSpPr>
          <p:cNvPr id="28" name="Shape 22"/>
          <p:cNvSpPr/>
          <p:nvPr/>
        </p:nvSpPr>
        <p:spPr>
          <a:xfrm>
            <a:off x="9006840" y="3040380"/>
            <a:ext cx="411480" cy="0"/>
          </a:xfrm>
          <a:prstGeom prst="line">
            <a:avLst/>
          </a:prstGeom>
          <a:noFill/>
          <a:ln w="19050">
            <a:solidFill>
              <a:srgbClr val="22D3EE"/>
            </a:solidFill>
            <a:prstDash val="solid"/>
          </a:ln>
        </p:spPr>
      </p:sp>
      <p:sp>
        <p:nvSpPr>
          <p:cNvPr id="29" name="Shape 23"/>
          <p:cNvSpPr/>
          <p:nvPr/>
        </p:nvSpPr>
        <p:spPr>
          <a:xfrm>
            <a:off x="9418320" y="1874520"/>
            <a:ext cx="1737360" cy="2331720"/>
          </a:xfrm>
          <a:prstGeom prst="roundRect">
            <a:avLst>
              <a:gd name="adj" fmla="val 4211"/>
            </a:avLst>
          </a:prstGeom>
          <a:solidFill>
            <a:srgbClr val="1C1F47"/>
          </a:solidFill>
          <a:ln w="12700">
            <a:solidFill>
              <a:srgbClr val="35386E"/>
            </a:solidFill>
            <a:prstDash val="solid"/>
          </a:ln>
        </p:spPr>
      </p:sp>
      <p:sp>
        <p:nvSpPr>
          <p:cNvPr id="30" name="Shape 24"/>
          <p:cNvSpPr/>
          <p:nvPr/>
        </p:nvSpPr>
        <p:spPr>
          <a:xfrm>
            <a:off x="9994392" y="2103120"/>
            <a:ext cx="585216" cy="585216"/>
          </a:xfrm>
          <a:prstGeom prst="ellipse">
            <a:avLst/>
          </a:prstGeom>
          <a:solidFill>
            <a:srgbClr val="12142E"/>
          </a:solidFill>
          <a:ln/>
        </p:spPr>
      </p:sp>
      <p:pic>
        <p:nvPicPr>
          <p:cNvPr id="31" name="Image 4" descr="/home/claude/agents-deck/icons/check_cyan.png">    </p:cNvPr>
          <p:cNvPicPr>
            <a:picLocks noChangeAspect="1"/>
          </p:cNvPicPr>
          <p:nvPr/>
        </p:nvPicPr>
        <p:blipFill>
          <a:blip r:embed="rId5"/>
          <a:stretch>
            <a:fillRect/>
          </a:stretch>
        </p:blipFill>
        <p:spPr>
          <a:xfrm>
            <a:off x="10146548" y="2255276"/>
            <a:ext cx="280904" cy="280904"/>
          </a:xfrm>
          <a:prstGeom prst="rect">
            <a:avLst/>
          </a:prstGeom>
        </p:spPr>
      </p:pic>
      <p:sp>
        <p:nvSpPr>
          <p:cNvPr id="32" name="Text 25"/>
          <p:cNvSpPr/>
          <p:nvPr/>
        </p:nvSpPr>
        <p:spPr>
          <a:xfrm>
            <a:off x="9491472" y="2788920"/>
            <a:ext cx="1591056" cy="548640"/>
          </a:xfrm>
          <a:prstGeom prst="rect">
            <a:avLst/>
          </a:prstGeom>
          <a:noFill/>
          <a:ln/>
        </p:spPr>
        <p:txBody>
          <a:bodyPr wrap="square" lIns="0" tIns="0" rIns="0" bIns="0" rtlCol="0" anchor="ctr"/>
          <a:lstStyle/>
          <a:p>
            <a:pPr algn="ctr" indent="0" marL="0">
              <a:lnSpc>
                <a:spcPct val="105000"/>
              </a:lnSpc>
              <a:buNone/>
            </a:pPr>
            <a:r>
              <a:rPr lang="en-US" sz="1250" b="1" dirty="0">
                <a:solidFill>
                  <a:srgbClr val="FFFFFF"/>
                </a:solidFill>
                <a:latin typeface="Calibri" pitchFamily="34" charset="0"/>
                <a:ea typeface="Calibri" pitchFamily="34" charset="-122"/>
                <a:cs typeface="Calibri" pitchFamily="34" charset="-120"/>
              </a:rPr>
              <a:t>Send &amp;</a:t>
            </a:r>
            <a:endParaRPr lang="en-US" sz="1250" dirty="0"/>
          </a:p>
          <a:p>
            <a:pPr algn="ctr" indent="0" marL="0">
              <a:lnSpc>
                <a:spcPct val="105000"/>
              </a:lnSpc>
              <a:buNone/>
            </a:pPr>
            <a:r>
              <a:rPr lang="en-US" sz="1250" b="1" dirty="0">
                <a:solidFill>
                  <a:srgbClr val="FFFFFF"/>
                </a:solidFill>
                <a:latin typeface="Calibri" pitchFamily="34" charset="0"/>
                <a:ea typeface="Calibri" pitchFamily="34" charset="-122"/>
                <a:cs typeface="Calibri" pitchFamily="34" charset="-120"/>
              </a:rPr>
              <a:t>Log</a:t>
            </a:r>
            <a:endParaRPr lang="en-US" sz="1250" dirty="0"/>
          </a:p>
        </p:txBody>
      </p:sp>
      <p:sp>
        <p:nvSpPr>
          <p:cNvPr id="33" name="Text 26"/>
          <p:cNvSpPr/>
          <p:nvPr/>
        </p:nvSpPr>
        <p:spPr>
          <a:xfrm>
            <a:off x="9509760" y="3383280"/>
            <a:ext cx="1554480" cy="777240"/>
          </a:xfrm>
          <a:prstGeom prst="rect">
            <a:avLst/>
          </a:prstGeom>
          <a:noFill/>
          <a:ln/>
        </p:spPr>
        <p:txBody>
          <a:bodyPr wrap="square" lIns="0" tIns="0" rIns="0" bIns="0" rtlCol="0" anchor="ctr"/>
          <a:lstStyle/>
          <a:p>
            <a:pPr algn="ctr" indent="0" marL="0">
              <a:lnSpc>
                <a:spcPct val="115000"/>
              </a:lnSpc>
              <a:buNone/>
            </a:pPr>
            <a:r>
              <a:rPr lang="en-US" sz="950" dirty="0">
                <a:solidFill>
                  <a:srgbClr val="8B90B3"/>
                </a:solidFill>
                <a:latin typeface="Calibri" pitchFamily="34" charset="0"/>
                <a:ea typeface="Calibri" pitchFamily="34" charset="-122"/>
                <a:cs typeface="Calibri" pitchFamily="34" charset="-120"/>
              </a:rPr>
              <a:t>Executes send,</a:t>
            </a:r>
            <a:endParaRPr lang="en-US" sz="950" dirty="0"/>
          </a:p>
          <a:p>
            <a:pPr algn="ctr" indent="0" marL="0">
              <a:lnSpc>
                <a:spcPct val="115000"/>
              </a:lnSpc>
              <a:buNone/>
            </a:pPr>
            <a:r>
              <a:rPr lang="en-US" sz="950" dirty="0">
                <a:solidFill>
                  <a:srgbClr val="8B90B3"/>
                </a:solidFill>
                <a:latin typeface="Calibri" pitchFamily="34" charset="0"/>
                <a:ea typeface="Calibri" pitchFamily="34" charset="-122"/>
                <a:cs typeface="Calibri" pitchFamily="34" charset="-120"/>
              </a:rPr>
              <a:t>writes audit log</a:t>
            </a:r>
            <a:endParaRPr lang="en-US" sz="950" dirty="0"/>
          </a:p>
        </p:txBody>
      </p:sp>
      <p:sp>
        <p:nvSpPr>
          <p:cNvPr id="34" name="Text 27"/>
          <p:cNvSpPr/>
          <p:nvPr/>
        </p:nvSpPr>
        <p:spPr>
          <a:xfrm>
            <a:off x="822960" y="5074920"/>
            <a:ext cx="5486400" cy="274320"/>
          </a:xfrm>
          <a:prstGeom prst="rect">
            <a:avLst/>
          </a:prstGeom>
          <a:noFill/>
          <a:ln/>
        </p:spPr>
        <p:txBody>
          <a:bodyPr wrap="square" lIns="0" tIns="0" rIns="0" bIns="0" rtlCol="0" anchor="ctr"/>
          <a:lstStyle/>
          <a:p>
            <a:pPr indent="0" marL="0">
              <a:buNone/>
            </a:pPr>
            <a:r>
              <a:rPr lang="en-US" sz="1000" b="1" spc="200" kern="0" dirty="0">
                <a:solidFill>
                  <a:srgbClr val="22D3EE"/>
                </a:solidFill>
                <a:latin typeface="Calibri" pitchFamily="34" charset="0"/>
                <a:ea typeface="Calibri" pitchFamily="34" charset="-122"/>
                <a:cs typeface="Calibri" pitchFamily="34" charset="-120"/>
              </a:rPr>
              <a:t>AGENTIC STEPS + ONE GOVERNANCE GATE</a:t>
            </a:r>
            <a:endParaRPr lang="en-US" sz="1000" dirty="0"/>
          </a:p>
        </p:txBody>
      </p:sp>
      <p:sp>
        <p:nvSpPr>
          <p:cNvPr id="35" name="Text 28"/>
          <p:cNvSpPr/>
          <p:nvPr/>
        </p:nvSpPr>
        <p:spPr>
          <a:xfrm>
            <a:off x="640080" y="5623560"/>
            <a:ext cx="10881360" cy="54864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Five agents, one deterministic sequence: each step is a separate agent with its own tools and prompt; the approval gate is the only place a human sits in the loop before an irreversible action.</a:t>
            </a:r>
            <a:endParaRPr lang="en-US" sz="1100" dirty="0"/>
          </a:p>
        </p:txBody>
      </p:sp>
      <p:sp>
        <p:nvSpPr>
          <p:cNvPr id="36" name="Text 29"/>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25</a:t>
            </a:r>
            <a:endParaRPr lang="en-US" sz="1000" dirty="0"/>
          </a:p>
        </p:txBody>
      </p:sp>
      <p:sp>
        <p:nvSpPr>
          <p:cNvPr id="37" name="Text 30"/>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2142E"/>
        </a:solidFill>
      </p:bgPr>
    </p:bg>
    <p:spTree>
      <p:nvGrpSpPr>
        <p:cNvPr id="1" name=""/>
        <p:cNvGrpSpPr/>
        <p:nvPr/>
      </p:nvGrpSpPr>
      <p:grpSpPr>
        <a:xfrm>
          <a:off x="0" y="0"/>
          <a:ext cx="0" cy="0"/>
          <a:chOff x="0" y="0"/>
          <a:chExt cx="0" cy="0"/>
        </a:xfrm>
      </p:grpSpPr>
      <p:sp>
        <p:nvSpPr>
          <p:cNvPr id="2" name="Shape 0"/>
          <p:cNvSpPr/>
          <p:nvPr/>
        </p:nvSpPr>
        <p:spPr>
          <a:xfrm>
            <a:off x="914400" y="914400"/>
            <a:ext cx="54864" cy="54864"/>
          </a:xfrm>
          <a:prstGeom prst="ellipse">
            <a:avLst/>
          </a:prstGeom>
          <a:solidFill>
            <a:srgbClr val="2A2D5C"/>
          </a:solidFill>
          <a:ln/>
        </p:spPr>
      </p:sp>
      <p:sp>
        <p:nvSpPr>
          <p:cNvPr id="3" name="Shape 1"/>
          <p:cNvSpPr/>
          <p:nvPr/>
        </p:nvSpPr>
        <p:spPr>
          <a:xfrm>
            <a:off x="1463040" y="2194560"/>
            <a:ext cx="54864" cy="54864"/>
          </a:xfrm>
          <a:prstGeom prst="ellipse">
            <a:avLst/>
          </a:prstGeom>
          <a:solidFill>
            <a:srgbClr val="2A2D5C"/>
          </a:solidFill>
          <a:ln/>
        </p:spPr>
      </p:sp>
      <p:sp>
        <p:nvSpPr>
          <p:cNvPr id="4" name="Shape 2"/>
          <p:cNvSpPr/>
          <p:nvPr/>
        </p:nvSpPr>
        <p:spPr>
          <a:xfrm>
            <a:off x="731520" y="3840480"/>
            <a:ext cx="54864" cy="54864"/>
          </a:xfrm>
          <a:prstGeom prst="ellipse">
            <a:avLst/>
          </a:prstGeom>
          <a:solidFill>
            <a:srgbClr val="2A2D5C"/>
          </a:solidFill>
          <a:ln/>
        </p:spPr>
      </p:sp>
      <p:sp>
        <p:nvSpPr>
          <p:cNvPr id="5" name="Shape 3"/>
          <p:cNvSpPr/>
          <p:nvPr/>
        </p:nvSpPr>
        <p:spPr>
          <a:xfrm>
            <a:off x="1737360" y="5120640"/>
            <a:ext cx="54864" cy="54864"/>
          </a:xfrm>
          <a:prstGeom prst="ellipse">
            <a:avLst/>
          </a:prstGeom>
          <a:solidFill>
            <a:srgbClr val="2A2D5C"/>
          </a:solidFill>
          <a:ln/>
        </p:spPr>
      </p:sp>
      <p:sp>
        <p:nvSpPr>
          <p:cNvPr id="6" name="Shape 4"/>
          <p:cNvSpPr/>
          <p:nvPr/>
        </p:nvSpPr>
        <p:spPr>
          <a:xfrm>
            <a:off x="2377440" y="1463040"/>
            <a:ext cx="54864" cy="54864"/>
          </a:xfrm>
          <a:prstGeom prst="ellipse">
            <a:avLst/>
          </a:prstGeom>
          <a:solidFill>
            <a:srgbClr val="2A2D5C"/>
          </a:solidFill>
          <a:ln/>
        </p:spPr>
      </p:sp>
      <p:sp>
        <p:nvSpPr>
          <p:cNvPr id="7" name="Shape 5"/>
          <p:cNvSpPr/>
          <p:nvPr/>
        </p:nvSpPr>
        <p:spPr>
          <a:xfrm>
            <a:off x="10789920" y="1097280"/>
            <a:ext cx="54864" cy="54864"/>
          </a:xfrm>
          <a:prstGeom prst="ellipse">
            <a:avLst/>
          </a:prstGeom>
          <a:solidFill>
            <a:srgbClr val="2A2D5C"/>
          </a:solidFill>
          <a:ln/>
        </p:spPr>
      </p:sp>
      <p:sp>
        <p:nvSpPr>
          <p:cNvPr id="8" name="Shape 6"/>
          <p:cNvSpPr/>
          <p:nvPr/>
        </p:nvSpPr>
        <p:spPr>
          <a:xfrm>
            <a:off x="11338560" y="2743200"/>
            <a:ext cx="54864" cy="54864"/>
          </a:xfrm>
          <a:prstGeom prst="ellipse">
            <a:avLst/>
          </a:prstGeom>
          <a:solidFill>
            <a:srgbClr val="2A2D5C"/>
          </a:solidFill>
          <a:ln/>
        </p:spPr>
      </p:sp>
      <p:sp>
        <p:nvSpPr>
          <p:cNvPr id="9" name="Shape 7"/>
          <p:cNvSpPr/>
          <p:nvPr/>
        </p:nvSpPr>
        <p:spPr>
          <a:xfrm>
            <a:off x="10515600" y="4572000"/>
            <a:ext cx="54864" cy="54864"/>
          </a:xfrm>
          <a:prstGeom prst="ellipse">
            <a:avLst/>
          </a:prstGeom>
          <a:solidFill>
            <a:srgbClr val="2A2D5C"/>
          </a:solidFill>
          <a:ln/>
        </p:spPr>
      </p:sp>
      <p:sp>
        <p:nvSpPr>
          <p:cNvPr id="10" name="Shape 8"/>
          <p:cNvSpPr/>
          <p:nvPr/>
        </p:nvSpPr>
        <p:spPr>
          <a:xfrm>
            <a:off x="11521440" y="5577840"/>
            <a:ext cx="54864" cy="54864"/>
          </a:xfrm>
          <a:prstGeom prst="ellipse">
            <a:avLst/>
          </a:prstGeom>
          <a:solidFill>
            <a:srgbClr val="2A2D5C"/>
          </a:solidFill>
          <a:ln/>
        </p:spPr>
      </p:sp>
      <p:sp>
        <p:nvSpPr>
          <p:cNvPr id="11" name="Shape 9"/>
          <p:cNvSpPr/>
          <p:nvPr/>
        </p:nvSpPr>
        <p:spPr>
          <a:xfrm>
            <a:off x="9966960" y="2011680"/>
            <a:ext cx="54864" cy="54864"/>
          </a:xfrm>
          <a:prstGeom prst="ellipse">
            <a:avLst/>
          </a:prstGeom>
          <a:solidFill>
            <a:srgbClr val="2A2D5C"/>
          </a:solidFill>
          <a:ln/>
        </p:spPr>
      </p:sp>
      <p:sp>
        <p:nvSpPr>
          <p:cNvPr id="12" name="Text 10"/>
          <p:cNvSpPr/>
          <p:nvPr/>
        </p:nvSpPr>
        <p:spPr>
          <a:xfrm>
            <a:off x="914400" y="2331720"/>
            <a:ext cx="5486400" cy="365760"/>
          </a:xfrm>
          <a:prstGeom prst="rect">
            <a:avLst/>
          </a:prstGeom>
          <a:noFill/>
          <a:ln/>
        </p:spPr>
        <p:txBody>
          <a:bodyPr wrap="square" lIns="0" tIns="0" rIns="0" bIns="0" rtlCol="0" anchor="ctr"/>
          <a:lstStyle/>
          <a:p>
            <a:pPr indent="0" marL="0">
              <a:buNone/>
            </a:pPr>
            <a:r>
              <a:rPr lang="en-US" sz="1300" b="1" spc="300" kern="0" dirty="0">
                <a:solidFill>
                  <a:srgbClr val="22D3EE"/>
                </a:solidFill>
                <a:latin typeface="Calibri" pitchFamily="34" charset="0"/>
                <a:ea typeface="Calibri" pitchFamily="34" charset="-122"/>
                <a:cs typeface="Calibri" pitchFamily="34" charset="-120"/>
              </a:rPr>
              <a:t>SECTION 7 / 7</a:t>
            </a:r>
            <a:endParaRPr lang="en-US" sz="1300" dirty="0"/>
          </a:p>
        </p:txBody>
      </p:sp>
      <p:sp>
        <p:nvSpPr>
          <p:cNvPr id="13" name="Shape 11"/>
          <p:cNvSpPr/>
          <p:nvPr/>
        </p:nvSpPr>
        <p:spPr>
          <a:xfrm>
            <a:off x="9692640" y="2148840"/>
            <a:ext cx="1234440" cy="1234440"/>
          </a:xfrm>
          <a:prstGeom prst="ellipse">
            <a:avLst/>
          </a:prstGeom>
          <a:solidFill>
            <a:srgbClr val="1C1F47"/>
          </a:solidFill>
          <a:ln/>
        </p:spPr>
      </p:sp>
      <p:pic>
        <p:nvPicPr>
          <p:cNvPr id="14" name="Image 0" descr="/home/claude/agents-deck/icons/shield_cyan.png">    </p:cNvPr>
          <p:cNvPicPr>
            <a:picLocks noChangeAspect="1"/>
          </p:cNvPicPr>
          <p:nvPr/>
        </p:nvPicPr>
        <p:blipFill>
          <a:blip r:embed="rId1"/>
          <a:stretch>
            <a:fillRect/>
          </a:stretch>
        </p:blipFill>
        <p:spPr>
          <a:xfrm>
            <a:off x="10013594" y="2469794"/>
            <a:ext cx="592531" cy="592531"/>
          </a:xfrm>
          <a:prstGeom prst="rect">
            <a:avLst/>
          </a:prstGeom>
        </p:spPr>
      </p:pic>
      <p:sp>
        <p:nvSpPr>
          <p:cNvPr id="15" name="Text 12"/>
          <p:cNvSpPr/>
          <p:nvPr/>
        </p:nvSpPr>
        <p:spPr>
          <a:xfrm>
            <a:off x="914400" y="2697480"/>
            <a:ext cx="841248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Governance</a:t>
            </a:r>
            <a:endParaRPr lang="en-US" sz="4400" dirty="0"/>
          </a:p>
        </p:txBody>
      </p:sp>
      <p:sp>
        <p:nvSpPr>
          <p:cNvPr id="16" name="Text 13"/>
          <p:cNvSpPr/>
          <p:nvPr/>
        </p:nvSpPr>
        <p:spPr>
          <a:xfrm>
            <a:off x="914400" y="3794760"/>
            <a:ext cx="7863840" cy="731520"/>
          </a:xfrm>
          <a:prstGeom prst="rect">
            <a:avLst/>
          </a:prstGeom>
          <a:noFill/>
          <a:ln/>
        </p:spPr>
        <p:txBody>
          <a:bodyPr wrap="square" lIns="0" tIns="0" rIns="0" bIns="0" rtlCol="0" anchor="ctr"/>
          <a:lstStyle/>
          <a:p>
            <a:pPr indent="0" marL="0">
              <a:buNone/>
            </a:pPr>
            <a:r>
              <a:rPr lang="en-US" sz="1600" dirty="0">
                <a:solidFill>
                  <a:srgbClr val="8B90B3"/>
                </a:solidFill>
                <a:latin typeface="Calibri" pitchFamily="34" charset="0"/>
                <a:ea typeface="Calibri" pitchFamily="34" charset="-122"/>
                <a:cs typeface="Calibri" pitchFamily="34" charset="-120"/>
              </a:rPr>
              <a:t>Guardrails, observability, permissions, and cost control for production agents.</a:t>
            </a:r>
            <a:endParaRPr lang="en-US" sz="1600" dirty="0"/>
          </a:p>
        </p:txBody>
      </p:sp>
      <p:sp>
        <p:nvSpPr>
          <p:cNvPr id="17" name="Text 14"/>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5A5E8C"/>
                </a:solidFill>
                <a:latin typeface="Calibri" pitchFamily="34" charset="0"/>
                <a:ea typeface="Calibri" pitchFamily="34" charset="-122"/>
                <a:cs typeface="Calibri" pitchFamily="34" charset="-120"/>
              </a:rPr>
              <a:t>26</a:t>
            </a:r>
            <a:endParaRPr lang="en-US" sz="1000" dirty="0"/>
          </a:p>
        </p:txBody>
      </p:sp>
      <p:sp>
        <p:nvSpPr>
          <p:cNvPr id="18" name="Text 15"/>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4A4E7A"/>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GOVERNANCE</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Why Governance Matters</a:t>
            </a:r>
            <a:endParaRPr lang="en-US" sz="3000" dirty="0"/>
          </a:p>
        </p:txBody>
      </p:sp>
      <p:sp>
        <p:nvSpPr>
          <p:cNvPr id="4" name="Shape 2"/>
          <p:cNvSpPr/>
          <p:nvPr/>
        </p:nvSpPr>
        <p:spPr>
          <a:xfrm>
            <a:off x="640080" y="1554480"/>
            <a:ext cx="5257800" cy="1920240"/>
          </a:xfrm>
          <a:prstGeom prst="roundRect">
            <a:avLst>
              <a:gd name="adj" fmla="val 3810"/>
            </a:avLst>
          </a:prstGeom>
          <a:solidFill>
            <a:srgbClr val="F5F6FB"/>
          </a:solidFill>
          <a:ln/>
          <a:effectLst>
            <a:outerShdw sx="100000" sy="100000" kx="0" ky="0" algn="bl" rotWithShape="0" blurRad="101600" dist="38100" dir="5400000">
              <a:srgbClr val="12142E">
                <a:alpha val="10000"/>
              </a:srgbClr>
            </a:outerShdw>
          </a:effectLst>
        </p:spPr>
      </p:sp>
      <p:sp>
        <p:nvSpPr>
          <p:cNvPr id="5" name="Shape 3"/>
          <p:cNvSpPr/>
          <p:nvPr/>
        </p:nvSpPr>
        <p:spPr>
          <a:xfrm>
            <a:off x="914400" y="1828800"/>
            <a:ext cx="566928" cy="566928"/>
          </a:xfrm>
          <a:prstGeom prst="ellipse">
            <a:avLst/>
          </a:prstGeom>
          <a:solidFill>
            <a:srgbClr val="FFFFFF"/>
          </a:solidFill>
          <a:ln/>
        </p:spPr>
      </p:sp>
      <p:pic>
        <p:nvPicPr>
          <p:cNvPr id="6" name="Image 0" descr="/home/claude/agents-deck/icons/warning_navy.png">    </p:cNvPr>
          <p:cNvPicPr>
            <a:picLocks noChangeAspect="1"/>
          </p:cNvPicPr>
          <p:nvPr/>
        </p:nvPicPr>
        <p:blipFill>
          <a:blip r:embed="rId1"/>
          <a:stretch>
            <a:fillRect/>
          </a:stretch>
        </p:blipFill>
        <p:spPr>
          <a:xfrm>
            <a:off x="1061801" y="1976201"/>
            <a:ext cx="272125" cy="272125"/>
          </a:xfrm>
          <a:prstGeom prst="rect">
            <a:avLst/>
          </a:prstGeom>
        </p:spPr>
      </p:pic>
      <p:sp>
        <p:nvSpPr>
          <p:cNvPr id="7" name="Text 4"/>
          <p:cNvSpPr/>
          <p:nvPr/>
        </p:nvSpPr>
        <p:spPr>
          <a:xfrm>
            <a:off x="1691640" y="1847088"/>
            <a:ext cx="3977640" cy="502920"/>
          </a:xfrm>
          <a:prstGeom prst="rect">
            <a:avLst/>
          </a:prstGeom>
          <a:noFill/>
          <a:ln/>
        </p:spPr>
        <p:txBody>
          <a:bodyPr wrap="square" lIns="0" tIns="0" rIns="0" bIns="0" rtlCol="0" anchor="ctr"/>
          <a:lstStyle/>
          <a:p>
            <a:pPr indent="0" marL="0">
              <a:buNone/>
            </a:pPr>
            <a:r>
              <a:rPr lang="en-US" sz="1450" b="1" dirty="0">
                <a:solidFill>
                  <a:srgbClr val="12142E"/>
                </a:solidFill>
                <a:latin typeface="Calibri" pitchFamily="34" charset="0"/>
                <a:ea typeface="Calibri" pitchFamily="34" charset="-122"/>
                <a:cs typeface="Calibri" pitchFamily="34" charset="-120"/>
              </a:rPr>
              <a:t>Hallucinated Actions</a:t>
            </a:r>
            <a:endParaRPr lang="en-US" sz="1450" dirty="0"/>
          </a:p>
        </p:txBody>
      </p:sp>
      <p:sp>
        <p:nvSpPr>
          <p:cNvPr id="8" name="Text 5"/>
          <p:cNvSpPr/>
          <p:nvPr/>
        </p:nvSpPr>
        <p:spPr>
          <a:xfrm>
            <a:off x="914400" y="2560320"/>
            <a:ext cx="4709160" cy="777240"/>
          </a:xfrm>
          <a:prstGeom prst="rect">
            <a:avLst/>
          </a:prstGeom>
          <a:noFill/>
          <a:ln/>
        </p:spPr>
        <p:txBody>
          <a:bodyPr wrap="square" lIns="0" tIns="0" rIns="0" bIns="0" rtlCol="0" anchor="ctr"/>
          <a:lstStyle/>
          <a:p>
            <a:pPr indent="0" marL="0">
              <a:lnSpc>
                <a:spcPct val="120000"/>
              </a:lnSpc>
              <a:buNone/>
            </a:pPr>
            <a:r>
              <a:rPr lang="en-US" sz="1150" dirty="0">
                <a:solidFill>
                  <a:srgbClr val="475569"/>
                </a:solidFill>
                <a:latin typeface="Calibri" pitchFamily="34" charset="0"/>
                <a:ea typeface="Calibri" pitchFamily="34" charset="-122"/>
                <a:cs typeface="Calibri" pitchFamily="34" charset="-120"/>
              </a:rPr>
              <a:t>The agent confidently calls a tool with wrong or fabricated arguments</a:t>
            </a:r>
            <a:endParaRPr lang="en-US" sz="1150" dirty="0"/>
          </a:p>
        </p:txBody>
      </p:sp>
      <p:sp>
        <p:nvSpPr>
          <p:cNvPr id="9" name="Shape 6"/>
          <p:cNvSpPr/>
          <p:nvPr/>
        </p:nvSpPr>
        <p:spPr>
          <a:xfrm>
            <a:off x="6263640" y="1554480"/>
            <a:ext cx="5257800" cy="1920240"/>
          </a:xfrm>
          <a:prstGeom prst="roundRect">
            <a:avLst>
              <a:gd name="adj" fmla="val 3810"/>
            </a:avLst>
          </a:prstGeom>
          <a:solidFill>
            <a:srgbClr val="F5F6FB"/>
          </a:solidFill>
          <a:ln/>
          <a:effectLst>
            <a:outerShdw sx="100000" sy="100000" kx="0" ky="0" algn="bl" rotWithShape="0" blurRad="101600" dist="38100" dir="5400000">
              <a:srgbClr val="12142E">
                <a:alpha val="10000"/>
              </a:srgbClr>
            </a:outerShdw>
          </a:effectLst>
        </p:spPr>
      </p:sp>
      <p:sp>
        <p:nvSpPr>
          <p:cNvPr id="10" name="Shape 7"/>
          <p:cNvSpPr/>
          <p:nvPr/>
        </p:nvSpPr>
        <p:spPr>
          <a:xfrm>
            <a:off x="6537960" y="1828800"/>
            <a:ext cx="566928" cy="566928"/>
          </a:xfrm>
          <a:prstGeom prst="ellipse">
            <a:avLst/>
          </a:prstGeom>
          <a:solidFill>
            <a:srgbClr val="FFFFFF"/>
          </a:solidFill>
          <a:ln/>
        </p:spPr>
      </p:sp>
      <p:pic>
        <p:nvPicPr>
          <p:cNvPr id="11" name="Image 1" descr="/home/claude/agents-deck/icons/dollar_navy.png">    </p:cNvPr>
          <p:cNvPicPr>
            <a:picLocks noChangeAspect="1"/>
          </p:cNvPicPr>
          <p:nvPr/>
        </p:nvPicPr>
        <p:blipFill>
          <a:blip r:embed="rId2"/>
          <a:stretch>
            <a:fillRect/>
          </a:stretch>
        </p:blipFill>
        <p:spPr>
          <a:xfrm>
            <a:off x="6685361" y="1976201"/>
            <a:ext cx="272125" cy="272125"/>
          </a:xfrm>
          <a:prstGeom prst="rect">
            <a:avLst/>
          </a:prstGeom>
        </p:spPr>
      </p:pic>
      <p:sp>
        <p:nvSpPr>
          <p:cNvPr id="12" name="Text 8"/>
          <p:cNvSpPr/>
          <p:nvPr/>
        </p:nvSpPr>
        <p:spPr>
          <a:xfrm>
            <a:off x="7315200" y="1847088"/>
            <a:ext cx="3977640" cy="502920"/>
          </a:xfrm>
          <a:prstGeom prst="rect">
            <a:avLst/>
          </a:prstGeom>
          <a:noFill/>
          <a:ln/>
        </p:spPr>
        <p:txBody>
          <a:bodyPr wrap="square" lIns="0" tIns="0" rIns="0" bIns="0" rtlCol="0" anchor="ctr"/>
          <a:lstStyle/>
          <a:p>
            <a:pPr indent="0" marL="0">
              <a:buNone/>
            </a:pPr>
            <a:r>
              <a:rPr lang="en-US" sz="1450" b="1" dirty="0">
                <a:solidFill>
                  <a:srgbClr val="12142E"/>
                </a:solidFill>
                <a:latin typeface="Calibri" pitchFamily="34" charset="0"/>
                <a:ea typeface="Calibri" pitchFamily="34" charset="-122"/>
                <a:cs typeface="Calibri" pitchFamily="34" charset="-120"/>
              </a:rPr>
              <a:t>Runaway Cost / Loops</a:t>
            </a:r>
            <a:endParaRPr lang="en-US" sz="1450" dirty="0"/>
          </a:p>
        </p:txBody>
      </p:sp>
      <p:sp>
        <p:nvSpPr>
          <p:cNvPr id="13" name="Text 9"/>
          <p:cNvSpPr/>
          <p:nvPr/>
        </p:nvSpPr>
        <p:spPr>
          <a:xfrm>
            <a:off x="6537960" y="2560320"/>
            <a:ext cx="4709160" cy="777240"/>
          </a:xfrm>
          <a:prstGeom prst="rect">
            <a:avLst/>
          </a:prstGeom>
          <a:noFill/>
          <a:ln/>
        </p:spPr>
        <p:txBody>
          <a:bodyPr wrap="square" lIns="0" tIns="0" rIns="0" bIns="0" rtlCol="0" anchor="ctr"/>
          <a:lstStyle/>
          <a:p>
            <a:pPr indent="0" marL="0">
              <a:lnSpc>
                <a:spcPct val="120000"/>
              </a:lnSpc>
              <a:buNone/>
            </a:pPr>
            <a:r>
              <a:rPr lang="en-US" sz="1150" dirty="0">
                <a:solidFill>
                  <a:srgbClr val="475569"/>
                </a:solidFill>
                <a:latin typeface="Calibri" pitchFamily="34" charset="0"/>
                <a:ea typeface="Calibri" pitchFamily="34" charset="-122"/>
                <a:cs typeface="Calibri" pitchFamily="34" charset="-120"/>
              </a:rPr>
              <a:t>An agent stuck retrying or looping burns tokens and calls unchecked</a:t>
            </a:r>
            <a:endParaRPr lang="en-US" sz="1150" dirty="0"/>
          </a:p>
        </p:txBody>
      </p:sp>
      <p:sp>
        <p:nvSpPr>
          <p:cNvPr id="14" name="Shape 10"/>
          <p:cNvSpPr/>
          <p:nvPr/>
        </p:nvSpPr>
        <p:spPr>
          <a:xfrm>
            <a:off x="640080" y="3749040"/>
            <a:ext cx="5257800" cy="1920240"/>
          </a:xfrm>
          <a:prstGeom prst="roundRect">
            <a:avLst>
              <a:gd name="adj" fmla="val 3810"/>
            </a:avLst>
          </a:prstGeom>
          <a:solidFill>
            <a:srgbClr val="F5F6FB"/>
          </a:solidFill>
          <a:ln/>
          <a:effectLst>
            <a:outerShdw sx="100000" sy="100000" kx="0" ky="0" algn="bl" rotWithShape="0" blurRad="101600" dist="38100" dir="5400000">
              <a:srgbClr val="12142E">
                <a:alpha val="10000"/>
              </a:srgbClr>
            </a:outerShdw>
          </a:effectLst>
        </p:spPr>
      </p:sp>
      <p:sp>
        <p:nvSpPr>
          <p:cNvPr id="15" name="Shape 11"/>
          <p:cNvSpPr/>
          <p:nvPr/>
        </p:nvSpPr>
        <p:spPr>
          <a:xfrm>
            <a:off x="914400" y="4023360"/>
            <a:ext cx="566928" cy="566928"/>
          </a:xfrm>
          <a:prstGeom prst="ellipse">
            <a:avLst/>
          </a:prstGeom>
          <a:solidFill>
            <a:srgbClr val="FFFFFF"/>
          </a:solidFill>
          <a:ln/>
        </p:spPr>
      </p:sp>
      <p:pic>
        <p:nvPicPr>
          <p:cNvPr id="16" name="Image 2" descr="/home/claude/agents-deck/icons/lock_navy.png">    </p:cNvPr>
          <p:cNvPicPr>
            <a:picLocks noChangeAspect="1"/>
          </p:cNvPicPr>
          <p:nvPr/>
        </p:nvPicPr>
        <p:blipFill>
          <a:blip r:embed="rId3"/>
          <a:stretch>
            <a:fillRect/>
          </a:stretch>
        </p:blipFill>
        <p:spPr>
          <a:xfrm>
            <a:off x="1061801" y="4170761"/>
            <a:ext cx="272125" cy="272125"/>
          </a:xfrm>
          <a:prstGeom prst="rect">
            <a:avLst/>
          </a:prstGeom>
        </p:spPr>
      </p:pic>
      <p:sp>
        <p:nvSpPr>
          <p:cNvPr id="17" name="Text 12"/>
          <p:cNvSpPr/>
          <p:nvPr/>
        </p:nvSpPr>
        <p:spPr>
          <a:xfrm>
            <a:off x="1691640" y="4041648"/>
            <a:ext cx="3977640" cy="502920"/>
          </a:xfrm>
          <a:prstGeom prst="rect">
            <a:avLst/>
          </a:prstGeom>
          <a:noFill/>
          <a:ln/>
        </p:spPr>
        <p:txBody>
          <a:bodyPr wrap="square" lIns="0" tIns="0" rIns="0" bIns="0" rtlCol="0" anchor="ctr"/>
          <a:lstStyle/>
          <a:p>
            <a:pPr indent="0" marL="0">
              <a:buNone/>
            </a:pPr>
            <a:r>
              <a:rPr lang="en-US" sz="1450" b="1" dirty="0">
                <a:solidFill>
                  <a:srgbClr val="12142E"/>
                </a:solidFill>
                <a:latin typeface="Calibri" pitchFamily="34" charset="0"/>
                <a:ea typeface="Calibri" pitchFamily="34" charset="-122"/>
                <a:cs typeface="Calibri" pitchFamily="34" charset="-120"/>
              </a:rPr>
              <a:t>Unsafe or Irreversible Actions</a:t>
            </a:r>
            <a:endParaRPr lang="en-US" sz="1450" dirty="0"/>
          </a:p>
        </p:txBody>
      </p:sp>
      <p:sp>
        <p:nvSpPr>
          <p:cNvPr id="18" name="Text 13"/>
          <p:cNvSpPr/>
          <p:nvPr/>
        </p:nvSpPr>
        <p:spPr>
          <a:xfrm>
            <a:off x="914400" y="4754880"/>
            <a:ext cx="4709160" cy="777240"/>
          </a:xfrm>
          <a:prstGeom prst="rect">
            <a:avLst/>
          </a:prstGeom>
          <a:noFill/>
          <a:ln/>
        </p:spPr>
        <p:txBody>
          <a:bodyPr wrap="square" lIns="0" tIns="0" rIns="0" bIns="0" rtlCol="0" anchor="ctr"/>
          <a:lstStyle/>
          <a:p>
            <a:pPr indent="0" marL="0">
              <a:lnSpc>
                <a:spcPct val="120000"/>
              </a:lnSpc>
              <a:buNone/>
            </a:pPr>
            <a:r>
              <a:rPr lang="en-US" sz="1150" dirty="0">
                <a:solidFill>
                  <a:srgbClr val="475569"/>
                </a:solidFill>
                <a:latin typeface="Calibri" pitchFamily="34" charset="0"/>
                <a:ea typeface="Calibri" pitchFamily="34" charset="-122"/>
                <a:cs typeface="Calibri" pitchFamily="34" charset="-120"/>
              </a:rPr>
              <a:t>Writes, deletes, payments, or emails sent without review</a:t>
            </a:r>
            <a:endParaRPr lang="en-US" sz="1150" dirty="0"/>
          </a:p>
        </p:txBody>
      </p:sp>
      <p:sp>
        <p:nvSpPr>
          <p:cNvPr id="19" name="Shape 14"/>
          <p:cNvSpPr/>
          <p:nvPr/>
        </p:nvSpPr>
        <p:spPr>
          <a:xfrm>
            <a:off x="6263640" y="3749040"/>
            <a:ext cx="5257800" cy="1920240"/>
          </a:xfrm>
          <a:prstGeom prst="roundRect">
            <a:avLst>
              <a:gd name="adj" fmla="val 3810"/>
            </a:avLst>
          </a:prstGeom>
          <a:solidFill>
            <a:srgbClr val="F5F6FB"/>
          </a:solidFill>
          <a:ln/>
          <a:effectLst>
            <a:outerShdw sx="100000" sy="100000" kx="0" ky="0" algn="bl" rotWithShape="0" blurRad="101600" dist="38100" dir="5400000">
              <a:srgbClr val="12142E">
                <a:alpha val="10000"/>
              </a:srgbClr>
            </a:outerShdw>
          </a:effectLst>
        </p:spPr>
      </p:sp>
      <p:sp>
        <p:nvSpPr>
          <p:cNvPr id="20" name="Shape 15"/>
          <p:cNvSpPr/>
          <p:nvPr/>
        </p:nvSpPr>
        <p:spPr>
          <a:xfrm>
            <a:off x="6537960" y="4023360"/>
            <a:ext cx="566928" cy="566928"/>
          </a:xfrm>
          <a:prstGeom prst="ellipse">
            <a:avLst/>
          </a:prstGeom>
          <a:solidFill>
            <a:srgbClr val="FFFFFF"/>
          </a:solidFill>
          <a:ln/>
        </p:spPr>
      </p:sp>
      <p:pic>
        <p:nvPicPr>
          <p:cNvPr id="21" name="Image 3" descr="/home/claude/agents-deck/icons/balance_navy.png">    </p:cNvPr>
          <p:cNvPicPr>
            <a:picLocks noChangeAspect="1"/>
          </p:cNvPicPr>
          <p:nvPr/>
        </p:nvPicPr>
        <p:blipFill>
          <a:blip r:embed="rId4"/>
          <a:stretch>
            <a:fillRect/>
          </a:stretch>
        </p:blipFill>
        <p:spPr>
          <a:xfrm>
            <a:off x="6685361" y="4170761"/>
            <a:ext cx="272125" cy="272125"/>
          </a:xfrm>
          <a:prstGeom prst="rect">
            <a:avLst/>
          </a:prstGeom>
        </p:spPr>
      </p:pic>
      <p:sp>
        <p:nvSpPr>
          <p:cNvPr id="22" name="Text 16"/>
          <p:cNvSpPr/>
          <p:nvPr/>
        </p:nvSpPr>
        <p:spPr>
          <a:xfrm>
            <a:off x="7315200" y="4041648"/>
            <a:ext cx="3977640" cy="502920"/>
          </a:xfrm>
          <a:prstGeom prst="rect">
            <a:avLst/>
          </a:prstGeom>
          <a:noFill/>
          <a:ln/>
        </p:spPr>
        <p:txBody>
          <a:bodyPr wrap="square" lIns="0" tIns="0" rIns="0" bIns="0" rtlCol="0" anchor="ctr"/>
          <a:lstStyle/>
          <a:p>
            <a:pPr indent="0" marL="0">
              <a:buNone/>
            </a:pPr>
            <a:r>
              <a:rPr lang="en-US" sz="1450" b="1" dirty="0">
                <a:solidFill>
                  <a:srgbClr val="12142E"/>
                </a:solidFill>
                <a:latin typeface="Calibri" pitchFamily="34" charset="0"/>
                <a:ea typeface="Calibri" pitchFamily="34" charset="-122"/>
                <a:cs typeface="Calibri" pitchFamily="34" charset="-120"/>
              </a:rPr>
              <a:t>Compliance &amp; Audit Gaps</a:t>
            </a:r>
            <a:endParaRPr lang="en-US" sz="1450" dirty="0"/>
          </a:p>
        </p:txBody>
      </p:sp>
      <p:sp>
        <p:nvSpPr>
          <p:cNvPr id="23" name="Text 17"/>
          <p:cNvSpPr/>
          <p:nvPr/>
        </p:nvSpPr>
        <p:spPr>
          <a:xfrm>
            <a:off x="6537960" y="4754880"/>
            <a:ext cx="4709160" cy="777240"/>
          </a:xfrm>
          <a:prstGeom prst="rect">
            <a:avLst/>
          </a:prstGeom>
          <a:noFill/>
          <a:ln/>
        </p:spPr>
        <p:txBody>
          <a:bodyPr wrap="square" lIns="0" tIns="0" rIns="0" bIns="0" rtlCol="0" anchor="ctr"/>
          <a:lstStyle/>
          <a:p>
            <a:pPr indent="0" marL="0">
              <a:lnSpc>
                <a:spcPct val="120000"/>
              </a:lnSpc>
              <a:buNone/>
            </a:pPr>
            <a:r>
              <a:rPr lang="en-US" sz="1150" dirty="0">
                <a:solidFill>
                  <a:srgbClr val="475569"/>
                </a:solidFill>
                <a:latin typeface="Calibri" pitchFamily="34" charset="0"/>
                <a:ea typeface="Calibri" pitchFamily="34" charset="-122"/>
                <a:cs typeface="Calibri" pitchFamily="34" charset="-120"/>
              </a:rPr>
              <a:t>No record of what the agent did, decided, or why, for later review</a:t>
            </a:r>
            <a:endParaRPr lang="en-US" sz="1150" dirty="0"/>
          </a:p>
        </p:txBody>
      </p:sp>
      <p:sp>
        <p:nvSpPr>
          <p:cNvPr id="24" name="Text 18"/>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27</a:t>
            </a:r>
            <a:endParaRPr lang="en-US" sz="1000" dirty="0"/>
          </a:p>
        </p:txBody>
      </p:sp>
      <p:sp>
        <p:nvSpPr>
          <p:cNvPr id="25" name="Text 19"/>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GOVERNANCE</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Guardrails</a:t>
            </a:r>
            <a:endParaRPr lang="en-US" sz="3000" dirty="0"/>
          </a:p>
        </p:txBody>
      </p:sp>
      <p:sp>
        <p:nvSpPr>
          <p:cNvPr id="4" name="Shape 2"/>
          <p:cNvSpPr/>
          <p:nvPr/>
        </p:nvSpPr>
        <p:spPr>
          <a:xfrm>
            <a:off x="640080" y="1508760"/>
            <a:ext cx="10881360" cy="1042416"/>
          </a:xfrm>
          <a:prstGeom prst="roundRect">
            <a:avLst>
              <a:gd name="adj" fmla="val 7018"/>
            </a:avLst>
          </a:prstGeom>
          <a:solidFill>
            <a:srgbClr val="F5F6FB"/>
          </a:solidFill>
          <a:ln/>
          <a:effectLst>
            <a:outerShdw sx="100000" sy="100000" kx="0" ky="0" algn="bl" rotWithShape="0" blurRad="101600" dist="38100" dir="5400000">
              <a:srgbClr val="12142E">
                <a:alpha val="10000"/>
              </a:srgbClr>
            </a:outerShdw>
          </a:effectLst>
        </p:spPr>
      </p:sp>
      <p:sp>
        <p:nvSpPr>
          <p:cNvPr id="5" name="Shape 3"/>
          <p:cNvSpPr/>
          <p:nvPr/>
        </p:nvSpPr>
        <p:spPr>
          <a:xfrm>
            <a:off x="914400" y="1746504"/>
            <a:ext cx="566928" cy="566928"/>
          </a:xfrm>
          <a:prstGeom prst="ellipse">
            <a:avLst/>
          </a:prstGeom>
          <a:solidFill>
            <a:srgbClr val="12142E"/>
          </a:solidFill>
          <a:ln/>
        </p:spPr>
      </p:sp>
      <p:pic>
        <p:nvPicPr>
          <p:cNvPr id="6" name="Image 0" descr="/home/claude/agents-deck/icons/shield_cyan.png">    </p:cNvPr>
          <p:cNvPicPr>
            <a:picLocks noChangeAspect="1"/>
          </p:cNvPicPr>
          <p:nvPr/>
        </p:nvPicPr>
        <p:blipFill>
          <a:blip r:embed="rId1"/>
          <a:stretch>
            <a:fillRect/>
          </a:stretch>
        </p:blipFill>
        <p:spPr>
          <a:xfrm>
            <a:off x="1061801" y="1893905"/>
            <a:ext cx="272125" cy="272125"/>
          </a:xfrm>
          <a:prstGeom prst="rect">
            <a:avLst/>
          </a:prstGeom>
        </p:spPr>
      </p:pic>
      <p:sp>
        <p:nvSpPr>
          <p:cNvPr id="7" name="Text 4"/>
          <p:cNvSpPr/>
          <p:nvPr/>
        </p:nvSpPr>
        <p:spPr>
          <a:xfrm>
            <a:off x="1737360" y="1636776"/>
            <a:ext cx="2743200" cy="786384"/>
          </a:xfrm>
          <a:prstGeom prst="rect">
            <a:avLst/>
          </a:prstGeom>
          <a:noFill/>
          <a:ln/>
        </p:spPr>
        <p:txBody>
          <a:bodyPr wrap="square" lIns="0" tIns="0" rIns="0" bIns="0" rtlCol="0" anchor="ctr"/>
          <a:lstStyle/>
          <a:p>
            <a:pPr indent="0" marL="0">
              <a:buNone/>
            </a:pPr>
            <a:r>
              <a:rPr lang="en-US" sz="1350" b="1" dirty="0">
                <a:solidFill>
                  <a:srgbClr val="12142E"/>
                </a:solidFill>
                <a:latin typeface="Calibri" pitchFamily="34" charset="0"/>
                <a:ea typeface="Calibri" pitchFamily="34" charset="-122"/>
                <a:cs typeface="Calibri" pitchFamily="34" charset="-120"/>
              </a:rPr>
              <a:t>Input Validation</a:t>
            </a:r>
            <a:endParaRPr lang="en-US" sz="1350" dirty="0"/>
          </a:p>
        </p:txBody>
      </p:sp>
      <p:sp>
        <p:nvSpPr>
          <p:cNvPr id="8" name="Text 5"/>
          <p:cNvSpPr/>
          <p:nvPr/>
        </p:nvSpPr>
        <p:spPr>
          <a:xfrm>
            <a:off x="4572000" y="1636776"/>
            <a:ext cx="6766560" cy="786384"/>
          </a:xfrm>
          <a:prstGeom prst="rect">
            <a:avLst/>
          </a:prstGeom>
          <a:noFill/>
          <a:ln/>
        </p:spPr>
        <p:txBody>
          <a:bodyPr wrap="square" lIns="0" tIns="0" rIns="0" bIns="0" rtlCol="0" anchor="ctr"/>
          <a:lstStyle/>
          <a:p>
            <a:pPr indent="0" marL="0">
              <a:lnSpc>
                <a:spcPct val="115000"/>
              </a:lnSpc>
              <a:buNone/>
            </a:pPr>
            <a:r>
              <a:rPr lang="en-US" sz="1100" dirty="0">
                <a:solidFill>
                  <a:srgbClr val="475569"/>
                </a:solidFill>
                <a:latin typeface="Calibri" pitchFamily="34" charset="0"/>
                <a:ea typeface="Calibri" pitchFamily="34" charset="-122"/>
                <a:cs typeface="Calibri" pitchFamily="34" charset="-120"/>
              </a:rPr>
              <a:t>Screen and sanitize inputs before they reach the model — prompt injection, malformed data, policy violations.</a:t>
            </a:r>
            <a:endParaRPr lang="en-US" sz="1100" dirty="0"/>
          </a:p>
        </p:txBody>
      </p:sp>
      <p:sp>
        <p:nvSpPr>
          <p:cNvPr id="9" name="Shape 6"/>
          <p:cNvSpPr/>
          <p:nvPr/>
        </p:nvSpPr>
        <p:spPr>
          <a:xfrm>
            <a:off x="640080" y="2660904"/>
            <a:ext cx="10881360" cy="1042416"/>
          </a:xfrm>
          <a:prstGeom prst="roundRect">
            <a:avLst>
              <a:gd name="adj" fmla="val 7018"/>
            </a:avLst>
          </a:prstGeom>
          <a:solidFill>
            <a:srgbClr val="F5F6FB"/>
          </a:solidFill>
          <a:ln/>
          <a:effectLst>
            <a:outerShdw sx="100000" sy="100000" kx="0" ky="0" algn="bl" rotWithShape="0" blurRad="101600" dist="38100" dir="5400000">
              <a:srgbClr val="12142E">
                <a:alpha val="10000"/>
              </a:srgbClr>
            </a:outerShdw>
          </a:effectLst>
        </p:spPr>
      </p:sp>
      <p:sp>
        <p:nvSpPr>
          <p:cNvPr id="10" name="Shape 7"/>
          <p:cNvSpPr/>
          <p:nvPr/>
        </p:nvSpPr>
        <p:spPr>
          <a:xfrm>
            <a:off x="914400" y="2898648"/>
            <a:ext cx="566928" cy="566928"/>
          </a:xfrm>
          <a:prstGeom prst="ellipse">
            <a:avLst/>
          </a:prstGeom>
          <a:solidFill>
            <a:srgbClr val="12142E"/>
          </a:solidFill>
          <a:ln/>
        </p:spPr>
      </p:sp>
      <p:pic>
        <p:nvPicPr>
          <p:cNvPr id="11" name="Image 1" descr="/home/claude/agents-deck/icons/check_cyan.png">    </p:cNvPr>
          <p:cNvPicPr>
            <a:picLocks noChangeAspect="1"/>
          </p:cNvPicPr>
          <p:nvPr/>
        </p:nvPicPr>
        <p:blipFill>
          <a:blip r:embed="rId2"/>
          <a:stretch>
            <a:fillRect/>
          </a:stretch>
        </p:blipFill>
        <p:spPr>
          <a:xfrm>
            <a:off x="1061801" y="3046049"/>
            <a:ext cx="272125" cy="272125"/>
          </a:xfrm>
          <a:prstGeom prst="rect">
            <a:avLst/>
          </a:prstGeom>
        </p:spPr>
      </p:pic>
      <p:sp>
        <p:nvSpPr>
          <p:cNvPr id="12" name="Text 8"/>
          <p:cNvSpPr/>
          <p:nvPr/>
        </p:nvSpPr>
        <p:spPr>
          <a:xfrm>
            <a:off x="1737360" y="2788920"/>
            <a:ext cx="2743200" cy="786384"/>
          </a:xfrm>
          <a:prstGeom prst="rect">
            <a:avLst/>
          </a:prstGeom>
          <a:noFill/>
          <a:ln/>
        </p:spPr>
        <p:txBody>
          <a:bodyPr wrap="square" lIns="0" tIns="0" rIns="0" bIns="0" rtlCol="0" anchor="ctr"/>
          <a:lstStyle/>
          <a:p>
            <a:pPr indent="0" marL="0">
              <a:buNone/>
            </a:pPr>
            <a:r>
              <a:rPr lang="en-US" sz="1350" b="1" dirty="0">
                <a:solidFill>
                  <a:srgbClr val="12142E"/>
                </a:solidFill>
                <a:latin typeface="Calibri" pitchFamily="34" charset="0"/>
                <a:ea typeface="Calibri" pitchFamily="34" charset="-122"/>
                <a:cs typeface="Calibri" pitchFamily="34" charset="-120"/>
              </a:rPr>
              <a:t>Output Validation</a:t>
            </a:r>
            <a:endParaRPr lang="en-US" sz="1350" dirty="0"/>
          </a:p>
        </p:txBody>
      </p:sp>
      <p:sp>
        <p:nvSpPr>
          <p:cNvPr id="13" name="Text 9"/>
          <p:cNvSpPr/>
          <p:nvPr/>
        </p:nvSpPr>
        <p:spPr>
          <a:xfrm>
            <a:off x="4572000" y="2788920"/>
            <a:ext cx="6766560" cy="786384"/>
          </a:xfrm>
          <a:prstGeom prst="rect">
            <a:avLst/>
          </a:prstGeom>
          <a:noFill/>
          <a:ln/>
        </p:spPr>
        <p:txBody>
          <a:bodyPr wrap="square" lIns="0" tIns="0" rIns="0" bIns="0" rtlCol="0" anchor="ctr"/>
          <a:lstStyle/>
          <a:p>
            <a:pPr indent="0" marL="0">
              <a:lnSpc>
                <a:spcPct val="115000"/>
              </a:lnSpc>
              <a:buNone/>
            </a:pPr>
            <a:r>
              <a:rPr lang="en-US" sz="1100" dirty="0">
                <a:solidFill>
                  <a:srgbClr val="475569"/>
                </a:solidFill>
                <a:latin typeface="Calibri" pitchFamily="34" charset="0"/>
                <a:ea typeface="Calibri" pitchFamily="34" charset="-122"/>
                <a:cs typeface="Calibri" pitchFamily="34" charset="-120"/>
              </a:rPr>
              <a:t>Check the model's response or tool call against schema, policy, and business rules before it executes.</a:t>
            </a:r>
            <a:endParaRPr lang="en-US" sz="1100" dirty="0"/>
          </a:p>
        </p:txBody>
      </p:sp>
      <p:sp>
        <p:nvSpPr>
          <p:cNvPr id="14" name="Shape 10"/>
          <p:cNvSpPr/>
          <p:nvPr/>
        </p:nvSpPr>
        <p:spPr>
          <a:xfrm>
            <a:off x="640080" y="3813048"/>
            <a:ext cx="10881360" cy="1042416"/>
          </a:xfrm>
          <a:prstGeom prst="roundRect">
            <a:avLst>
              <a:gd name="adj" fmla="val 7018"/>
            </a:avLst>
          </a:prstGeom>
          <a:solidFill>
            <a:srgbClr val="F5F6FB"/>
          </a:solidFill>
          <a:ln/>
          <a:effectLst>
            <a:outerShdw sx="100000" sy="100000" kx="0" ky="0" algn="bl" rotWithShape="0" blurRad="101600" dist="38100" dir="5400000">
              <a:srgbClr val="12142E">
                <a:alpha val="10000"/>
              </a:srgbClr>
            </a:outerShdw>
          </a:effectLst>
        </p:spPr>
      </p:sp>
      <p:sp>
        <p:nvSpPr>
          <p:cNvPr id="15" name="Shape 11"/>
          <p:cNvSpPr/>
          <p:nvPr/>
        </p:nvSpPr>
        <p:spPr>
          <a:xfrm>
            <a:off x="914400" y="4050792"/>
            <a:ext cx="566928" cy="566928"/>
          </a:xfrm>
          <a:prstGeom prst="ellipse">
            <a:avLst/>
          </a:prstGeom>
          <a:solidFill>
            <a:srgbClr val="12142E"/>
          </a:solidFill>
          <a:ln/>
        </p:spPr>
      </p:sp>
      <p:pic>
        <p:nvPicPr>
          <p:cNvPr id="16" name="Image 2" descr="/home/claude/agents-deck/icons/users_cyan.png">    </p:cNvPr>
          <p:cNvPicPr>
            <a:picLocks noChangeAspect="1"/>
          </p:cNvPicPr>
          <p:nvPr/>
        </p:nvPicPr>
        <p:blipFill>
          <a:blip r:embed="rId3"/>
          <a:stretch>
            <a:fillRect/>
          </a:stretch>
        </p:blipFill>
        <p:spPr>
          <a:xfrm>
            <a:off x="1061801" y="4198193"/>
            <a:ext cx="272125" cy="272125"/>
          </a:xfrm>
          <a:prstGeom prst="rect">
            <a:avLst/>
          </a:prstGeom>
        </p:spPr>
      </p:pic>
      <p:sp>
        <p:nvSpPr>
          <p:cNvPr id="17" name="Text 12"/>
          <p:cNvSpPr/>
          <p:nvPr/>
        </p:nvSpPr>
        <p:spPr>
          <a:xfrm>
            <a:off x="1737360" y="3941064"/>
            <a:ext cx="2743200" cy="786384"/>
          </a:xfrm>
          <a:prstGeom prst="rect">
            <a:avLst/>
          </a:prstGeom>
          <a:noFill/>
          <a:ln/>
        </p:spPr>
        <p:txBody>
          <a:bodyPr wrap="square" lIns="0" tIns="0" rIns="0" bIns="0" rtlCol="0" anchor="ctr"/>
          <a:lstStyle/>
          <a:p>
            <a:pPr indent="0" marL="0">
              <a:buNone/>
            </a:pPr>
            <a:r>
              <a:rPr lang="en-US" sz="1350" b="1" dirty="0">
                <a:solidFill>
                  <a:srgbClr val="12142E"/>
                </a:solidFill>
                <a:latin typeface="Calibri" pitchFamily="34" charset="0"/>
                <a:ea typeface="Calibri" pitchFamily="34" charset="-122"/>
                <a:cs typeface="Calibri" pitchFamily="34" charset="-120"/>
              </a:rPr>
              <a:t>Human-in-the-Loop Gates</a:t>
            </a:r>
            <a:endParaRPr lang="en-US" sz="1350" dirty="0"/>
          </a:p>
        </p:txBody>
      </p:sp>
      <p:sp>
        <p:nvSpPr>
          <p:cNvPr id="18" name="Text 13"/>
          <p:cNvSpPr/>
          <p:nvPr/>
        </p:nvSpPr>
        <p:spPr>
          <a:xfrm>
            <a:off x="4572000" y="3941064"/>
            <a:ext cx="6766560" cy="786384"/>
          </a:xfrm>
          <a:prstGeom prst="rect">
            <a:avLst/>
          </a:prstGeom>
          <a:noFill/>
          <a:ln/>
        </p:spPr>
        <p:txBody>
          <a:bodyPr wrap="square" lIns="0" tIns="0" rIns="0" bIns="0" rtlCol="0" anchor="ctr"/>
          <a:lstStyle/>
          <a:p>
            <a:pPr indent="0" marL="0">
              <a:lnSpc>
                <a:spcPct val="115000"/>
              </a:lnSpc>
              <a:buNone/>
            </a:pPr>
            <a:r>
              <a:rPr lang="en-US" sz="1100" dirty="0">
                <a:solidFill>
                  <a:srgbClr val="475569"/>
                </a:solidFill>
                <a:latin typeface="Calibri" pitchFamily="34" charset="0"/>
                <a:ea typeface="Calibri" pitchFamily="34" charset="-122"/>
                <a:cs typeface="Calibri" pitchFamily="34" charset="-120"/>
              </a:rPr>
              <a:t>Require explicit approval before high-stakes or irreversible actions — sends, deletes, payments.</a:t>
            </a:r>
            <a:endParaRPr lang="en-US" sz="1100" dirty="0"/>
          </a:p>
        </p:txBody>
      </p:sp>
      <p:sp>
        <p:nvSpPr>
          <p:cNvPr id="19" name="Shape 14"/>
          <p:cNvSpPr/>
          <p:nvPr/>
        </p:nvSpPr>
        <p:spPr>
          <a:xfrm>
            <a:off x="640080" y="4965192"/>
            <a:ext cx="10881360" cy="1042416"/>
          </a:xfrm>
          <a:prstGeom prst="roundRect">
            <a:avLst>
              <a:gd name="adj" fmla="val 7018"/>
            </a:avLst>
          </a:prstGeom>
          <a:solidFill>
            <a:srgbClr val="F5F6FB"/>
          </a:solidFill>
          <a:ln/>
          <a:effectLst>
            <a:outerShdw sx="100000" sy="100000" kx="0" ky="0" algn="bl" rotWithShape="0" blurRad="101600" dist="38100" dir="5400000">
              <a:srgbClr val="12142E">
                <a:alpha val="10000"/>
              </a:srgbClr>
            </a:outerShdw>
          </a:effectLst>
        </p:spPr>
      </p:sp>
      <p:sp>
        <p:nvSpPr>
          <p:cNvPr id="20" name="Shape 15"/>
          <p:cNvSpPr/>
          <p:nvPr/>
        </p:nvSpPr>
        <p:spPr>
          <a:xfrm>
            <a:off x="914400" y="5202936"/>
            <a:ext cx="566928" cy="566928"/>
          </a:xfrm>
          <a:prstGeom prst="ellipse">
            <a:avLst/>
          </a:prstGeom>
          <a:solidFill>
            <a:srgbClr val="12142E"/>
          </a:solidFill>
          <a:ln/>
        </p:spPr>
      </p:sp>
      <p:pic>
        <p:nvPicPr>
          <p:cNvPr id="21" name="Image 3" descr="/home/claude/agents-deck/icons/key_cyan.png">    </p:cNvPr>
          <p:cNvPicPr>
            <a:picLocks noChangeAspect="1"/>
          </p:cNvPicPr>
          <p:nvPr/>
        </p:nvPicPr>
        <p:blipFill>
          <a:blip r:embed="rId4"/>
          <a:stretch>
            <a:fillRect/>
          </a:stretch>
        </p:blipFill>
        <p:spPr>
          <a:xfrm>
            <a:off x="1061801" y="5350337"/>
            <a:ext cx="272125" cy="272125"/>
          </a:xfrm>
          <a:prstGeom prst="rect">
            <a:avLst/>
          </a:prstGeom>
        </p:spPr>
      </p:pic>
      <p:sp>
        <p:nvSpPr>
          <p:cNvPr id="22" name="Text 16"/>
          <p:cNvSpPr/>
          <p:nvPr/>
        </p:nvSpPr>
        <p:spPr>
          <a:xfrm>
            <a:off x="1737360" y="5093208"/>
            <a:ext cx="2743200" cy="786384"/>
          </a:xfrm>
          <a:prstGeom prst="rect">
            <a:avLst/>
          </a:prstGeom>
          <a:noFill/>
          <a:ln/>
        </p:spPr>
        <p:txBody>
          <a:bodyPr wrap="square" lIns="0" tIns="0" rIns="0" bIns="0" rtlCol="0" anchor="ctr"/>
          <a:lstStyle/>
          <a:p>
            <a:pPr indent="0" marL="0">
              <a:buNone/>
            </a:pPr>
            <a:r>
              <a:rPr lang="en-US" sz="1350" b="1" dirty="0">
                <a:solidFill>
                  <a:srgbClr val="12142E"/>
                </a:solidFill>
                <a:latin typeface="Calibri" pitchFamily="34" charset="0"/>
                <a:ea typeface="Calibri" pitchFamily="34" charset="-122"/>
                <a:cs typeface="Calibri" pitchFamily="34" charset="-120"/>
              </a:rPr>
              <a:t>Permission Scoping</a:t>
            </a:r>
            <a:endParaRPr lang="en-US" sz="1350" dirty="0"/>
          </a:p>
        </p:txBody>
      </p:sp>
      <p:sp>
        <p:nvSpPr>
          <p:cNvPr id="23" name="Text 17"/>
          <p:cNvSpPr/>
          <p:nvPr/>
        </p:nvSpPr>
        <p:spPr>
          <a:xfrm>
            <a:off x="4572000" y="5093208"/>
            <a:ext cx="6766560" cy="786384"/>
          </a:xfrm>
          <a:prstGeom prst="rect">
            <a:avLst/>
          </a:prstGeom>
          <a:noFill/>
          <a:ln/>
        </p:spPr>
        <p:txBody>
          <a:bodyPr wrap="square" lIns="0" tIns="0" rIns="0" bIns="0" rtlCol="0" anchor="ctr"/>
          <a:lstStyle/>
          <a:p>
            <a:pPr indent="0" marL="0">
              <a:lnSpc>
                <a:spcPct val="115000"/>
              </a:lnSpc>
              <a:buNone/>
            </a:pPr>
            <a:r>
              <a:rPr lang="en-US" sz="1100" dirty="0">
                <a:solidFill>
                  <a:srgbClr val="475569"/>
                </a:solidFill>
                <a:latin typeface="Calibri" pitchFamily="34" charset="0"/>
                <a:ea typeface="Calibri" pitchFamily="34" charset="-122"/>
                <a:cs typeface="Calibri" pitchFamily="34" charset="-120"/>
              </a:rPr>
              <a:t>Give each agent the narrowest credentials it needs — least privilege, per-tool and per-agent.</a:t>
            </a:r>
            <a:endParaRPr lang="en-US" sz="1100" dirty="0"/>
          </a:p>
        </p:txBody>
      </p:sp>
      <p:sp>
        <p:nvSpPr>
          <p:cNvPr id="24" name="Text 18"/>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28</a:t>
            </a:r>
            <a:endParaRPr lang="en-US" sz="1000" dirty="0"/>
          </a:p>
        </p:txBody>
      </p:sp>
      <p:sp>
        <p:nvSpPr>
          <p:cNvPr id="25" name="Text 19"/>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GOVERNANCE</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Observability &amp; Auditability</a:t>
            </a:r>
            <a:endParaRPr lang="en-US" sz="3000" dirty="0"/>
          </a:p>
        </p:txBody>
      </p:sp>
      <p:sp>
        <p:nvSpPr>
          <p:cNvPr id="4" name="Text 2"/>
          <p:cNvSpPr/>
          <p:nvPr/>
        </p:nvSpPr>
        <p:spPr>
          <a:xfrm>
            <a:off x="640080" y="1417320"/>
            <a:ext cx="10881360" cy="777240"/>
          </a:xfrm>
          <a:prstGeom prst="rect">
            <a:avLst/>
          </a:prstGeom>
          <a:noFill/>
          <a:ln/>
        </p:spPr>
        <p:txBody>
          <a:bodyPr wrap="square" lIns="0" tIns="0" rIns="0" bIns="0" rtlCol="0" anchor="ctr"/>
          <a:lstStyle/>
          <a:p>
            <a:pPr indent="0" marL="0">
              <a:lnSpc>
                <a:spcPct val="125000"/>
              </a:lnSpc>
              <a:buNone/>
            </a:pPr>
            <a:r>
              <a:rPr lang="en-US" sz="1450" dirty="0">
                <a:solidFill>
                  <a:srgbClr val="475569"/>
                </a:solidFill>
                <a:latin typeface="Calibri" pitchFamily="34" charset="0"/>
                <a:ea typeface="Calibri" pitchFamily="34" charset="-122"/>
                <a:cs typeface="Calibri" pitchFamily="34" charset="-120"/>
              </a:rPr>
              <a:t>You can't govern what you can't see. Every agent action should be traceable end to end — from the triggering input through every reasoning step, tool call, and final outcome.</a:t>
            </a:r>
            <a:endParaRPr lang="en-US" sz="1450" dirty="0"/>
          </a:p>
        </p:txBody>
      </p:sp>
      <p:sp>
        <p:nvSpPr>
          <p:cNvPr id="5" name="Shape 3"/>
          <p:cNvSpPr/>
          <p:nvPr/>
        </p:nvSpPr>
        <p:spPr>
          <a:xfrm>
            <a:off x="640080" y="2468880"/>
            <a:ext cx="2578608" cy="3063240"/>
          </a:xfrm>
          <a:prstGeom prst="roundRect">
            <a:avLst>
              <a:gd name="adj" fmla="val 2837"/>
            </a:avLst>
          </a:prstGeom>
          <a:solidFill>
            <a:srgbClr val="F5F6FB"/>
          </a:solidFill>
          <a:ln/>
          <a:effectLst>
            <a:outerShdw sx="100000" sy="100000" kx="0" ky="0" algn="bl" rotWithShape="0" blurRad="101600" dist="38100" dir="5400000">
              <a:srgbClr val="12142E">
                <a:alpha val="10000"/>
              </a:srgbClr>
            </a:outerShdw>
          </a:effectLst>
        </p:spPr>
      </p:sp>
      <p:sp>
        <p:nvSpPr>
          <p:cNvPr id="6" name="Shape 4"/>
          <p:cNvSpPr/>
          <p:nvPr/>
        </p:nvSpPr>
        <p:spPr>
          <a:xfrm>
            <a:off x="1609344" y="2788920"/>
            <a:ext cx="640080" cy="640080"/>
          </a:xfrm>
          <a:prstGeom prst="ellipse">
            <a:avLst/>
          </a:prstGeom>
          <a:solidFill>
            <a:srgbClr val="12142E"/>
          </a:solidFill>
          <a:ln/>
        </p:spPr>
      </p:sp>
      <p:pic>
        <p:nvPicPr>
          <p:cNvPr id="7" name="Image 0" descr="/home/claude/agents-deck/icons/eye_cyan.png">    </p:cNvPr>
          <p:cNvPicPr>
            <a:picLocks noChangeAspect="1"/>
          </p:cNvPicPr>
          <p:nvPr/>
        </p:nvPicPr>
        <p:blipFill>
          <a:blip r:embed="rId1"/>
          <a:stretch>
            <a:fillRect/>
          </a:stretch>
        </p:blipFill>
        <p:spPr>
          <a:xfrm>
            <a:off x="1775765" y="2955341"/>
            <a:ext cx="307238" cy="307238"/>
          </a:xfrm>
          <a:prstGeom prst="rect">
            <a:avLst/>
          </a:prstGeom>
        </p:spPr>
      </p:pic>
      <p:sp>
        <p:nvSpPr>
          <p:cNvPr id="8" name="Text 5"/>
          <p:cNvSpPr/>
          <p:nvPr/>
        </p:nvSpPr>
        <p:spPr>
          <a:xfrm>
            <a:off x="822960" y="3657600"/>
            <a:ext cx="2212848" cy="548640"/>
          </a:xfrm>
          <a:prstGeom prst="rect">
            <a:avLst/>
          </a:prstGeom>
          <a:noFill/>
          <a:ln/>
        </p:spPr>
        <p:txBody>
          <a:bodyPr wrap="square" lIns="0" tIns="0" rIns="0" bIns="0" rtlCol="0" anchor="ctr"/>
          <a:lstStyle/>
          <a:p>
            <a:pPr algn="ctr" indent="0" marL="0">
              <a:buNone/>
            </a:pPr>
            <a:r>
              <a:rPr lang="en-US" sz="1350" b="1" dirty="0">
                <a:solidFill>
                  <a:srgbClr val="12142E"/>
                </a:solidFill>
                <a:latin typeface="Calibri" pitchFamily="34" charset="0"/>
                <a:ea typeface="Calibri" pitchFamily="34" charset="-122"/>
                <a:cs typeface="Calibri" pitchFamily="34" charset="-120"/>
              </a:rPr>
              <a:t>Tracing</a:t>
            </a:r>
            <a:endParaRPr lang="en-US" sz="1350" dirty="0"/>
          </a:p>
        </p:txBody>
      </p:sp>
      <p:sp>
        <p:nvSpPr>
          <p:cNvPr id="9" name="Text 6"/>
          <p:cNvSpPr/>
          <p:nvPr/>
        </p:nvSpPr>
        <p:spPr>
          <a:xfrm>
            <a:off x="841248" y="4251960"/>
            <a:ext cx="2176272" cy="1097280"/>
          </a:xfrm>
          <a:prstGeom prst="rect">
            <a:avLst/>
          </a:prstGeom>
          <a:noFill/>
          <a:ln/>
        </p:spPr>
        <p:txBody>
          <a:bodyPr wrap="square" lIns="0" tIns="0" rIns="0" bIns="0" rtlCol="0" anchor="ctr"/>
          <a:lstStyle/>
          <a:p>
            <a:pPr algn="ctr" indent="0" marL="0">
              <a:lnSpc>
                <a:spcPct val="115000"/>
              </a:lnSpc>
              <a:buNone/>
            </a:pPr>
            <a:r>
              <a:rPr lang="en-US" sz="1050" dirty="0">
                <a:solidFill>
                  <a:srgbClr val="475569"/>
                </a:solidFill>
                <a:latin typeface="Calibri" pitchFamily="34" charset="0"/>
                <a:ea typeface="Calibri" pitchFamily="34" charset="-122"/>
                <a:cs typeface="Calibri" pitchFamily="34" charset="-120"/>
              </a:rPr>
              <a:t>Full step-by-step record of reasoning, tool calls, and results per run</a:t>
            </a:r>
            <a:endParaRPr lang="en-US" sz="1050" dirty="0"/>
          </a:p>
        </p:txBody>
      </p:sp>
      <p:sp>
        <p:nvSpPr>
          <p:cNvPr id="10" name="Shape 7"/>
          <p:cNvSpPr/>
          <p:nvPr/>
        </p:nvSpPr>
        <p:spPr>
          <a:xfrm>
            <a:off x="3438144" y="2468880"/>
            <a:ext cx="2578608" cy="3063240"/>
          </a:xfrm>
          <a:prstGeom prst="roundRect">
            <a:avLst>
              <a:gd name="adj" fmla="val 2837"/>
            </a:avLst>
          </a:prstGeom>
          <a:solidFill>
            <a:srgbClr val="F5F6FB"/>
          </a:solidFill>
          <a:ln/>
          <a:effectLst>
            <a:outerShdw sx="100000" sy="100000" kx="0" ky="0" algn="bl" rotWithShape="0" blurRad="101600" dist="38100" dir="5400000">
              <a:srgbClr val="12142E">
                <a:alpha val="10000"/>
              </a:srgbClr>
            </a:outerShdw>
          </a:effectLst>
        </p:spPr>
      </p:sp>
      <p:sp>
        <p:nvSpPr>
          <p:cNvPr id="11" name="Shape 8"/>
          <p:cNvSpPr/>
          <p:nvPr/>
        </p:nvSpPr>
        <p:spPr>
          <a:xfrm>
            <a:off x="4407408" y="2788920"/>
            <a:ext cx="640080" cy="640080"/>
          </a:xfrm>
          <a:prstGeom prst="ellipse">
            <a:avLst/>
          </a:prstGeom>
          <a:solidFill>
            <a:srgbClr val="12142E"/>
          </a:solidFill>
          <a:ln/>
        </p:spPr>
      </p:sp>
      <p:pic>
        <p:nvPicPr>
          <p:cNvPr id="12" name="Image 1" descr="/home/claude/agents-deck/icons/file_cyan.png">    </p:cNvPr>
          <p:cNvPicPr>
            <a:picLocks noChangeAspect="1"/>
          </p:cNvPicPr>
          <p:nvPr/>
        </p:nvPicPr>
        <p:blipFill>
          <a:blip r:embed="rId2"/>
          <a:stretch>
            <a:fillRect/>
          </a:stretch>
        </p:blipFill>
        <p:spPr>
          <a:xfrm>
            <a:off x="4573829" y="2955341"/>
            <a:ext cx="307238" cy="307238"/>
          </a:xfrm>
          <a:prstGeom prst="rect">
            <a:avLst/>
          </a:prstGeom>
        </p:spPr>
      </p:pic>
      <p:sp>
        <p:nvSpPr>
          <p:cNvPr id="13" name="Text 9"/>
          <p:cNvSpPr/>
          <p:nvPr/>
        </p:nvSpPr>
        <p:spPr>
          <a:xfrm>
            <a:off x="3621024" y="3657600"/>
            <a:ext cx="2212848" cy="548640"/>
          </a:xfrm>
          <a:prstGeom prst="rect">
            <a:avLst/>
          </a:prstGeom>
          <a:noFill/>
          <a:ln/>
        </p:spPr>
        <p:txBody>
          <a:bodyPr wrap="square" lIns="0" tIns="0" rIns="0" bIns="0" rtlCol="0" anchor="ctr"/>
          <a:lstStyle/>
          <a:p>
            <a:pPr algn="ctr" indent="0" marL="0">
              <a:buNone/>
            </a:pPr>
            <a:r>
              <a:rPr lang="en-US" sz="1350" b="1" dirty="0">
                <a:solidFill>
                  <a:srgbClr val="12142E"/>
                </a:solidFill>
                <a:latin typeface="Calibri" pitchFamily="34" charset="0"/>
                <a:ea typeface="Calibri" pitchFamily="34" charset="-122"/>
                <a:cs typeface="Calibri" pitchFamily="34" charset="-120"/>
              </a:rPr>
              <a:t>Structured Logging</a:t>
            </a:r>
            <a:endParaRPr lang="en-US" sz="1350" dirty="0"/>
          </a:p>
        </p:txBody>
      </p:sp>
      <p:sp>
        <p:nvSpPr>
          <p:cNvPr id="14" name="Text 10"/>
          <p:cNvSpPr/>
          <p:nvPr/>
        </p:nvSpPr>
        <p:spPr>
          <a:xfrm>
            <a:off x="3639312" y="4251960"/>
            <a:ext cx="2176272" cy="1097280"/>
          </a:xfrm>
          <a:prstGeom prst="rect">
            <a:avLst/>
          </a:prstGeom>
          <a:noFill/>
          <a:ln/>
        </p:spPr>
        <p:txBody>
          <a:bodyPr wrap="square" lIns="0" tIns="0" rIns="0" bIns="0" rtlCol="0" anchor="ctr"/>
          <a:lstStyle/>
          <a:p>
            <a:pPr algn="ctr" indent="0" marL="0">
              <a:lnSpc>
                <a:spcPct val="115000"/>
              </a:lnSpc>
              <a:buNone/>
            </a:pPr>
            <a:r>
              <a:rPr lang="en-US" sz="1050" dirty="0">
                <a:solidFill>
                  <a:srgbClr val="475569"/>
                </a:solidFill>
                <a:latin typeface="Calibri" pitchFamily="34" charset="0"/>
                <a:ea typeface="Calibri" pitchFamily="34" charset="-122"/>
                <a:cs typeface="Calibri" pitchFamily="34" charset="-120"/>
              </a:rPr>
              <a:t>Machine-readable logs — who, what, when, which model, which version</a:t>
            </a:r>
            <a:endParaRPr lang="en-US" sz="1050" dirty="0"/>
          </a:p>
        </p:txBody>
      </p:sp>
      <p:sp>
        <p:nvSpPr>
          <p:cNvPr id="15" name="Shape 11"/>
          <p:cNvSpPr/>
          <p:nvPr/>
        </p:nvSpPr>
        <p:spPr>
          <a:xfrm>
            <a:off x="6236208" y="2468880"/>
            <a:ext cx="2578608" cy="3063240"/>
          </a:xfrm>
          <a:prstGeom prst="roundRect">
            <a:avLst>
              <a:gd name="adj" fmla="val 2837"/>
            </a:avLst>
          </a:prstGeom>
          <a:solidFill>
            <a:srgbClr val="F5F6FB"/>
          </a:solidFill>
          <a:ln/>
          <a:effectLst>
            <a:outerShdw sx="100000" sy="100000" kx="0" ky="0" algn="bl" rotWithShape="0" blurRad="101600" dist="38100" dir="5400000">
              <a:srgbClr val="12142E">
                <a:alpha val="10000"/>
              </a:srgbClr>
            </a:outerShdw>
          </a:effectLst>
        </p:spPr>
      </p:sp>
      <p:sp>
        <p:nvSpPr>
          <p:cNvPr id="16" name="Shape 12"/>
          <p:cNvSpPr/>
          <p:nvPr/>
        </p:nvSpPr>
        <p:spPr>
          <a:xfrm>
            <a:off x="7205472" y="2788920"/>
            <a:ext cx="640080" cy="640080"/>
          </a:xfrm>
          <a:prstGeom prst="ellipse">
            <a:avLst/>
          </a:prstGeom>
          <a:solidFill>
            <a:srgbClr val="12142E"/>
          </a:solidFill>
          <a:ln/>
        </p:spPr>
      </p:sp>
      <p:pic>
        <p:nvPicPr>
          <p:cNvPr id="17" name="Image 2" descr="/home/claude/agents-deck/icons/chart_cyan.png">    </p:cNvPr>
          <p:cNvPicPr>
            <a:picLocks noChangeAspect="1"/>
          </p:cNvPicPr>
          <p:nvPr/>
        </p:nvPicPr>
        <p:blipFill>
          <a:blip r:embed="rId3"/>
          <a:stretch>
            <a:fillRect/>
          </a:stretch>
        </p:blipFill>
        <p:spPr>
          <a:xfrm>
            <a:off x="7371893" y="2955341"/>
            <a:ext cx="307238" cy="307238"/>
          </a:xfrm>
          <a:prstGeom prst="rect">
            <a:avLst/>
          </a:prstGeom>
        </p:spPr>
      </p:pic>
      <p:sp>
        <p:nvSpPr>
          <p:cNvPr id="18" name="Text 13"/>
          <p:cNvSpPr/>
          <p:nvPr/>
        </p:nvSpPr>
        <p:spPr>
          <a:xfrm>
            <a:off x="6419088" y="3657600"/>
            <a:ext cx="2212848" cy="548640"/>
          </a:xfrm>
          <a:prstGeom prst="rect">
            <a:avLst/>
          </a:prstGeom>
          <a:noFill/>
          <a:ln/>
        </p:spPr>
        <p:txBody>
          <a:bodyPr wrap="square" lIns="0" tIns="0" rIns="0" bIns="0" rtlCol="0" anchor="ctr"/>
          <a:lstStyle/>
          <a:p>
            <a:pPr algn="ctr" indent="0" marL="0">
              <a:buNone/>
            </a:pPr>
            <a:r>
              <a:rPr lang="en-US" sz="1350" b="1" dirty="0">
                <a:solidFill>
                  <a:srgbClr val="12142E"/>
                </a:solidFill>
                <a:latin typeface="Calibri" pitchFamily="34" charset="0"/>
                <a:ea typeface="Calibri" pitchFamily="34" charset="-122"/>
                <a:cs typeface="Calibri" pitchFamily="34" charset="-120"/>
              </a:rPr>
              <a:t>Evals</a:t>
            </a:r>
            <a:endParaRPr lang="en-US" sz="1350" dirty="0"/>
          </a:p>
        </p:txBody>
      </p:sp>
      <p:sp>
        <p:nvSpPr>
          <p:cNvPr id="19" name="Text 14"/>
          <p:cNvSpPr/>
          <p:nvPr/>
        </p:nvSpPr>
        <p:spPr>
          <a:xfrm>
            <a:off x="6437376" y="4251960"/>
            <a:ext cx="2176272" cy="1097280"/>
          </a:xfrm>
          <a:prstGeom prst="rect">
            <a:avLst/>
          </a:prstGeom>
          <a:noFill/>
          <a:ln/>
        </p:spPr>
        <p:txBody>
          <a:bodyPr wrap="square" lIns="0" tIns="0" rIns="0" bIns="0" rtlCol="0" anchor="ctr"/>
          <a:lstStyle/>
          <a:p>
            <a:pPr algn="ctr" indent="0" marL="0">
              <a:lnSpc>
                <a:spcPct val="115000"/>
              </a:lnSpc>
              <a:buNone/>
            </a:pPr>
            <a:r>
              <a:rPr lang="en-US" sz="1050" dirty="0">
                <a:solidFill>
                  <a:srgbClr val="475569"/>
                </a:solidFill>
                <a:latin typeface="Calibri" pitchFamily="34" charset="0"/>
                <a:ea typeface="Calibri" pitchFamily="34" charset="-122"/>
                <a:cs typeface="Calibri" pitchFamily="34" charset="-120"/>
              </a:rPr>
              <a:t>Ongoing quality scoring against test sets, not just eyeballing outputs</a:t>
            </a:r>
            <a:endParaRPr lang="en-US" sz="1050" dirty="0"/>
          </a:p>
        </p:txBody>
      </p:sp>
      <p:sp>
        <p:nvSpPr>
          <p:cNvPr id="20" name="Shape 15"/>
          <p:cNvSpPr/>
          <p:nvPr/>
        </p:nvSpPr>
        <p:spPr>
          <a:xfrm>
            <a:off x="9034272" y="2468880"/>
            <a:ext cx="2578608" cy="3063240"/>
          </a:xfrm>
          <a:prstGeom prst="roundRect">
            <a:avLst>
              <a:gd name="adj" fmla="val 2837"/>
            </a:avLst>
          </a:prstGeom>
          <a:solidFill>
            <a:srgbClr val="F5F6FB"/>
          </a:solidFill>
          <a:ln/>
          <a:effectLst>
            <a:outerShdw sx="100000" sy="100000" kx="0" ky="0" algn="bl" rotWithShape="0" blurRad="101600" dist="38100" dir="5400000">
              <a:srgbClr val="12142E">
                <a:alpha val="10000"/>
              </a:srgbClr>
            </a:outerShdw>
          </a:effectLst>
        </p:spPr>
      </p:sp>
      <p:sp>
        <p:nvSpPr>
          <p:cNvPr id="21" name="Shape 16"/>
          <p:cNvSpPr/>
          <p:nvPr/>
        </p:nvSpPr>
        <p:spPr>
          <a:xfrm>
            <a:off x="10003536" y="2788920"/>
            <a:ext cx="640080" cy="640080"/>
          </a:xfrm>
          <a:prstGeom prst="ellipse">
            <a:avLst/>
          </a:prstGeom>
          <a:solidFill>
            <a:srgbClr val="12142E"/>
          </a:solidFill>
          <a:ln/>
        </p:spPr>
      </p:sp>
      <p:pic>
        <p:nvPicPr>
          <p:cNvPr id="22" name="Image 3" descr="/home/claude/agents-deck/icons/gauge_cyan.png">    </p:cNvPr>
          <p:cNvPicPr>
            <a:picLocks noChangeAspect="1"/>
          </p:cNvPicPr>
          <p:nvPr/>
        </p:nvPicPr>
        <p:blipFill>
          <a:blip r:embed="rId4"/>
          <a:stretch>
            <a:fillRect/>
          </a:stretch>
        </p:blipFill>
        <p:spPr>
          <a:xfrm>
            <a:off x="10169957" y="2955341"/>
            <a:ext cx="307238" cy="307238"/>
          </a:xfrm>
          <a:prstGeom prst="rect">
            <a:avLst/>
          </a:prstGeom>
        </p:spPr>
      </p:pic>
      <p:sp>
        <p:nvSpPr>
          <p:cNvPr id="23" name="Text 17"/>
          <p:cNvSpPr/>
          <p:nvPr/>
        </p:nvSpPr>
        <p:spPr>
          <a:xfrm>
            <a:off x="9217152" y="3657600"/>
            <a:ext cx="2212848" cy="548640"/>
          </a:xfrm>
          <a:prstGeom prst="rect">
            <a:avLst/>
          </a:prstGeom>
          <a:noFill/>
          <a:ln/>
        </p:spPr>
        <p:txBody>
          <a:bodyPr wrap="square" lIns="0" tIns="0" rIns="0" bIns="0" rtlCol="0" anchor="ctr"/>
          <a:lstStyle/>
          <a:p>
            <a:pPr algn="ctr" indent="0" marL="0">
              <a:buNone/>
            </a:pPr>
            <a:r>
              <a:rPr lang="en-US" sz="1350" b="1" dirty="0">
                <a:solidFill>
                  <a:srgbClr val="12142E"/>
                </a:solidFill>
                <a:latin typeface="Calibri" pitchFamily="34" charset="0"/>
                <a:ea typeface="Calibri" pitchFamily="34" charset="-122"/>
                <a:cs typeface="Calibri" pitchFamily="34" charset="-120"/>
              </a:rPr>
              <a:t>Cost &amp; Latency Dashboards</a:t>
            </a:r>
            <a:endParaRPr lang="en-US" sz="1350" dirty="0"/>
          </a:p>
        </p:txBody>
      </p:sp>
      <p:sp>
        <p:nvSpPr>
          <p:cNvPr id="24" name="Text 18"/>
          <p:cNvSpPr/>
          <p:nvPr/>
        </p:nvSpPr>
        <p:spPr>
          <a:xfrm>
            <a:off x="9235440" y="4251960"/>
            <a:ext cx="2176272" cy="1097280"/>
          </a:xfrm>
          <a:prstGeom prst="rect">
            <a:avLst/>
          </a:prstGeom>
          <a:noFill/>
          <a:ln/>
        </p:spPr>
        <p:txBody>
          <a:bodyPr wrap="square" lIns="0" tIns="0" rIns="0" bIns="0" rtlCol="0" anchor="ctr"/>
          <a:lstStyle/>
          <a:p>
            <a:pPr algn="ctr" indent="0" marL="0">
              <a:lnSpc>
                <a:spcPct val="115000"/>
              </a:lnSpc>
              <a:buNone/>
            </a:pPr>
            <a:r>
              <a:rPr lang="en-US" sz="1050" dirty="0">
                <a:solidFill>
                  <a:srgbClr val="475569"/>
                </a:solidFill>
                <a:latin typeface="Calibri" pitchFamily="34" charset="0"/>
                <a:ea typeface="Calibri" pitchFamily="34" charset="-122"/>
                <a:cs typeface="Calibri" pitchFamily="34" charset="-120"/>
              </a:rPr>
              <a:t>Per-agent, per-tool visibility into spend and response time</a:t>
            </a:r>
            <a:endParaRPr lang="en-US" sz="1050" dirty="0"/>
          </a:p>
        </p:txBody>
      </p:sp>
      <p:sp>
        <p:nvSpPr>
          <p:cNvPr id="25" name="Text 19"/>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29</a:t>
            </a:r>
            <a:endParaRPr lang="en-US" sz="1000" dirty="0"/>
          </a:p>
        </p:txBody>
      </p:sp>
      <p:sp>
        <p:nvSpPr>
          <p:cNvPr id="26" name="Text 20"/>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4F5BD5"/>
                </a:solidFill>
                <a:latin typeface="Calibri" pitchFamily="34" charset="0"/>
                <a:ea typeface="Calibri" pitchFamily="34" charset="-122"/>
                <a:cs typeface="Calibri" pitchFamily="34" charset="-120"/>
              </a:rPr>
              <a:t>BRINGING IT TOGETHER</a:t>
            </a:r>
            <a:endParaRPr lang="en-US" sz="1200" dirty="0"/>
          </a:p>
        </p:txBody>
      </p:sp>
      <p:sp>
        <p:nvSpPr>
          <p:cNvPr id="3" name="Text 1"/>
          <p:cNvSpPr/>
          <p:nvPr/>
        </p:nvSpPr>
        <p:spPr>
          <a:xfrm>
            <a:off x="640080" y="640080"/>
            <a:ext cx="10881360" cy="685800"/>
          </a:xfrm>
          <a:prstGeom prst="rect">
            <a:avLst/>
          </a:prstGeom>
          <a:noFill/>
          <a:ln/>
        </p:spPr>
        <p:txBody>
          <a:bodyPr wrap="square" lIns="0" tIns="0" rIns="0" bIns="0" rtlCol="0" anchor="ctr"/>
          <a:lstStyle/>
          <a:p>
            <a:pPr indent="0" marL="0">
              <a:buNone/>
            </a:pPr>
            <a:r>
              <a:rPr lang="en-US" sz="3000" b="1" dirty="0">
                <a:solidFill>
                  <a:srgbClr val="12142E"/>
                </a:solidFill>
                <a:latin typeface="Cambria" pitchFamily="34" charset="0"/>
                <a:ea typeface="Cambria" pitchFamily="34" charset="-122"/>
                <a:cs typeface="Cambria" pitchFamily="34" charset="-120"/>
              </a:rPr>
              <a:t>Reference Architecture</a:t>
            </a:r>
            <a:endParaRPr lang="en-US" sz="3000" dirty="0"/>
          </a:p>
        </p:txBody>
      </p:sp>
      <p:sp>
        <p:nvSpPr>
          <p:cNvPr id="4" name="Shape 2"/>
          <p:cNvSpPr/>
          <p:nvPr/>
        </p:nvSpPr>
        <p:spPr>
          <a:xfrm>
            <a:off x="640080" y="1417320"/>
            <a:ext cx="10881360" cy="4709160"/>
          </a:xfrm>
          <a:prstGeom prst="roundRect">
            <a:avLst>
              <a:gd name="adj" fmla="val 1553"/>
            </a:avLst>
          </a:prstGeom>
          <a:solidFill>
            <a:srgbClr val="12142E"/>
          </a:solidFill>
          <a:ln/>
          <a:effectLst>
            <a:outerShdw sx="100000" sy="100000" kx="0" ky="0" algn="bl" rotWithShape="0" blurRad="101600" dist="38100" dir="5400000">
              <a:srgbClr val="12142E">
                <a:alpha val="10000"/>
              </a:srgbClr>
            </a:outerShdw>
          </a:effectLst>
        </p:spPr>
      </p:sp>
      <p:sp>
        <p:nvSpPr>
          <p:cNvPr id="5" name="Shape 3"/>
          <p:cNvSpPr/>
          <p:nvPr/>
        </p:nvSpPr>
        <p:spPr>
          <a:xfrm>
            <a:off x="914400" y="1691640"/>
            <a:ext cx="502920" cy="502920"/>
          </a:xfrm>
          <a:prstGeom prst="ellipse">
            <a:avLst/>
          </a:prstGeom>
          <a:solidFill>
            <a:srgbClr val="1C1F47"/>
          </a:solidFill>
          <a:ln/>
        </p:spPr>
      </p:sp>
      <p:pic>
        <p:nvPicPr>
          <p:cNvPr id="6" name="Image 0" descr="/home/claude/agents-deck/icons/shield_cyan.png">    </p:cNvPr>
          <p:cNvPicPr>
            <a:picLocks noChangeAspect="1"/>
          </p:cNvPicPr>
          <p:nvPr/>
        </p:nvPicPr>
        <p:blipFill>
          <a:blip r:embed="rId1"/>
          <a:stretch>
            <a:fillRect/>
          </a:stretch>
        </p:blipFill>
        <p:spPr>
          <a:xfrm>
            <a:off x="1045159" y="1822399"/>
            <a:ext cx="241402" cy="241402"/>
          </a:xfrm>
          <a:prstGeom prst="rect">
            <a:avLst/>
          </a:prstGeom>
        </p:spPr>
      </p:pic>
      <p:sp>
        <p:nvSpPr>
          <p:cNvPr id="7" name="Text 4"/>
          <p:cNvSpPr/>
          <p:nvPr/>
        </p:nvSpPr>
        <p:spPr>
          <a:xfrm>
            <a:off x="1600200" y="1709928"/>
            <a:ext cx="2103120" cy="457200"/>
          </a:xfrm>
          <a:prstGeom prst="rect">
            <a:avLst/>
          </a:prstGeom>
          <a:noFill/>
          <a:ln/>
        </p:spPr>
        <p:txBody>
          <a:bodyPr wrap="square" lIns="0" tIns="0" rIns="0" bIns="0" rtlCol="0" anchor="ctr"/>
          <a:lstStyle/>
          <a:p>
            <a:pPr indent="0" marL="0">
              <a:buNone/>
            </a:pPr>
            <a:r>
              <a:rPr lang="en-US" sz="1150" b="1" spc="100" kern="0" dirty="0">
                <a:solidFill>
                  <a:srgbClr val="22D3EE"/>
                </a:solidFill>
                <a:latin typeface="Calibri" pitchFamily="34" charset="0"/>
                <a:ea typeface="Calibri" pitchFamily="34" charset="-122"/>
                <a:cs typeface="Calibri" pitchFamily="34" charset="-120"/>
              </a:rPr>
              <a:t>GOVERNANCE</a:t>
            </a:r>
            <a:endParaRPr lang="en-US" sz="1150" dirty="0"/>
          </a:p>
        </p:txBody>
      </p:sp>
      <p:sp>
        <p:nvSpPr>
          <p:cNvPr id="8" name="Shape 5"/>
          <p:cNvSpPr/>
          <p:nvPr/>
        </p:nvSpPr>
        <p:spPr>
          <a:xfrm>
            <a:off x="3931920" y="1673352"/>
            <a:ext cx="2103120" cy="530352"/>
          </a:xfrm>
          <a:prstGeom prst="roundRect">
            <a:avLst>
              <a:gd name="adj" fmla="val 10345"/>
            </a:avLst>
          </a:prstGeom>
          <a:solidFill>
            <a:srgbClr val="1C1F47"/>
          </a:solidFill>
          <a:ln w="9525">
            <a:solidFill>
              <a:srgbClr val="35386E"/>
            </a:solidFill>
            <a:prstDash val="solid"/>
          </a:ln>
        </p:spPr>
      </p:sp>
      <p:sp>
        <p:nvSpPr>
          <p:cNvPr id="9" name="Text 6"/>
          <p:cNvSpPr/>
          <p:nvPr/>
        </p:nvSpPr>
        <p:spPr>
          <a:xfrm>
            <a:off x="3931920" y="1673352"/>
            <a:ext cx="2103120" cy="53035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Guardrails</a:t>
            </a:r>
            <a:endParaRPr lang="en-US" sz="1100" dirty="0"/>
          </a:p>
        </p:txBody>
      </p:sp>
      <p:sp>
        <p:nvSpPr>
          <p:cNvPr id="10" name="Shape 7"/>
          <p:cNvSpPr/>
          <p:nvPr/>
        </p:nvSpPr>
        <p:spPr>
          <a:xfrm>
            <a:off x="6263640" y="1673352"/>
            <a:ext cx="2103120" cy="530352"/>
          </a:xfrm>
          <a:prstGeom prst="roundRect">
            <a:avLst>
              <a:gd name="adj" fmla="val 10345"/>
            </a:avLst>
          </a:prstGeom>
          <a:solidFill>
            <a:srgbClr val="1C1F47"/>
          </a:solidFill>
          <a:ln w="9525">
            <a:solidFill>
              <a:srgbClr val="35386E"/>
            </a:solidFill>
            <a:prstDash val="solid"/>
          </a:ln>
        </p:spPr>
      </p:sp>
      <p:sp>
        <p:nvSpPr>
          <p:cNvPr id="11" name="Text 8"/>
          <p:cNvSpPr/>
          <p:nvPr/>
        </p:nvSpPr>
        <p:spPr>
          <a:xfrm>
            <a:off x="6263640" y="1673352"/>
            <a:ext cx="2103120" cy="53035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Human Approval</a:t>
            </a:r>
            <a:endParaRPr lang="en-US" sz="1100" dirty="0"/>
          </a:p>
        </p:txBody>
      </p:sp>
      <p:sp>
        <p:nvSpPr>
          <p:cNvPr id="12" name="Shape 9"/>
          <p:cNvSpPr/>
          <p:nvPr/>
        </p:nvSpPr>
        <p:spPr>
          <a:xfrm>
            <a:off x="8595360" y="1673352"/>
            <a:ext cx="2103120" cy="530352"/>
          </a:xfrm>
          <a:prstGeom prst="roundRect">
            <a:avLst>
              <a:gd name="adj" fmla="val 10345"/>
            </a:avLst>
          </a:prstGeom>
          <a:solidFill>
            <a:srgbClr val="1C1F47"/>
          </a:solidFill>
          <a:ln w="9525">
            <a:solidFill>
              <a:srgbClr val="35386E"/>
            </a:solidFill>
            <a:prstDash val="solid"/>
          </a:ln>
        </p:spPr>
      </p:sp>
      <p:sp>
        <p:nvSpPr>
          <p:cNvPr id="13" name="Text 10"/>
          <p:cNvSpPr/>
          <p:nvPr/>
        </p:nvSpPr>
        <p:spPr>
          <a:xfrm>
            <a:off x="8595360" y="1673352"/>
            <a:ext cx="2103120" cy="53035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Audit Log</a:t>
            </a:r>
            <a:endParaRPr lang="en-US" sz="1100" dirty="0"/>
          </a:p>
        </p:txBody>
      </p:sp>
      <p:sp>
        <p:nvSpPr>
          <p:cNvPr id="14" name="Shape 11"/>
          <p:cNvSpPr/>
          <p:nvPr/>
        </p:nvSpPr>
        <p:spPr>
          <a:xfrm>
            <a:off x="914400" y="2697480"/>
            <a:ext cx="502920" cy="502920"/>
          </a:xfrm>
          <a:prstGeom prst="ellipse">
            <a:avLst/>
          </a:prstGeom>
          <a:solidFill>
            <a:srgbClr val="1C1F47"/>
          </a:solidFill>
          <a:ln/>
        </p:spPr>
      </p:sp>
      <p:pic>
        <p:nvPicPr>
          <p:cNvPr id="15" name="Image 1" descr="/home/claude/agents-deck/icons/network_cyan.png">    </p:cNvPr>
          <p:cNvPicPr>
            <a:picLocks noChangeAspect="1"/>
          </p:cNvPicPr>
          <p:nvPr/>
        </p:nvPicPr>
        <p:blipFill>
          <a:blip r:embed="rId2"/>
          <a:stretch>
            <a:fillRect/>
          </a:stretch>
        </p:blipFill>
        <p:spPr>
          <a:xfrm>
            <a:off x="1045159" y="2828239"/>
            <a:ext cx="241402" cy="241402"/>
          </a:xfrm>
          <a:prstGeom prst="rect">
            <a:avLst/>
          </a:prstGeom>
        </p:spPr>
      </p:pic>
      <p:sp>
        <p:nvSpPr>
          <p:cNvPr id="16" name="Text 12"/>
          <p:cNvSpPr/>
          <p:nvPr/>
        </p:nvSpPr>
        <p:spPr>
          <a:xfrm>
            <a:off x="1600200" y="2715768"/>
            <a:ext cx="2103120" cy="457200"/>
          </a:xfrm>
          <a:prstGeom prst="rect">
            <a:avLst/>
          </a:prstGeom>
          <a:noFill/>
          <a:ln/>
        </p:spPr>
        <p:txBody>
          <a:bodyPr wrap="square" lIns="0" tIns="0" rIns="0" bIns="0" rtlCol="0" anchor="ctr"/>
          <a:lstStyle/>
          <a:p>
            <a:pPr indent="0" marL="0">
              <a:buNone/>
            </a:pPr>
            <a:r>
              <a:rPr lang="en-US" sz="1150" b="1" spc="100" kern="0" dirty="0">
                <a:solidFill>
                  <a:srgbClr val="22D3EE"/>
                </a:solidFill>
                <a:latin typeface="Calibri" pitchFamily="34" charset="0"/>
                <a:ea typeface="Calibri" pitchFamily="34" charset="-122"/>
                <a:cs typeface="Calibri" pitchFamily="34" charset="-120"/>
              </a:rPr>
              <a:t>ORCHESTRATION</a:t>
            </a:r>
            <a:endParaRPr lang="en-US" sz="1150" dirty="0"/>
          </a:p>
        </p:txBody>
      </p:sp>
      <p:sp>
        <p:nvSpPr>
          <p:cNvPr id="17" name="Shape 13"/>
          <p:cNvSpPr/>
          <p:nvPr/>
        </p:nvSpPr>
        <p:spPr>
          <a:xfrm>
            <a:off x="3931920" y="2679192"/>
            <a:ext cx="2103120" cy="530352"/>
          </a:xfrm>
          <a:prstGeom prst="roundRect">
            <a:avLst>
              <a:gd name="adj" fmla="val 10345"/>
            </a:avLst>
          </a:prstGeom>
          <a:solidFill>
            <a:srgbClr val="1C1F47"/>
          </a:solidFill>
          <a:ln w="9525">
            <a:solidFill>
              <a:srgbClr val="35386E"/>
            </a:solidFill>
            <a:prstDash val="solid"/>
          </a:ln>
        </p:spPr>
      </p:sp>
      <p:sp>
        <p:nvSpPr>
          <p:cNvPr id="18" name="Text 14"/>
          <p:cNvSpPr/>
          <p:nvPr/>
        </p:nvSpPr>
        <p:spPr>
          <a:xfrm>
            <a:off x="3931920" y="2679192"/>
            <a:ext cx="2103120" cy="53035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Router</a:t>
            </a:r>
            <a:endParaRPr lang="en-US" sz="1100" dirty="0"/>
          </a:p>
        </p:txBody>
      </p:sp>
      <p:sp>
        <p:nvSpPr>
          <p:cNvPr id="19" name="Shape 15"/>
          <p:cNvSpPr/>
          <p:nvPr/>
        </p:nvSpPr>
        <p:spPr>
          <a:xfrm>
            <a:off x="6263640" y="2679192"/>
            <a:ext cx="2103120" cy="530352"/>
          </a:xfrm>
          <a:prstGeom prst="roundRect">
            <a:avLst>
              <a:gd name="adj" fmla="val 10345"/>
            </a:avLst>
          </a:prstGeom>
          <a:solidFill>
            <a:srgbClr val="1C1F47"/>
          </a:solidFill>
          <a:ln w="9525">
            <a:solidFill>
              <a:srgbClr val="35386E"/>
            </a:solidFill>
            <a:prstDash val="solid"/>
          </a:ln>
        </p:spPr>
      </p:sp>
      <p:sp>
        <p:nvSpPr>
          <p:cNvPr id="20" name="Text 16"/>
          <p:cNvSpPr/>
          <p:nvPr/>
        </p:nvSpPr>
        <p:spPr>
          <a:xfrm>
            <a:off x="6263640" y="2679192"/>
            <a:ext cx="2103120" cy="53035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State Store</a:t>
            </a:r>
            <a:endParaRPr lang="en-US" sz="1100" dirty="0"/>
          </a:p>
        </p:txBody>
      </p:sp>
      <p:sp>
        <p:nvSpPr>
          <p:cNvPr id="21" name="Shape 17"/>
          <p:cNvSpPr/>
          <p:nvPr/>
        </p:nvSpPr>
        <p:spPr>
          <a:xfrm>
            <a:off x="8595360" y="2679192"/>
            <a:ext cx="2103120" cy="530352"/>
          </a:xfrm>
          <a:prstGeom prst="roundRect">
            <a:avLst>
              <a:gd name="adj" fmla="val 10345"/>
            </a:avLst>
          </a:prstGeom>
          <a:solidFill>
            <a:srgbClr val="1C1F47"/>
          </a:solidFill>
          <a:ln w="9525">
            <a:solidFill>
              <a:srgbClr val="35386E"/>
            </a:solidFill>
            <a:prstDash val="solid"/>
          </a:ln>
        </p:spPr>
      </p:sp>
      <p:sp>
        <p:nvSpPr>
          <p:cNvPr id="22" name="Text 18"/>
          <p:cNvSpPr/>
          <p:nvPr/>
        </p:nvSpPr>
        <p:spPr>
          <a:xfrm>
            <a:off x="8595360" y="2679192"/>
            <a:ext cx="2103120" cy="53035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Error Handling</a:t>
            </a:r>
            <a:endParaRPr lang="en-US" sz="1100" dirty="0"/>
          </a:p>
        </p:txBody>
      </p:sp>
      <p:sp>
        <p:nvSpPr>
          <p:cNvPr id="23" name="Shape 19"/>
          <p:cNvSpPr/>
          <p:nvPr/>
        </p:nvSpPr>
        <p:spPr>
          <a:xfrm>
            <a:off x="914400" y="3703320"/>
            <a:ext cx="502920" cy="502920"/>
          </a:xfrm>
          <a:prstGeom prst="ellipse">
            <a:avLst/>
          </a:prstGeom>
          <a:solidFill>
            <a:srgbClr val="1C1F47"/>
          </a:solidFill>
          <a:ln/>
        </p:spPr>
      </p:sp>
      <p:pic>
        <p:nvPicPr>
          <p:cNvPr id="24" name="Image 2" descr="/home/claude/agents-deck/icons/brain_cyan.png">    </p:cNvPr>
          <p:cNvPicPr>
            <a:picLocks noChangeAspect="1"/>
          </p:cNvPicPr>
          <p:nvPr/>
        </p:nvPicPr>
        <p:blipFill>
          <a:blip r:embed="rId3"/>
          <a:stretch>
            <a:fillRect/>
          </a:stretch>
        </p:blipFill>
        <p:spPr>
          <a:xfrm>
            <a:off x="1045159" y="3834079"/>
            <a:ext cx="241402" cy="241402"/>
          </a:xfrm>
          <a:prstGeom prst="rect">
            <a:avLst/>
          </a:prstGeom>
        </p:spPr>
      </p:pic>
      <p:sp>
        <p:nvSpPr>
          <p:cNvPr id="25" name="Text 20"/>
          <p:cNvSpPr/>
          <p:nvPr/>
        </p:nvSpPr>
        <p:spPr>
          <a:xfrm>
            <a:off x="1600200" y="3721608"/>
            <a:ext cx="2103120" cy="457200"/>
          </a:xfrm>
          <a:prstGeom prst="rect">
            <a:avLst/>
          </a:prstGeom>
          <a:noFill/>
          <a:ln/>
        </p:spPr>
        <p:txBody>
          <a:bodyPr wrap="square" lIns="0" tIns="0" rIns="0" bIns="0" rtlCol="0" anchor="ctr"/>
          <a:lstStyle/>
          <a:p>
            <a:pPr indent="0" marL="0">
              <a:buNone/>
            </a:pPr>
            <a:r>
              <a:rPr lang="en-US" sz="1150" b="1" spc="100" kern="0" dirty="0">
                <a:solidFill>
                  <a:srgbClr val="22D3EE"/>
                </a:solidFill>
                <a:latin typeface="Calibri" pitchFamily="34" charset="0"/>
                <a:ea typeface="Calibri" pitchFamily="34" charset="-122"/>
                <a:cs typeface="Calibri" pitchFamily="34" charset="-120"/>
              </a:rPr>
              <a:t>AGENT CORE</a:t>
            </a:r>
            <a:endParaRPr lang="en-US" sz="1150" dirty="0"/>
          </a:p>
        </p:txBody>
      </p:sp>
      <p:sp>
        <p:nvSpPr>
          <p:cNvPr id="26" name="Shape 21"/>
          <p:cNvSpPr/>
          <p:nvPr/>
        </p:nvSpPr>
        <p:spPr>
          <a:xfrm>
            <a:off x="3931920" y="3685032"/>
            <a:ext cx="2103120" cy="530352"/>
          </a:xfrm>
          <a:prstGeom prst="roundRect">
            <a:avLst>
              <a:gd name="adj" fmla="val 10345"/>
            </a:avLst>
          </a:prstGeom>
          <a:solidFill>
            <a:srgbClr val="1C1F47"/>
          </a:solidFill>
          <a:ln w="9525">
            <a:solidFill>
              <a:srgbClr val="35386E"/>
            </a:solidFill>
            <a:prstDash val="solid"/>
          </a:ln>
        </p:spPr>
      </p:sp>
      <p:sp>
        <p:nvSpPr>
          <p:cNvPr id="27" name="Text 22"/>
          <p:cNvSpPr/>
          <p:nvPr/>
        </p:nvSpPr>
        <p:spPr>
          <a:xfrm>
            <a:off x="3931920" y="3685032"/>
            <a:ext cx="2103120" cy="53035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Planner</a:t>
            </a:r>
            <a:endParaRPr lang="en-US" sz="1100" dirty="0"/>
          </a:p>
        </p:txBody>
      </p:sp>
      <p:sp>
        <p:nvSpPr>
          <p:cNvPr id="28" name="Shape 23"/>
          <p:cNvSpPr/>
          <p:nvPr/>
        </p:nvSpPr>
        <p:spPr>
          <a:xfrm>
            <a:off x="6263640" y="3685032"/>
            <a:ext cx="2103120" cy="530352"/>
          </a:xfrm>
          <a:prstGeom prst="roundRect">
            <a:avLst>
              <a:gd name="adj" fmla="val 10345"/>
            </a:avLst>
          </a:prstGeom>
          <a:solidFill>
            <a:srgbClr val="1C1F47"/>
          </a:solidFill>
          <a:ln w="9525">
            <a:solidFill>
              <a:srgbClr val="35386E"/>
            </a:solidFill>
            <a:prstDash val="solid"/>
          </a:ln>
        </p:spPr>
      </p:sp>
      <p:sp>
        <p:nvSpPr>
          <p:cNvPr id="29" name="Text 24"/>
          <p:cNvSpPr/>
          <p:nvPr/>
        </p:nvSpPr>
        <p:spPr>
          <a:xfrm>
            <a:off x="6263640" y="3685032"/>
            <a:ext cx="2103120" cy="53035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Memory</a:t>
            </a:r>
            <a:endParaRPr lang="en-US" sz="1100" dirty="0"/>
          </a:p>
        </p:txBody>
      </p:sp>
      <p:sp>
        <p:nvSpPr>
          <p:cNvPr id="30" name="Shape 25"/>
          <p:cNvSpPr/>
          <p:nvPr/>
        </p:nvSpPr>
        <p:spPr>
          <a:xfrm>
            <a:off x="8595360" y="3685032"/>
            <a:ext cx="2103120" cy="530352"/>
          </a:xfrm>
          <a:prstGeom prst="roundRect">
            <a:avLst>
              <a:gd name="adj" fmla="val 10345"/>
            </a:avLst>
          </a:prstGeom>
          <a:solidFill>
            <a:srgbClr val="1C1F47"/>
          </a:solidFill>
          <a:ln w="9525">
            <a:solidFill>
              <a:srgbClr val="35386E"/>
            </a:solidFill>
            <a:prstDash val="solid"/>
          </a:ln>
        </p:spPr>
      </p:sp>
      <p:sp>
        <p:nvSpPr>
          <p:cNvPr id="31" name="Text 26"/>
          <p:cNvSpPr/>
          <p:nvPr/>
        </p:nvSpPr>
        <p:spPr>
          <a:xfrm>
            <a:off x="8595360" y="3685032"/>
            <a:ext cx="2103120" cy="53035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Tool Calling</a:t>
            </a:r>
            <a:endParaRPr lang="en-US" sz="1100" dirty="0"/>
          </a:p>
        </p:txBody>
      </p:sp>
      <p:sp>
        <p:nvSpPr>
          <p:cNvPr id="32" name="Shape 27"/>
          <p:cNvSpPr/>
          <p:nvPr/>
        </p:nvSpPr>
        <p:spPr>
          <a:xfrm>
            <a:off x="914400" y="4709160"/>
            <a:ext cx="502920" cy="502920"/>
          </a:xfrm>
          <a:prstGeom prst="ellipse">
            <a:avLst/>
          </a:prstGeom>
          <a:solidFill>
            <a:srgbClr val="1C1F47"/>
          </a:solidFill>
          <a:ln/>
        </p:spPr>
      </p:sp>
      <p:pic>
        <p:nvPicPr>
          <p:cNvPr id="33" name="Image 3" descr="/home/claude/agents-deck/icons/wrench_cyan.png">    </p:cNvPr>
          <p:cNvPicPr>
            <a:picLocks noChangeAspect="1"/>
          </p:cNvPicPr>
          <p:nvPr/>
        </p:nvPicPr>
        <p:blipFill>
          <a:blip r:embed="rId4"/>
          <a:stretch>
            <a:fillRect/>
          </a:stretch>
        </p:blipFill>
        <p:spPr>
          <a:xfrm>
            <a:off x="1045159" y="4839919"/>
            <a:ext cx="241402" cy="241402"/>
          </a:xfrm>
          <a:prstGeom prst="rect">
            <a:avLst/>
          </a:prstGeom>
        </p:spPr>
      </p:pic>
      <p:sp>
        <p:nvSpPr>
          <p:cNvPr id="34" name="Text 28"/>
          <p:cNvSpPr/>
          <p:nvPr/>
        </p:nvSpPr>
        <p:spPr>
          <a:xfrm>
            <a:off x="1600200" y="4727448"/>
            <a:ext cx="2103120" cy="457200"/>
          </a:xfrm>
          <a:prstGeom prst="rect">
            <a:avLst/>
          </a:prstGeom>
          <a:noFill/>
          <a:ln/>
        </p:spPr>
        <p:txBody>
          <a:bodyPr wrap="square" lIns="0" tIns="0" rIns="0" bIns="0" rtlCol="0" anchor="ctr"/>
          <a:lstStyle/>
          <a:p>
            <a:pPr indent="0" marL="0">
              <a:buNone/>
            </a:pPr>
            <a:r>
              <a:rPr lang="en-US" sz="1150" b="1" spc="100" kern="0" dirty="0">
                <a:solidFill>
                  <a:srgbClr val="22D3EE"/>
                </a:solidFill>
                <a:latin typeface="Calibri" pitchFamily="34" charset="0"/>
                <a:ea typeface="Calibri" pitchFamily="34" charset="-122"/>
                <a:cs typeface="Calibri" pitchFamily="34" charset="-120"/>
              </a:rPr>
              <a:t>EXECUTION</a:t>
            </a:r>
            <a:endParaRPr lang="en-US" sz="1150" dirty="0"/>
          </a:p>
        </p:txBody>
      </p:sp>
      <p:sp>
        <p:nvSpPr>
          <p:cNvPr id="35" name="Shape 29"/>
          <p:cNvSpPr/>
          <p:nvPr/>
        </p:nvSpPr>
        <p:spPr>
          <a:xfrm>
            <a:off x="3931920" y="4690872"/>
            <a:ext cx="2103120" cy="530352"/>
          </a:xfrm>
          <a:prstGeom prst="roundRect">
            <a:avLst>
              <a:gd name="adj" fmla="val 10345"/>
            </a:avLst>
          </a:prstGeom>
          <a:solidFill>
            <a:srgbClr val="1C1F47"/>
          </a:solidFill>
          <a:ln w="9525">
            <a:solidFill>
              <a:srgbClr val="35386E"/>
            </a:solidFill>
            <a:prstDash val="solid"/>
          </a:ln>
        </p:spPr>
      </p:sp>
      <p:sp>
        <p:nvSpPr>
          <p:cNvPr id="36" name="Text 30"/>
          <p:cNvSpPr/>
          <p:nvPr/>
        </p:nvSpPr>
        <p:spPr>
          <a:xfrm>
            <a:off x="3931920" y="4690872"/>
            <a:ext cx="2103120" cy="53035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Tools / APIs</a:t>
            </a:r>
            <a:endParaRPr lang="en-US" sz="1100" dirty="0"/>
          </a:p>
        </p:txBody>
      </p:sp>
      <p:sp>
        <p:nvSpPr>
          <p:cNvPr id="37" name="Shape 31"/>
          <p:cNvSpPr/>
          <p:nvPr/>
        </p:nvSpPr>
        <p:spPr>
          <a:xfrm>
            <a:off x="6263640" y="4690872"/>
            <a:ext cx="2103120" cy="530352"/>
          </a:xfrm>
          <a:prstGeom prst="roundRect">
            <a:avLst>
              <a:gd name="adj" fmla="val 10345"/>
            </a:avLst>
          </a:prstGeom>
          <a:solidFill>
            <a:srgbClr val="1C1F47"/>
          </a:solidFill>
          <a:ln w="9525">
            <a:solidFill>
              <a:srgbClr val="35386E"/>
            </a:solidFill>
            <a:prstDash val="solid"/>
          </a:ln>
        </p:spPr>
      </p:sp>
      <p:sp>
        <p:nvSpPr>
          <p:cNvPr id="38" name="Text 32"/>
          <p:cNvSpPr/>
          <p:nvPr/>
        </p:nvSpPr>
        <p:spPr>
          <a:xfrm>
            <a:off x="6263640" y="4690872"/>
            <a:ext cx="2103120" cy="53035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External Systems</a:t>
            </a:r>
            <a:endParaRPr lang="en-US" sz="1100" dirty="0"/>
          </a:p>
        </p:txBody>
      </p:sp>
      <p:sp>
        <p:nvSpPr>
          <p:cNvPr id="39" name="Shape 33"/>
          <p:cNvSpPr/>
          <p:nvPr/>
        </p:nvSpPr>
        <p:spPr>
          <a:xfrm>
            <a:off x="8595360" y="4690872"/>
            <a:ext cx="2103120" cy="530352"/>
          </a:xfrm>
          <a:prstGeom prst="roundRect">
            <a:avLst>
              <a:gd name="adj" fmla="val 10345"/>
            </a:avLst>
          </a:prstGeom>
          <a:solidFill>
            <a:srgbClr val="1C1F47"/>
          </a:solidFill>
          <a:ln w="9525">
            <a:solidFill>
              <a:srgbClr val="35386E"/>
            </a:solidFill>
            <a:prstDash val="solid"/>
          </a:ln>
        </p:spPr>
      </p:sp>
      <p:sp>
        <p:nvSpPr>
          <p:cNvPr id="40" name="Text 34"/>
          <p:cNvSpPr/>
          <p:nvPr/>
        </p:nvSpPr>
        <p:spPr>
          <a:xfrm>
            <a:off x="8595360" y="4690872"/>
            <a:ext cx="2103120" cy="53035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Sub-Agents</a:t>
            </a:r>
            <a:endParaRPr lang="en-US" sz="1100" dirty="0"/>
          </a:p>
        </p:txBody>
      </p:sp>
      <p:sp>
        <p:nvSpPr>
          <p:cNvPr id="41" name="Shape 35"/>
          <p:cNvSpPr/>
          <p:nvPr/>
        </p:nvSpPr>
        <p:spPr>
          <a:xfrm>
            <a:off x="1161288" y="2194560"/>
            <a:ext cx="0" cy="502920"/>
          </a:xfrm>
          <a:prstGeom prst="line">
            <a:avLst/>
          </a:prstGeom>
          <a:noFill/>
          <a:ln w="15875">
            <a:solidFill>
              <a:srgbClr val="35386E"/>
            </a:solidFill>
            <a:prstDash val="solid"/>
          </a:ln>
        </p:spPr>
      </p:sp>
      <p:sp>
        <p:nvSpPr>
          <p:cNvPr id="42" name="Shape 36"/>
          <p:cNvSpPr/>
          <p:nvPr/>
        </p:nvSpPr>
        <p:spPr>
          <a:xfrm>
            <a:off x="1161288" y="3200400"/>
            <a:ext cx="0" cy="502920"/>
          </a:xfrm>
          <a:prstGeom prst="line">
            <a:avLst/>
          </a:prstGeom>
          <a:noFill/>
          <a:ln w="15875">
            <a:solidFill>
              <a:srgbClr val="35386E"/>
            </a:solidFill>
            <a:prstDash val="solid"/>
          </a:ln>
        </p:spPr>
      </p:sp>
      <p:sp>
        <p:nvSpPr>
          <p:cNvPr id="43" name="Shape 37"/>
          <p:cNvSpPr/>
          <p:nvPr/>
        </p:nvSpPr>
        <p:spPr>
          <a:xfrm>
            <a:off x="1161288" y="4206240"/>
            <a:ext cx="0" cy="502920"/>
          </a:xfrm>
          <a:prstGeom prst="line">
            <a:avLst/>
          </a:prstGeom>
          <a:noFill/>
          <a:ln w="15875">
            <a:solidFill>
              <a:srgbClr val="35386E"/>
            </a:solidFill>
            <a:prstDash val="solid"/>
          </a:ln>
        </p:spPr>
      </p:sp>
      <p:sp>
        <p:nvSpPr>
          <p:cNvPr id="44" name="Text 38"/>
          <p:cNvSpPr/>
          <p:nvPr/>
        </p:nvSpPr>
        <p:spPr>
          <a:xfrm>
            <a:off x="640080" y="6263640"/>
            <a:ext cx="10881360" cy="365760"/>
          </a:xfrm>
          <a:prstGeom prst="rect">
            <a:avLst/>
          </a:prstGeom>
          <a:noFill/>
          <a:ln/>
        </p:spPr>
        <p:txBody>
          <a:bodyPr wrap="square" lIns="0" tIns="0" rIns="0" bIns="0" rtlCol="0" anchor="ctr"/>
          <a:lstStyle/>
          <a:p>
            <a:pPr indent="0" marL="0">
              <a:buNone/>
            </a:pPr>
            <a:r>
              <a:rPr lang="en-US" sz="1050" i="1" dirty="0">
                <a:solidFill>
                  <a:srgbClr val="475569"/>
                </a:solidFill>
                <a:latin typeface="Calibri" pitchFamily="34" charset="0"/>
                <a:ea typeface="Calibri" pitchFamily="34" charset="-122"/>
                <a:cs typeface="Calibri" pitchFamily="34" charset="-120"/>
              </a:rPr>
              <a:t>Governance wraps every layer beneath it — it isn't a bolt-on step, it constrains what orchestration, the agent core, and execution are allowed to do.</a:t>
            </a:r>
            <a:endParaRPr lang="en-US" sz="1050" dirty="0"/>
          </a:p>
        </p:txBody>
      </p:sp>
      <p:sp>
        <p:nvSpPr>
          <p:cNvPr id="45" name="Text 39"/>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B9BCD8"/>
                </a:solidFill>
                <a:latin typeface="Calibri" pitchFamily="34" charset="0"/>
                <a:ea typeface="Calibri" pitchFamily="34" charset="-122"/>
                <a:cs typeface="Calibri" pitchFamily="34" charset="-120"/>
              </a:rPr>
              <a:t>30</a:t>
            </a:r>
            <a:endParaRPr lang="en-US" sz="1000" dirty="0"/>
          </a:p>
        </p:txBody>
      </p:sp>
      <p:sp>
        <p:nvSpPr>
          <p:cNvPr id="46" name="Text 40"/>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B9BCD8"/>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2142E"/>
        </a:solidFill>
      </p:bgPr>
    </p:bg>
    <p:spTree>
      <p:nvGrpSpPr>
        <p:cNvPr id="1" name=""/>
        <p:cNvGrpSpPr/>
        <p:nvPr/>
      </p:nvGrpSpPr>
      <p:grpSpPr>
        <a:xfrm>
          <a:off x="0" y="0"/>
          <a:ext cx="0" cy="0"/>
          <a:chOff x="0" y="0"/>
          <a:chExt cx="0" cy="0"/>
        </a:xfrm>
      </p:grpSpPr>
      <p:sp>
        <p:nvSpPr>
          <p:cNvPr id="2" name="Text 0"/>
          <p:cNvSpPr/>
          <p:nvPr/>
        </p:nvSpPr>
        <p:spPr>
          <a:xfrm>
            <a:off x="822960" y="640080"/>
            <a:ext cx="5486400" cy="365760"/>
          </a:xfrm>
          <a:prstGeom prst="rect">
            <a:avLst/>
          </a:prstGeom>
          <a:noFill/>
          <a:ln/>
        </p:spPr>
        <p:txBody>
          <a:bodyPr wrap="square" lIns="0" tIns="0" rIns="0" bIns="0" rtlCol="0" anchor="ctr"/>
          <a:lstStyle/>
          <a:p>
            <a:pPr indent="0" marL="0">
              <a:buNone/>
            </a:pPr>
            <a:r>
              <a:rPr lang="en-US" sz="1300" b="1" spc="300" kern="0" dirty="0">
                <a:solidFill>
                  <a:srgbClr val="22D3EE"/>
                </a:solidFill>
                <a:latin typeface="Calibri" pitchFamily="34" charset="0"/>
                <a:ea typeface="Calibri" pitchFamily="34" charset="-122"/>
                <a:cs typeface="Calibri" pitchFamily="34" charset="-120"/>
              </a:rPr>
              <a:t>KEY TAKEAWAYS</a:t>
            </a:r>
            <a:endParaRPr lang="en-US" sz="1300" dirty="0"/>
          </a:p>
        </p:txBody>
      </p:sp>
      <p:sp>
        <p:nvSpPr>
          <p:cNvPr id="3" name="Text 1"/>
          <p:cNvSpPr/>
          <p:nvPr/>
        </p:nvSpPr>
        <p:spPr>
          <a:xfrm>
            <a:off x="822960" y="1005840"/>
            <a:ext cx="914400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Five Things to Remember</a:t>
            </a:r>
            <a:endParaRPr lang="en-US" sz="3200" dirty="0"/>
          </a:p>
        </p:txBody>
      </p:sp>
      <p:sp>
        <p:nvSpPr>
          <p:cNvPr id="4" name="Shape 2"/>
          <p:cNvSpPr/>
          <p:nvPr/>
        </p:nvSpPr>
        <p:spPr>
          <a:xfrm>
            <a:off x="822960" y="1984248"/>
            <a:ext cx="402336" cy="402336"/>
          </a:xfrm>
          <a:prstGeom prst="ellipse">
            <a:avLst/>
          </a:prstGeom>
          <a:solidFill>
            <a:srgbClr val="1C1F47"/>
          </a:solidFill>
          <a:ln w="12700">
            <a:solidFill>
              <a:srgbClr val="22D3EE"/>
            </a:solidFill>
            <a:prstDash val="solid"/>
          </a:ln>
        </p:spPr>
      </p:sp>
      <p:sp>
        <p:nvSpPr>
          <p:cNvPr id="5" name="Text 3"/>
          <p:cNvSpPr/>
          <p:nvPr/>
        </p:nvSpPr>
        <p:spPr>
          <a:xfrm>
            <a:off x="822960" y="1984248"/>
            <a:ext cx="402336" cy="402336"/>
          </a:xfrm>
          <a:prstGeom prst="rect">
            <a:avLst/>
          </a:prstGeom>
          <a:noFill/>
          <a:ln/>
        </p:spPr>
        <p:txBody>
          <a:bodyPr wrap="square" lIns="0" tIns="0" rIns="0" bIns="0" rtlCol="0" anchor="ctr"/>
          <a:lstStyle/>
          <a:p>
            <a:pPr algn="ctr" indent="0" marL="0">
              <a:buNone/>
            </a:pPr>
            <a:r>
              <a:rPr lang="en-US" sz="1500" b="1" dirty="0">
                <a:solidFill>
                  <a:srgbClr val="22D3EE"/>
                </a:solidFill>
                <a:latin typeface="Cambria" pitchFamily="34" charset="0"/>
                <a:ea typeface="Cambria" pitchFamily="34" charset="-122"/>
                <a:cs typeface="Cambria" pitchFamily="34" charset="-120"/>
              </a:rPr>
              <a:t>1</a:t>
            </a:r>
            <a:endParaRPr lang="en-US" sz="1500" dirty="0"/>
          </a:p>
        </p:txBody>
      </p:sp>
      <p:sp>
        <p:nvSpPr>
          <p:cNvPr id="6" name="Text 4"/>
          <p:cNvSpPr/>
          <p:nvPr/>
        </p:nvSpPr>
        <p:spPr>
          <a:xfrm>
            <a:off x="1463040" y="1874520"/>
            <a:ext cx="950976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An agent is a loop, not a prompt</a:t>
            </a:r>
            <a:endParaRPr lang="en-US" sz="1550" dirty="0"/>
          </a:p>
        </p:txBody>
      </p:sp>
      <p:sp>
        <p:nvSpPr>
          <p:cNvPr id="7" name="Text 5"/>
          <p:cNvSpPr/>
          <p:nvPr/>
        </p:nvSpPr>
        <p:spPr>
          <a:xfrm>
            <a:off x="1463040" y="2221992"/>
            <a:ext cx="9509760" cy="365760"/>
          </a:xfrm>
          <a:prstGeom prst="rect">
            <a:avLst/>
          </a:prstGeom>
          <a:noFill/>
          <a:ln/>
        </p:spPr>
        <p:txBody>
          <a:bodyPr wrap="square" lIns="0" tIns="0" rIns="0" bIns="0" rtlCol="0" anchor="ctr"/>
          <a:lstStyle/>
          <a:p>
            <a:pPr indent="0" marL="0">
              <a:buNone/>
            </a:pPr>
            <a:r>
              <a:rPr lang="en-US" sz="1150" dirty="0">
                <a:solidFill>
                  <a:srgbClr val="8B90B3"/>
                </a:solidFill>
                <a:latin typeface="Calibri" pitchFamily="34" charset="0"/>
                <a:ea typeface="Calibri" pitchFamily="34" charset="-122"/>
                <a:cs typeface="Calibri" pitchFamily="34" charset="-120"/>
              </a:rPr>
              <a:t>The LLM decides its own next action — that's the whole definition.</a:t>
            </a:r>
            <a:endParaRPr lang="en-US" sz="1150" dirty="0"/>
          </a:p>
        </p:txBody>
      </p:sp>
      <p:sp>
        <p:nvSpPr>
          <p:cNvPr id="8" name="Shape 6"/>
          <p:cNvSpPr/>
          <p:nvPr/>
        </p:nvSpPr>
        <p:spPr>
          <a:xfrm>
            <a:off x="822960" y="2816352"/>
            <a:ext cx="402336" cy="402336"/>
          </a:xfrm>
          <a:prstGeom prst="ellipse">
            <a:avLst/>
          </a:prstGeom>
          <a:solidFill>
            <a:srgbClr val="1C1F47"/>
          </a:solidFill>
          <a:ln w="12700">
            <a:solidFill>
              <a:srgbClr val="22D3EE"/>
            </a:solidFill>
            <a:prstDash val="solid"/>
          </a:ln>
        </p:spPr>
      </p:sp>
      <p:sp>
        <p:nvSpPr>
          <p:cNvPr id="9" name="Text 7"/>
          <p:cNvSpPr/>
          <p:nvPr/>
        </p:nvSpPr>
        <p:spPr>
          <a:xfrm>
            <a:off x="822960" y="2816352"/>
            <a:ext cx="402336" cy="402336"/>
          </a:xfrm>
          <a:prstGeom prst="rect">
            <a:avLst/>
          </a:prstGeom>
          <a:noFill/>
          <a:ln/>
        </p:spPr>
        <p:txBody>
          <a:bodyPr wrap="square" lIns="0" tIns="0" rIns="0" bIns="0" rtlCol="0" anchor="ctr"/>
          <a:lstStyle/>
          <a:p>
            <a:pPr algn="ctr" indent="0" marL="0">
              <a:buNone/>
            </a:pPr>
            <a:r>
              <a:rPr lang="en-US" sz="1500" b="1" dirty="0">
                <a:solidFill>
                  <a:srgbClr val="22D3EE"/>
                </a:solidFill>
                <a:latin typeface="Cambria" pitchFamily="34" charset="0"/>
                <a:ea typeface="Cambria" pitchFamily="34" charset="-122"/>
                <a:cs typeface="Cambria" pitchFamily="34" charset="-120"/>
              </a:rPr>
              <a:t>2</a:t>
            </a:r>
            <a:endParaRPr lang="en-US" sz="1500" dirty="0"/>
          </a:p>
        </p:txBody>
      </p:sp>
      <p:sp>
        <p:nvSpPr>
          <p:cNvPr id="10" name="Text 8"/>
          <p:cNvSpPr/>
          <p:nvPr/>
        </p:nvSpPr>
        <p:spPr>
          <a:xfrm>
            <a:off x="1463040" y="2706624"/>
            <a:ext cx="950976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Memory and tools turn reasoning into capability</a:t>
            </a:r>
            <a:endParaRPr lang="en-US" sz="1550" dirty="0"/>
          </a:p>
        </p:txBody>
      </p:sp>
      <p:sp>
        <p:nvSpPr>
          <p:cNvPr id="11" name="Text 9"/>
          <p:cNvSpPr/>
          <p:nvPr/>
        </p:nvSpPr>
        <p:spPr>
          <a:xfrm>
            <a:off x="1463040" y="3054096"/>
            <a:ext cx="9509760" cy="365760"/>
          </a:xfrm>
          <a:prstGeom prst="rect">
            <a:avLst/>
          </a:prstGeom>
          <a:noFill/>
          <a:ln/>
        </p:spPr>
        <p:txBody>
          <a:bodyPr wrap="square" lIns="0" tIns="0" rIns="0" bIns="0" rtlCol="0" anchor="ctr"/>
          <a:lstStyle/>
          <a:p>
            <a:pPr indent="0" marL="0">
              <a:buNone/>
            </a:pPr>
            <a:r>
              <a:rPr lang="en-US" sz="1150" dirty="0">
                <a:solidFill>
                  <a:srgbClr val="8B90B3"/>
                </a:solidFill>
                <a:latin typeface="Calibri" pitchFamily="34" charset="0"/>
                <a:ea typeface="Calibri" pitchFamily="34" charset="-122"/>
                <a:cs typeface="Calibri" pitchFamily="34" charset="-120"/>
              </a:rPr>
              <a:t>Without them, an agent can only talk, not act.</a:t>
            </a:r>
            <a:endParaRPr lang="en-US" sz="1150" dirty="0"/>
          </a:p>
        </p:txBody>
      </p:sp>
      <p:sp>
        <p:nvSpPr>
          <p:cNvPr id="12" name="Shape 10"/>
          <p:cNvSpPr/>
          <p:nvPr/>
        </p:nvSpPr>
        <p:spPr>
          <a:xfrm>
            <a:off x="822960" y="3648456"/>
            <a:ext cx="402336" cy="402336"/>
          </a:xfrm>
          <a:prstGeom prst="ellipse">
            <a:avLst/>
          </a:prstGeom>
          <a:solidFill>
            <a:srgbClr val="1C1F47"/>
          </a:solidFill>
          <a:ln w="12700">
            <a:solidFill>
              <a:srgbClr val="22D3EE"/>
            </a:solidFill>
            <a:prstDash val="solid"/>
          </a:ln>
        </p:spPr>
      </p:sp>
      <p:sp>
        <p:nvSpPr>
          <p:cNvPr id="13" name="Text 11"/>
          <p:cNvSpPr/>
          <p:nvPr/>
        </p:nvSpPr>
        <p:spPr>
          <a:xfrm>
            <a:off x="822960" y="3648456"/>
            <a:ext cx="402336" cy="402336"/>
          </a:xfrm>
          <a:prstGeom prst="rect">
            <a:avLst/>
          </a:prstGeom>
          <a:noFill/>
          <a:ln/>
        </p:spPr>
        <p:txBody>
          <a:bodyPr wrap="square" lIns="0" tIns="0" rIns="0" bIns="0" rtlCol="0" anchor="ctr"/>
          <a:lstStyle/>
          <a:p>
            <a:pPr algn="ctr" indent="0" marL="0">
              <a:buNone/>
            </a:pPr>
            <a:r>
              <a:rPr lang="en-US" sz="1500" b="1" dirty="0">
                <a:solidFill>
                  <a:srgbClr val="22D3EE"/>
                </a:solidFill>
                <a:latin typeface="Cambria" pitchFamily="34" charset="0"/>
                <a:ea typeface="Cambria" pitchFamily="34" charset="-122"/>
                <a:cs typeface="Cambria" pitchFamily="34" charset="-120"/>
              </a:rPr>
              <a:t>3</a:t>
            </a:r>
            <a:endParaRPr lang="en-US" sz="1500" dirty="0"/>
          </a:p>
        </p:txBody>
      </p:sp>
      <p:sp>
        <p:nvSpPr>
          <p:cNvPr id="14" name="Text 12"/>
          <p:cNvSpPr/>
          <p:nvPr/>
        </p:nvSpPr>
        <p:spPr>
          <a:xfrm>
            <a:off x="1463040" y="3538728"/>
            <a:ext cx="950976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Frameworks are scaffolding, not magic</a:t>
            </a:r>
            <a:endParaRPr lang="en-US" sz="1550" dirty="0"/>
          </a:p>
        </p:txBody>
      </p:sp>
      <p:sp>
        <p:nvSpPr>
          <p:cNvPr id="15" name="Text 13"/>
          <p:cNvSpPr/>
          <p:nvPr/>
        </p:nvSpPr>
        <p:spPr>
          <a:xfrm>
            <a:off x="1463040" y="3886200"/>
            <a:ext cx="9509760" cy="365760"/>
          </a:xfrm>
          <a:prstGeom prst="rect">
            <a:avLst/>
          </a:prstGeom>
          <a:noFill/>
          <a:ln/>
        </p:spPr>
        <p:txBody>
          <a:bodyPr wrap="square" lIns="0" tIns="0" rIns="0" bIns="0" rtlCol="0" anchor="ctr"/>
          <a:lstStyle/>
          <a:p>
            <a:pPr indent="0" marL="0">
              <a:buNone/>
            </a:pPr>
            <a:r>
              <a:rPr lang="en-US" sz="1150" dirty="0">
                <a:solidFill>
                  <a:srgbClr val="8B90B3"/>
                </a:solidFill>
                <a:latin typeface="Calibri" pitchFamily="34" charset="0"/>
                <a:ea typeface="Calibri" pitchFamily="34" charset="-122"/>
                <a:cs typeface="Calibri" pitchFamily="34" charset="-120"/>
              </a:rPr>
              <a:t>Pick one based on your topology and control needs, not hype.</a:t>
            </a:r>
            <a:endParaRPr lang="en-US" sz="1150" dirty="0"/>
          </a:p>
        </p:txBody>
      </p:sp>
      <p:sp>
        <p:nvSpPr>
          <p:cNvPr id="16" name="Shape 14"/>
          <p:cNvSpPr/>
          <p:nvPr/>
        </p:nvSpPr>
        <p:spPr>
          <a:xfrm>
            <a:off x="822960" y="4480560"/>
            <a:ext cx="402336" cy="402336"/>
          </a:xfrm>
          <a:prstGeom prst="ellipse">
            <a:avLst/>
          </a:prstGeom>
          <a:solidFill>
            <a:srgbClr val="1C1F47"/>
          </a:solidFill>
          <a:ln w="12700">
            <a:solidFill>
              <a:srgbClr val="22D3EE"/>
            </a:solidFill>
            <a:prstDash val="solid"/>
          </a:ln>
        </p:spPr>
      </p:sp>
      <p:sp>
        <p:nvSpPr>
          <p:cNvPr id="17" name="Text 15"/>
          <p:cNvSpPr/>
          <p:nvPr/>
        </p:nvSpPr>
        <p:spPr>
          <a:xfrm>
            <a:off x="822960" y="4480560"/>
            <a:ext cx="402336" cy="402336"/>
          </a:xfrm>
          <a:prstGeom prst="rect">
            <a:avLst/>
          </a:prstGeom>
          <a:noFill/>
          <a:ln/>
        </p:spPr>
        <p:txBody>
          <a:bodyPr wrap="square" lIns="0" tIns="0" rIns="0" bIns="0" rtlCol="0" anchor="ctr"/>
          <a:lstStyle/>
          <a:p>
            <a:pPr algn="ctr" indent="0" marL="0">
              <a:buNone/>
            </a:pPr>
            <a:r>
              <a:rPr lang="en-US" sz="1500" b="1" dirty="0">
                <a:solidFill>
                  <a:srgbClr val="22D3EE"/>
                </a:solidFill>
                <a:latin typeface="Cambria" pitchFamily="34" charset="0"/>
                <a:ea typeface="Cambria" pitchFamily="34" charset="-122"/>
                <a:cs typeface="Cambria" pitchFamily="34" charset="-120"/>
              </a:rPr>
              <a:t>4</a:t>
            </a:r>
            <a:endParaRPr lang="en-US" sz="1500" dirty="0"/>
          </a:p>
        </p:txBody>
      </p:sp>
      <p:sp>
        <p:nvSpPr>
          <p:cNvPr id="18" name="Text 16"/>
          <p:cNvSpPr/>
          <p:nvPr/>
        </p:nvSpPr>
        <p:spPr>
          <a:xfrm>
            <a:off x="1463040" y="4370832"/>
            <a:ext cx="950976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Default to workflows; reach for agents when needed</a:t>
            </a:r>
            <a:endParaRPr lang="en-US" sz="1550" dirty="0"/>
          </a:p>
        </p:txBody>
      </p:sp>
      <p:sp>
        <p:nvSpPr>
          <p:cNvPr id="19" name="Text 17"/>
          <p:cNvSpPr/>
          <p:nvPr/>
        </p:nvSpPr>
        <p:spPr>
          <a:xfrm>
            <a:off x="1463040" y="4718304"/>
            <a:ext cx="9509760" cy="365760"/>
          </a:xfrm>
          <a:prstGeom prst="rect">
            <a:avLst/>
          </a:prstGeom>
          <a:noFill/>
          <a:ln/>
        </p:spPr>
        <p:txBody>
          <a:bodyPr wrap="square" lIns="0" tIns="0" rIns="0" bIns="0" rtlCol="0" anchor="ctr"/>
          <a:lstStyle/>
          <a:p>
            <a:pPr indent="0" marL="0">
              <a:buNone/>
            </a:pPr>
            <a:r>
              <a:rPr lang="en-US" sz="1150" dirty="0">
                <a:solidFill>
                  <a:srgbClr val="8B90B3"/>
                </a:solidFill>
                <a:latin typeface="Calibri" pitchFamily="34" charset="0"/>
                <a:ea typeface="Calibri" pitchFamily="34" charset="-122"/>
                <a:cs typeface="Calibri" pitchFamily="34" charset="-120"/>
              </a:rPr>
              <a:t>Deterministic control flow is more reliable when the path is known.</a:t>
            </a:r>
            <a:endParaRPr lang="en-US" sz="1150" dirty="0"/>
          </a:p>
        </p:txBody>
      </p:sp>
      <p:sp>
        <p:nvSpPr>
          <p:cNvPr id="20" name="Shape 18"/>
          <p:cNvSpPr/>
          <p:nvPr/>
        </p:nvSpPr>
        <p:spPr>
          <a:xfrm>
            <a:off x="822960" y="5312664"/>
            <a:ext cx="402336" cy="402336"/>
          </a:xfrm>
          <a:prstGeom prst="ellipse">
            <a:avLst/>
          </a:prstGeom>
          <a:solidFill>
            <a:srgbClr val="1C1F47"/>
          </a:solidFill>
          <a:ln w="12700">
            <a:solidFill>
              <a:srgbClr val="22D3EE"/>
            </a:solidFill>
            <a:prstDash val="solid"/>
          </a:ln>
        </p:spPr>
      </p:sp>
      <p:sp>
        <p:nvSpPr>
          <p:cNvPr id="21" name="Text 19"/>
          <p:cNvSpPr/>
          <p:nvPr/>
        </p:nvSpPr>
        <p:spPr>
          <a:xfrm>
            <a:off x="822960" y="5312664"/>
            <a:ext cx="402336" cy="402336"/>
          </a:xfrm>
          <a:prstGeom prst="rect">
            <a:avLst/>
          </a:prstGeom>
          <a:noFill/>
          <a:ln/>
        </p:spPr>
        <p:txBody>
          <a:bodyPr wrap="square" lIns="0" tIns="0" rIns="0" bIns="0" rtlCol="0" anchor="ctr"/>
          <a:lstStyle/>
          <a:p>
            <a:pPr algn="ctr" indent="0" marL="0">
              <a:buNone/>
            </a:pPr>
            <a:r>
              <a:rPr lang="en-US" sz="1500" b="1" dirty="0">
                <a:solidFill>
                  <a:srgbClr val="22D3EE"/>
                </a:solidFill>
                <a:latin typeface="Cambria" pitchFamily="34" charset="0"/>
                <a:ea typeface="Cambria" pitchFamily="34" charset="-122"/>
                <a:cs typeface="Cambria" pitchFamily="34" charset="-120"/>
              </a:rPr>
              <a:t>5</a:t>
            </a:r>
            <a:endParaRPr lang="en-US" sz="1500" dirty="0"/>
          </a:p>
        </p:txBody>
      </p:sp>
      <p:sp>
        <p:nvSpPr>
          <p:cNvPr id="22" name="Text 20"/>
          <p:cNvSpPr/>
          <p:nvPr/>
        </p:nvSpPr>
        <p:spPr>
          <a:xfrm>
            <a:off x="1463040" y="5202936"/>
            <a:ext cx="950976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Governance isn't optional at production scale</a:t>
            </a:r>
            <a:endParaRPr lang="en-US" sz="1550" dirty="0"/>
          </a:p>
        </p:txBody>
      </p:sp>
      <p:sp>
        <p:nvSpPr>
          <p:cNvPr id="23" name="Text 21"/>
          <p:cNvSpPr/>
          <p:nvPr/>
        </p:nvSpPr>
        <p:spPr>
          <a:xfrm>
            <a:off x="1463040" y="5550408"/>
            <a:ext cx="9509760" cy="365760"/>
          </a:xfrm>
          <a:prstGeom prst="rect">
            <a:avLst/>
          </a:prstGeom>
          <a:noFill/>
          <a:ln/>
        </p:spPr>
        <p:txBody>
          <a:bodyPr wrap="square" lIns="0" tIns="0" rIns="0" bIns="0" rtlCol="0" anchor="ctr"/>
          <a:lstStyle/>
          <a:p>
            <a:pPr indent="0" marL="0">
              <a:buNone/>
            </a:pPr>
            <a:r>
              <a:rPr lang="en-US" sz="1150" dirty="0">
                <a:solidFill>
                  <a:srgbClr val="8B90B3"/>
                </a:solidFill>
                <a:latin typeface="Calibri" pitchFamily="34" charset="0"/>
                <a:ea typeface="Calibri" pitchFamily="34" charset="-122"/>
                <a:cs typeface="Calibri" pitchFamily="34" charset="-120"/>
              </a:rPr>
              <a:t>Guardrails, approval gates, and observability are part of the architecture.</a:t>
            </a:r>
            <a:endParaRPr lang="en-US" sz="1150" dirty="0"/>
          </a:p>
        </p:txBody>
      </p:sp>
      <p:sp>
        <p:nvSpPr>
          <p:cNvPr id="24" name="Text 22"/>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5A5E8C"/>
                </a:solidFill>
                <a:latin typeface="Calibri" pitchFamily="34" charset="0"/>
                <a:ea typeface="Calibri" pitchFamily="34" charset="-122"/>
                <a:cs typeface="Calibri" pitchFamily="34" charset="-120"/>
              </a:rPr>
              <a:t>31</a:t>
            </a:r>
            <a:endParaRPr lang="en-US" sz="1000" dirty="0"/>
          </a:p>
        </p:txBody>
      </p:sp>
      <p:sp>
        <p:nvSpPr>
          <p:cNvPr id="25" name="Text 23"/>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4A4E7A"/>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2142E"/>
        </a:solidFill>
      </p:bgPr>
    </p:bg>
    <p:spTree>
      <p:nvGrpSpPr>
        <p:cNvPr id="1" name=""/>
        <p:cNvGrpSpPr/>
        <p:nvPr/>
      </p:nvGrpSpPr>
      <p:grpSpPr>
        <a:xfrm>
          <a:off x="0" y="0"/>
          <a:ext cx="0" cy="0"/>
          <a:chOff x="0" y="0"/>
          <a:chExt cx="0" cy="0"/>
        </a:xfrm>
      </p:grpSpPr>
      <p:sp>
        <p:nvSpPr>
          <p:cNvPr id="2" name="Shape 0"/>
          <p:cNvSpPr/>
          <p:nvPr/>
        </p:nvSpPr>
        <p:spPr>
          <a:xfrm flipV="1">
            <a:off x="1828800" y="822960"/>
            <a:ext cx="1188720" cy="457200"/>
          </a:xfrm>
          <a:prstGeom prst="line">
            <a:avLst/>
          </a:prstGeom>
          <a:noFill/>
          <a:ln w="15875">
            <a:solidFill>
              <a:srgbClr val="2A2D5C"/>
            </a:solidFill>
            <a:prstDash val="solid"/>
          </a:ln>
        </p:spPr>
      </p:sp>
      <p:sp>
        <p:nvSpPr>
          <p:cNvPr id="3" name="Shape 1"/>
          <p:cNvSpPr/>
          <p:nvPr/>
        </p:nvSpPr>
        <p:spPr>
          <a:xfrm flipV="1">
            <a:off x="1188720" y="1280160"/>
            <a:ext cx="640080" cy="822960"/>
          </a:xfrm>
          <a:prstGeom prst="line">
            <a:avLst/>
          </a:prstGeom>
          <a:noFill/>
          <a:ln w="15875">
            <a:solidFill>
              <a:srgbClr val="2A2D5C"/>
            </a:solidFill>
            <a:prstDash val="solid"/>
          </a:ln>
        </p:spPr>
      </p:sp>
      <p:sp>
        <p:nvSpPr>
          <p:cNvPr id="4" name="Shape 2"/>
          <p:cNvSpPr/>
          <p:nvPr/>
        </p:nvSpPr>
        <p:spPr>
          <a:xfrm>
            <a:off x="10058400" y="5120640"/>
            <a:ext cx="1097280" cy="548640"/>
          </a:xfrm>
          <a:prstGeom prst="line">
            <a:avLst/>
          </a:prstGeom>
          <a:noFill/>
          <a:ln w="15875">
            <a:solidFill>
              <a:srgbClr val="2A2D5C"/>
            </a:solidFill>
            <a:prstDash val="solid"/>
          </a:ln>
        </p:spPr>
      </p:sp>
      <p:sp>
        <p:nvSpPr>
          <p:cNvPr id="5" name="Shape 3"/>
          <p:cNvSpPr/>
          <p:nvPr/>
        </p:nvSpPr>
        <p:spPr>
          <a:xfrm flipV="1">
            <a:off x="9509760" y="5669280"/>
            <a:ext cx="1645920" cy="274320"/>
          </a:xfrm>
          <a:prstGeom prst="line">
            <a:avLst/>
          </a:prstGeom>
          <a:noFill/>
          <a:ln w="15875">
            <a:solidFill>
              <a:srgbClr val="2A2D5C"/>
            </a:solidFill>
            <a:prstDash val="solid"/>
          </a:ln>
        </p:spPr>
      </p:sp>
      <p:sp>
        <p:nvSpPr>
          <p:cNvPr id="6" name="Shape 4"/>
          <p:cNvSpPr/>
          <p:nvPr/>
        </p:nvSpPr>
        <p:spPr>
          <a:xfrm flipV="1">
            <a:off x="9509760" y="5120640"/>
            <a:ext cx="548640" cy="822960"/>
          </a:xfrm>
          <a:prstGeom prst="line">
            <a:avLst/>
          </a:prstGeom>
          <a:noFill/>
          <a:ln w="15875">
            <a:solidFill>
              <a:srgbClr val="2A2D5C"/>
            </a:solidFill>
            <a:prstDash val="solid"/>
          </a:ln>
        </p:spPr>
      </p:sp>
      <p:sp>
        <p:nvSpPr>
          <p:cNvPr id="7" name="Shape 5"/>
          <p:cNvSpPr/>
          <p:nvPr/>
        </p:nvSpPr>
        <p:spPr>
          <a:xfrm>
            <a:off x="1773936" y="1225296"/>
            <a:ext cx="109728" cy="109728"/>
          </a:xfrm>
          <a:prstGeom prst="ellipse">
            <a:avLst/>
          </a:prstGeom>
          <a:solidFill>
            <a:srgbClr val="22D3EE"/>
          </a:solidFill>
          <a:ln/>
        </p:spPr>
      </p:sp>
      <p:sp>
        <p:nvSpPr>
          <p:cNvPr id="8" name="Shape 6"/>
          <p:cNvSpPr/>
          <p:nvPr/>
        </p:nvSpPr>
        <p:spPr>
          <a:xfrm>
            <a:off x="2962656" y="768096"/>
            <a:ext cx="109728" cy="109728"/>
          </a:xfrm>
          <a:prstGeom prst="ellipse">
            <a:avLst/>
          </a:prstGeom>
          <a:solidFill>
            <a:srgbClr val="4F5BD5"/>
          </a:solidFill>
          <a:ln/>
        </p:spPr>
      </p:sp>
      <p:sp>
        <p:nvSpPr>
          <p:cNvPr id="9" name="Shape 7"/>
          <p:cNvSpPr/>
          <p:nvPr/>
        </p:nvSpPr>
        <p:spPr>
          <a:xfrm>
            <a:off x="1133856" y="2048256"/>
            <a:ext cx="109728" cy="109728"/>
          </a:xfrm>
          <a:prstGeom prst="ellipse">
            <a:avLst/>
          </a:prstGeom>
          <a:solidFill>
            <a:srgbClr val="22D3EE"/>
          </a:solidFill>
          <a:ln/>
        </p:spPr>
      </p:sp>
      <p:sp>
        <p:nvSpPr>
          <p:cNvPr id="10" name="Shape 8"/>
          <p:cNvSpPr/>
          <p:nvPr/>
        </p:nvSpPr>
        <p:spPr>
          <a:xfrm>
            <a:off x="10003536" y="5065776"/>
            <a:ext cx="109728" cy="109728"/>
          </a:xfrm>
          <a:prstGeom prst="ellipse">
            <a:avLst/>
          </a:prstGeom>
          <a:solidFill>
            <a:srgbClr val="4F5BD5"/>
          </a:solidFill>
          <a:ln/>
        </p:spPr>
      </p:sp>
      <p:sp>
        <p:nvSpPr>
          <p:cNvPr id="11" name="Shape 9"/>
          <p:cNvSpPr/>
          <p:nvPr/>
        </p:nvSpPr>
        <p:spPr>
          <a:xfrm>
            <a:off x="11100816" y="5614416"/>
            <a:ext cx="109728" cy="109728"/>
          </a:xfrm>
          <a:prstGeom prst="ellipse">
            <a:avLst/>
          </a:prstGeom>
          <a:solidFill>
            <a:srgbClr val="22D3EE"/>
          </a:solidFill>
          <a:ln/>
        </p:spPr>
      </p:sp>
      <p:sp>
        <p:nvSpPr>
          <p:cNvPr id="12" name="Shape 10"/>
          <p:cNvSpPr/>
          <p:nvPr/>
        </p:nvSpPr>
        <p:spPr>
          <a:xfrm>
            <a:off x="9454896" y="5888736"/>
            <a:ext cx="109728" cy="109728"/>
          </a:xfrm>
          <a:prstGeom prst="ellipse">
            <a:avLst/>
          </a:prstGeom>
          <a:solidFill>
            <a:srgbClr val="4F5BD5"/>
          </a:solidFill>
          <a:ln/>
        </p:spPr>
      </p:sp>
      <p:sp>
        <p:nvSpPr>
          <p:cNvPr id="13" name="Text 11"/>
          <p:cNvSpPr/>
          <p:nvPr/>
        </p:nvSpPr>
        <p:spPr>
          <a:xfrm>
            <a:off x="0" y="2651760"/>
            <a:ext cx="12191695" cy="100584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14" name="Text 12"/>
          <p:cNvSpPr/>
          <p:nvPr/>
        </p:nvSpPr>
        <p:spPr>
          <a:xfrm>
            <a:off x="0" y="3611880"/>
            <a:ext cx="12191695" cy="457200"/>
          </a:xfrm>
          <a:prstGeom prst="rect">
            <a:avLst/>
          </a:prstGeom>
          <a:noFill/>
          <a:ln/>
        </p:spPr>
        <p:txBody>
          <a:bodyPr wrap="square" lIns="0" tIns="0" rIns="0" bIns="0" rtlCol="0" anchor="ctr"/>
          <a:lstStyle/>
          <a:p>
            <a:pPr algn="ctr" indent="0" marL="0">
              <a:buNone/>
            </a:pPr>
            <a:r>
              <a:rPr lang="en-US" sz="1700" dirty="0">
                <a:solidFill>
                  <a:srgbClr val="22D3EE"/>
                </a:solidFill>
                <a:latin typeface="Calibri" pitchFamily="34" charset="0"/>
                <a:ea typeface="Calibri" pitchFamily="34" charset="-122"/>
                <a:cs typeface="Calibri" pitchFamily="34" charset="-120"/>
              </a:rPr>
              <a:t>Questions &amp; Discussion</a:t>
            </a:r>
            <a:endParaRPr lang="en-US" sz="1700" dirty="0"/>
          </a:p>
        </p:txBody>
      </p:sp>
      <p:sp>
        <p:nvSpPr>
          <p:cNvPr id="15" name="Text 13"/>
          <p:cNvSpPr/>
          <p:nvPr/>
        </p:nvSpPr>
        <p:spPr>
          <a:xfrm>
            <a:off x="11551615" y="6400800"/>
            <a:ext cx="365760" cy="274320"/>
          </a:xfrm>
          <a:prstGeom prst="rect">
            <a:avLst/>
          </a:prstGeom>
          <a:noFill/>
          <a:ln/>
        </p:spPr>
        <p:txBody>
          <a:bodyPr wrap="square" lIns="0" tIns="0" rIns="0" bIns="0" rtlCol="0" anchor="ctr"/>
          <a:lstStyle/>
          <a:p>
            <a:pPr algn="r" indent="0" marL="0">
              <a:buNone/>
            </a:pPr>
            <a:r>
              <a:rPr lang="en-US" sz="1000" dirty="0">
                <a:solidFill>
                  <a:srgbClr val="5A5E8C"/>
                </a:solidFill>
                <a:latin typeface="Calibri" pitchFamily="34" charset="0"/>
                <a:ea typeface="Calibri" pitchFamily="34" charset="-122"/>
                <a:cs typeface="Calibri" pitchFamily="34" charset="-120"/>
              </a:rPr>
              <a:t>32</a:t>
            </a:r>
            <a:endParaRPr lang="en-US" sz="1000" dirty="0"/>
          </a:p>
        </p:txBody>
      </p:sp>
      <p:sp>
        <p:nvSpPr>
          <p:cNvPr id="16" name="Text 14"/>
          <p:cNvSpPr/>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4A4E7A"/>
                </a:solidFill>
                <a:latin typeface="Calibri" pitchFamily="34" charset="0"/>
                <a:ea typeface="Calibri" pitchFamily="34" charset="-122"/>
                <a:cs typeface="Calibri" pitchFamily="34" charset="-120"/>
              </a:rPr>
              <a:t>AI AGENTS &amp; ORCHESTRATION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Agents &amp; Orchestration</dc:title>
  <dc:subject>PptxGenJS Presentation</dc:subject>
  <dc:creator>AI Agents &amp; Orchestration</dc:creator>
  <cp:lastModifiedBy>AI Agents &amp; Orchestration</cp:lastModifiedBy>
  <cp:revision>1</cp:revision>
  <dcterms:created xsi:type="dcterms:W3CDTF">2026-07-06T06:25:25Z</dcterms:created>
  <dcterms:modified xsi:type="dcterms:W3CDTF">2026-07-06T06:25:25Z</dcterms:modified>
</cp:coreProperties>
</file>