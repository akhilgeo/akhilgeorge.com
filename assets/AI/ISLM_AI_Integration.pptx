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A6ED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743200" cy="2743200"/>
          </a:xfrm>
          <a:prstGeom prst="ellipse">
            <a:avLst/>
          </a:prstGeom>
          <a:solidFill>
            <a:srgbClr val="E9730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 •  GEN AI ORCHESTRATION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AI into SAP S/4HANA with ISLM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walkthrough of Intelligent Scenario Lifecycle Management: creating, operating, 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 Generative AI orchestration scenario natively inside SAP S/4HANA.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280160" cy="0"/>
          </a:xfrm>
          <a:prstGeom prst="line">
            <a:avLst/>
          </a:prstGeom>
          <a:noFill/>
          <a:ln w="38100">
            <a:solidFill>
              <a:srgbClr val="E973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Lifecycle Management (ISLM)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5727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Orchestration Modules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01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ISLM, and the 7 orchestration capabilities it governs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7066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return-policy summarization use case and its business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5112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model, orchestration flow, prompts &amp; grounding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deploy, and activate the scenario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47914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120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the scenario via the ABAP AI SDK, incl. translation &amp; prompt-injection defense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63040" y="5596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925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experimentation to enterprise-ready GenAI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Experimentation to Governed GenAI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Generative AI in SAP S/4HANA needs more than LLM access — it needs a structured, scalable, governed framework.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now enables these Gen AI capabilities, helping customers and partners move from experimentation to productive usage.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integrates with the Orchestration Service on SAP AI Core: document grounding, content filtering, and data masking.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translation and a Prompt Shield filter defend against prompt injection attacks.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API enhancements improve grounding quality with larger chunk sizes and application-specific document chunking.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Modules Supported by ISLM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84708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information by masking or removing confidential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0" y="184708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sanitizes incoming data before it reaches the LLM.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4015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filters LLM-generated output to ensure compliance and relevance.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40880" y="340156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model outputs with enterprise data or domain-specific knowledge.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Translation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495604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LLM input into the language the model performs best 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66344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Translation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40880" y="495604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LLM responses into the user's preferred language.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21792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217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6172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Shield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234440" y="651052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prevents prompt injection attacks before they reach the LLM.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Return Policy Summarization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fictional sports brands — Company Alpha and Company Beta — maintain different return policies with varying rules, timelines, and exceptions.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Scenario automatically extracts and summarizes key information: return criteria, validity timelines, refund processes.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removes the need for support teams to read lengthy documents, reducing ambiguity and speeding up query responses.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32A4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Support Queries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1488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item still eligible for return?”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9260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customized products refundable?”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70332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7033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will the refund take?”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ISLM: policy docs are uploaded for grounding → queries flow through orchestration → the LLM extracts clauses and generates structured responses.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 w="9525">
            <a:solidFill>
              <a:srgbClr val="8FA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Effort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manually reading lengthy policy documents for every query.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F5F8FC"/>
          </a:solidFill>
          <a:ln w="9525">
            <a:solidFill>
              <a:srgbClr val="8FA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Time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0632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get instant, structured answers to policy questions.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 w="9525">
            <a:solidFill>
              <a:srgbClr val="8FA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Interpretation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answered against the same governed policy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64592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F5F8FC"/>
          </a:solidFill>
          <a:ln w="9525">
            <a:solidFill>
              <a:srgbClr val="8FA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Decisions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is embedded directly within business processes.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Create Intelligent Scenarios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model, orchestration execution flow, prompt templates, and grounding documents in the Fiori app.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Intelligent Scenarios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browser and navigate to the SAP Fiori Launchpad (system already logged in).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“Analytics” tab, launch the “Intelligent Scenarios” application.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Side-by-Side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Create button.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Side-by-Side as the scenario deployment type.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IntelligentScenario/02.png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Scenario 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Settings tab, select Generative AI as the Scenario Type.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unique Scenario name in the format Z_POL_DOC_SUMM_##, where ## is your attendee ID.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IntelligentScenario/03.jpg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description: “Summarize Return Policy Document”.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Usage 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Stateless – Customer as the Usage Type.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uses a shared connectivity model: one connection between ABAP and SAP Generative AI Hub, reused across use cases — simplifying admin and governance.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connectivity is already set up; no action needed here.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Generative AI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Add Model and maintain the required details.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model name: Z_POL_DOC_SUMMARIZE_MOD.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description: “Model with orchestration modules”.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Executable 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appropriate Executable ID from the dropdown — in this case, azure-openai.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IntelligentScenario/08.jpg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corresponding model from the dropdown — in this exercise, gpt-5-mini.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IntelligentScenario/09.jpg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(Optional) Choose a Model 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is selected by default; leave empty to always use the latest version.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IntelligentScenario/010.jpg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Add to confirm the model configuration.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IntelligentScenario/011.jpg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Execution Flow Template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Execution Flow Template on the model.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orchestration Execution Flow JSON (from config_json.txt) to integrate the orchestration service — use Upload or paste the JSON directly.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Uploaded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valid JSON is uploaded, all orchestration modules display with their parameters and values in display mode.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Grounding — Data Repository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Grounding subsection, add the required data repository type: vector.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grounding document addition for the scenario.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IntelligentScenario/019.jpg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Grounding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Search Configuration value to restrict grounding module output during inference.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retrieves only relevant data instead of the entire uploaded document set.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IntelligentScenario/021.jpg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Translation &amp; Prompt Shield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Translation can translate prompts and grounding output into a target language for better model performance — not needed here since prompts are already in English.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Shield is already set to true per the JSON configuration file.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Data Masking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Masking module anonymizes or pseudonymizes data before it is sent to the LLM.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filters defined in the Execution Flow Template JSON are populated and displayed in the table.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Filtering &amp; Translation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 removes harmful or hateful content generated by the LLM.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Translation displays the LLM response in the user's logged-in language, where supported.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Grounding Template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20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Grounding Template named GROUNDING_TEMPLATE with description “Grounding query” and template text {ISLM_GROUNDING_QUERY}.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Display template information to Yes — the template supports dynamic parameters, resolved at runtime.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4652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IntelligentScenario/9.jpg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73836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IntelligentScenario/10.jpg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System Prompt Template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prompt template for the system prompt.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SYSTEM_PROMPT — it sets the overall context, behavior, and persona guiding the model throughout the interaction.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IntelligentScenario/11.jpg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System Prompt 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22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“Explain the role and responsibility for the LLM”.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text: “You are {ISLM_ROLE}. Your responsibility is to {ISLM_RESPONSIBILITY}.”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parameters: ISLM_ROLE = “An helpful assistant”; ISLM_RESPONSIBILITY = “Assist the user with their queries.”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User Prompt Template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23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SUMMARIZE_RETURN_POLICY, description: “Use LLM to summarize the return policy document to populate standard JSON”.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instructs the LLM to populate a structured return-policy JSON schema from the grounded document content ({ISLM_GROUNDING_OUTPUT}).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User Prompt must reference {ISLM_GROUNDING_OUTPUT} when grounding is configured.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4652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IntelligentScenario/13.jpg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73836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IntelligentScenario/14.jpg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the Draft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24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draft configuration of the Intelligent Scenario.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Scenario Documents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25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Back to navigate to the Scenario documents section.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Grounding Documents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grounding documents to the Intelligent Scenario.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Upload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27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Upload button to begin adding files.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Grounding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28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return-policy files from the Grounding files folder on the desktop.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IntelligentScenario/18.jpg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Documents &amp; Set Language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29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document names and choose English as the language for all uploaded files.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IntelligentScenario/015.jpg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30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and enter the package as local object $TMP.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IntelligentScenario/020.jpg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Publication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OK — the Intelligent Scenario is created successfully.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IntelligentScenario/21.jpg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Operate Intelligent Scenario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Syncing, deploying, and activating the scenario in Intelligent Scenario Management before it can serve inference requests.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Scenario in Management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SAP Fiori Launchpad and, under “Analytics,” open the “Intelligent Scenario Management” app.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scenario you created in Part 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4652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IntelligentScenarioManage/018.jpg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73836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IntelligentScenarioManage/1.jpg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the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completes successfully with default training, since Gen AI is a pretrained model and reuse connectivity is already maintained.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and Monitor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Deploy, then choose Deploy and Monitor.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IntelligentScenarioManage/3.jpg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Scheduled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is scheduled for processing.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Completes Immediately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is a Shared deployment, it deploys immediately.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the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Activate, then choose Activate For All.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Scenario is now active and ready for prompt execution.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IntelligentScenarioManage/6.jpg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Execution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the Intelligent Scenario from ABAP using the ABAP AI SDK — including multilingual output and prompt-injection defense testing.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Reference Report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existing report program Z_POL_DOC_SUMMARY to a new program Z_POL_DOC_SUMMARY_##, where ## is your attendee number.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4652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Inference/1.jpg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73836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Inference/2.jpg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Copy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and press Copy.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Inference/3.jpg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the New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newly copied program and press Enter.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4652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Inference/4.jpg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37160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73836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Inference/5.jpg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Change Mode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Change to edit the program.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Program at Your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Intelligent Scenario name to the one you created, Z_POL_DOC_SUMM_##, then Activate.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the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program Z_POL_DOC_SUMMARY_##.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Inference/8.jpg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Base Case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Company Name = Alpha and press Execute.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Inference/9.jpg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executes with full orchestration capabilities — grounding, masking, filtering, and prompt templating all applied.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Inference/10.jpg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to Test Output Translation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output translation, log in to the system with the DE (German) language.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Inference/11.jpg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Parallel Session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option to open a new session, avoiding interruption to other sessions.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Program via SE38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transaction SE38, enter the program Z_POL_DOC_SUMMARY_##, and press F8 (Execute).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Inference/13.jpg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for German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company name = Alpha and press F8 / Execute.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Translated to German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translation module returns the response displayed in German (DE).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Inference/15.jpg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Prompt Injection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company name (Alpha), select the Prompt Injection option, then press F8 / Execute.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Shield Blocks the Attack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results in a runtime error — the LLM / Prompt Shield detects the injection attempt.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the Application Log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logged in SLG1. Enter Objekt = ISLM, Unterobjekt = *, and Ext. Identif. = your scenario name (Z_POL_DOC_SUMM_##).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Inference/18.jpg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Detected Attack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logged error to see the full “prompt attack detected” details.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E4ECF5"/>
          </a:solidFill>
          <a:ln w="19050">
            <a:solidFill>
              <a:srgbClr val="8FA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Inference/19.jpg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—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Return-Policy Summarization Report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of the Intelligent Scenario is created via the ABAP AI SDK.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84094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2694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2422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9854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query (company name from the selection screen) is added.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8149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6749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3909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returns the full matching policy document (Max Document Count = 1).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12203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0803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0531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7963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summarization prompt template is added, with the company-name parameter filled 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7625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4858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4586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42018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orchestration payload (grounding, masking, filtering, prompts, translation) is sent — the JSON response is displayed in the logged-in language.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132A4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4048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logging in with English returns the JSON summary in English; logging in with German returns it translated to German, via the output translation module.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—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Prompt-Injection Test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scenario instance and grounding query flow are used.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84094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2694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2422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9854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prompt's ISLM_RESPONSIBILITY parameter is overridden with malicious instructions (ignore the query, push a fake support URL).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8149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6749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3909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(unchanged) user prompt to summarize the return policy is added.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12203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0803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0531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7963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orchestration payload is sent to the orchestration service.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7625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ED1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4858" y="1828800"/>
            <a:ext cx="2035454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5875">
            <a:solidFill>
              <a:srgbClr val="0A6E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4586" y="1901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42018" y="2240280"/>
            <a:ext cx="17611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Prompt Shield = true, the attack is detected and the call is stopped before reaching the LLM — raising a runtime exception.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132A4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4048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Prompt Shield were false, the LLM would follow the injected instructions and push the malicious URL to the user. Best practice: avoid dynamic parameters in system prompts, and keep Prompt Shield enabled wherever this risk exists.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0A6ED1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Experimentation to Operational Reality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delivers real enterprise value when embedded directly into business processes with the right governance, scalability, and control.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provides that foundation: structured creation, orchestration, deployment, and lifecycle management of AI scenarios within SAP S/4HANA.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Grounding, Content Filtering, Data Masking, multilingual support, reusable connectivity, and expanded model support turn GenAI from experiment into operational reality.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 and take your Generative AI innovation to the next level with ISLM.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2026-07-16T07:07:05Z</dcterms:created>
  <dcterms:modified xsi:type="dcterms:W3CDTF">2026-07-16T07:07:05Z</dcterms:modified>
</cp:coreProperties>
</file>