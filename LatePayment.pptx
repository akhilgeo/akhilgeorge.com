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578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Late Payment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1645920"/>
            <a:ext cx="9144000" cy="347472"/>
          </a:xfrm>
          <a:prstGeom prst="rect">
            <a:avLst/>
          </a:prstGeom>
          <a:solidFill>
            <a:srgbClr val="F0AB00"/>
          </a:solidFill>
          <a:ln w="12700">
            <a:solidFill>
              <a:srgbClr val="F0A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73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AI-Driven Collections Management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212848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0160" y="2395728"/>
            <a:ext cx="822960" cy="822960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487168"/>
            <a:ext cx="603504" cy="603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Collections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76732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invoices before they're overdue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7832" y="2212848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96512" y="2395728"/>
            <a:ext cx="822960" cy="822960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487168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9272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Effort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64992" y="376732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invoices most likely to go late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44184" y="2212848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12864" y="2395728"/>
            <a:ext cx="822960" cy="822960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2487168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35624" y="3337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Clarity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81344" y="376732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DSO and working capital forecasting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Powered Late Payment Risk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Business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356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0817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which invoices will become overdue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2011680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09397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06654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collections — action taken only after delays occur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11480" y="2670048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75234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27249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prioritization of thousands of open receivables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11480" y="3328416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10712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24128" y="33832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cash flow and working capital impacts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11480" y="3986784"/>
            <a:ext cx="4160520" cy="548640"/>
          </a:xfrm>
          <a:prstGeom prst="roundRect">
            <a:avLst>
              <a:gd name="adj" fmla="val 10000"/>
            </a:avLst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6908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4128" y="40416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collection effort and bad debt exposure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846320" y="8686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Scenario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4846320" y="1325880"/>
            <a:ext cx="3886200" cy="1234440"/>
          </a:xfrm>
          <a:prstGeom prst="roundRect">
            <a:avLst>
              <a:gd name="adj" fmla="val 7407"/>
            </a:avLst>
          </a:prstGeom>
          <a:solidFill>
            <a:srgbClr val="E8F4FD"/>
          </a:solidFill>
          <a:ln w="12700">
            <a:solidFill>
              <a:srgbClr val="B3D7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4983480" y="14264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FIN_COL_RSK_LTE_PMNT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983480" y="176479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Scenario for Risk of Late Payment — a pre-delivered SAP Business AI capability that learns from historical payment behavior and predicts invoice delinquency.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846320" y="2724912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0F6FF"/>
          </a:solidFill>
          <a:ln w="12700">
            <a:solidFill>
              <a:srgbClr val="C5DFF8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798064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27797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historical payment behavior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846320" y="3227832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0F6FF"/>
          </a:solidFill>
          <a:ln w="12700">
            <a:solidFill>
              <a:srgbClr val="C5DFF8"/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300984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94960" y="3282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evaluates open receivables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846320" y="3730752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0F6FF"/>
          </a:solidFill>
          <a:ln w="12700">
            <a:solidFill>
              <a:srgbClr val="C5DFF8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803904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94960" y="37856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high-probability late payments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4846320" y="4233672"/>
            <a:ext cx="3886200" cy="475488"/>
          </a:xfrm>
          <a:prstGeom prst="roundRect">
            <a:avLst>
              <a:gd name="adj" fmla="val 11538"/>
            </a:avLst>
          </a:prstGeom>
          <a:solidFill>
            <a:srgbClr val="F0F6FF"/>
          </a:solidFill>
          <a:ln w="12700">
            <a:solidFill>
              <a:srgbClr val="C5DFF8"/>
            </a:solidFill>
            <a:prstDash val="solid"/>
          </a:ln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4306824"/>
            <a:ext cx="310896" cy="31089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394960" y="4288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prioritized collector worklists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411480" y="4681728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F0AB00"/>
          </a:solidFill>
          <a:ln w="12700">
            <a:solidFill>
              <a:srgbClr val="F0AB00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502920" y="47091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Outcome: Move from REACTIVE to PROACTIVE collections.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Proposed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66344" y="1005840"/>
            <a:ext cx="1481328" cy="2606040"/>
          </a:xfrm>
          <a:prstGeom prst="roundRect">
            <a:avLst>
              <a:gd name="adj" fmla="val 6173"/>
            </a:avLst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70432"/>
            <a:ext cx="585216" cy="5852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243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" y="18653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9224" y="2468880"/>
            <a:ext cx="111556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" y="254203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invoices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27632" y="1060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2171700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148840" y="1005840"/>
            <a:ext cx="1481328" cy="2606040"/>
          </a:xfrm>
          <a:prstGeom prst="roundRect">
            <a:avLst>
              <a:gd name="adj" fmla="val 6173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96896" y="1170432"/>
            <a:ext cx="585216" cy="5852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124358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03704" y="18653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ISLM Framework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31720" y="2468880"/>
            <a:ext cx="111556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221992" y="254203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lifecycle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deployment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310128" y="1060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171700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31336" y="1005840"/>
            <a:ext cx="1481328" cy="2606040"/>
          </a:xfrm>
          <a:prstGeom prst="roundRect">
            <a:avLst>
              <a:gd name="adj" fmla="val 6173"/>
            </a:avLst>
          </a:prstGeom>
          <a:solidFill>
            <a:srgbClr val="007DB8"/>
          </a:solidFill>
          <a:ln w="12700">
            <a:solidFill>
              <a:srgbClr val="007DB8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279392" y="1170432"/>
            <a:ext cx="585216" cy="5852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4" y="124358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86200" y="18653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AI SDK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014216" y="2468880"/>
            <a:ext cx="111556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904488" y="254203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consumption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4992624" y="1060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171700"/>
            <a:ext cx="164592" cy="1645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513832" y="1005840"/>
            <a:ext cx="1481328" cy="2606040"/>
          </a:xfrm>
          <a:prstGeom prst="roundRect">
            <a:avLst>
              <a:gd name="adj" fmla="val 6173"/>
            </a:avLst>
          </a:prstGeom>
          <a:solidFill>
            <a:srgbClr val="F0AB00"/>
          </a:solidFill>
          <a:ln w="12700">
            <a:solidFill>
              <a:srgbClr val="F0AB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961888" y="1170432"/>
            <a:ext cx="585216" cy="5852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243584"/>
            <a:ext cx="438912" cy="4389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568696" y="18653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Hub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696712" y="2468880"/>
            <a:ext cx="111556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586984" y="254203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access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6675120" y="1060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171700"/>
            <a:ext cx="164592" cy="1645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196328" y="1005840"/>
            <a:ext cx="1481328" cy="2606040"/>
          </a:xfrm>
          <a:prstGeom prst="roundRect">
            <a:avLst>
              <a:gd name="adj" fmla="val 6173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644384" y="1170432"/>
            <a:ext cx="585216" cy="5852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536" y="1243584"/>
            <a:ext cx="438912" cy="43891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7251192" y="18653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7379208" y="2468880"/>
            <a:ext cx="111556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269480" y="254203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Receivables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Rules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Worklists</a:t>
            </a:r>
            <a:endParaRPr lang="en-US" sz="950" dirty="0"/>
          </a:p>
        </p:txBody>
      </p:sp>
      <p:sp>
        <p:nvSpPr>
          <p:cNvPr id="42" name="Text 31"/>
          <p:cNvSpPr/>
          <p:nvPr/>
        </p:nvSpPr>
        <p:spPr>
          <a:xfrm>
            <a:off x="8357616" y="1060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411480" y="3767328"/>
            <a:ext cx="8321040" cy="1188720"/>
          </a:xfrm>
          <a:prstGeom prst="roundRect">
            <a:avLst>
              <a:gd name="adj" fmla="val 7692"/>
            </a:avLst>
          </a:prstGeom>
          <a:solidFill>
            <a:srgbClr val="F0F6FF"/>
          </a:solidFill>
          <a:ln w="12700">
            <a:solidFill>
              <a:srgbClr val="C5DFF8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 — Generative AI Layer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594360" y="413308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collection email drafts  ·  Collector action recommendations  ·  Customer payment summaries  ·  Natural-language explanations of risk drivers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Customer Benefits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2633472" cy="411480"/>
          </a:xfrm>
          <a:prstGeom prst="roundRect">
            <a:avLst>
              <a:gd name="adj" fmla="val 22222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2633472" cy="13716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9418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923544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Cash Flow Predictability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invoices before they become overdue and take preventive action early.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9544" y="8686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9544" y="868680"/>
            <a:ext cx="2633472" cy="411480"/>
          </a:xfrm>
          <a:prstGeom prst="roundRect">
            <a:avLst>
              <a:gd name="adj" fmla="val 22222"/>
            </a:avLst>
          </a:prstGeom>
          <a:solidFill>
            <a:srgbClr val="007DB8"/>
          </a:solidFill>
          <a:ln w="12700">
            <a:solidFill>
              <a:srgbClr val="007DB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9544" y="1143000"/>
            <a:ext cx="2633472" cy="137160"/>
          </a:xfrm>
          <a:prstGeom prst="rect">
            <a:avLst/>
          </a:prstGeom>
          <a:solidFill>
            <a:srgbClr val="007DB8"/>
          </a:solidFill>
          <a:ln w="12700">
            <a:solidFill>
              <a:srgbClr val="007DB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9418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923544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Collection Effectiveness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346704" y="1371600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focus on invoices most likely to go late, improving collection success rates.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07608" y="8686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07608" y="868680"/>
            <a:ext cx="2633472" cy="411480"/>
          </a:xfrm>
          <a:prstGeom prst="roundRect">
            <a:avLst>
              <a:gd name="adj" fmla="val 22222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07608" y="1143000"/>
            <a:ext cx="2633472" cy="13716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9418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923544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Collection Costs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44768" y="1371600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workloads reduce manual review effort and improve operational efficiency significantly.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11480" y="29443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11480" y="2944368"/>
            <a:ext cx="2633472" cy="411480"/>
          </a:xfrm>
          <a:prstGeom prst="roundRect">
            <a:avLst>
              <a:gd name="adj" fmla="val 22222"/>
            </a:avLst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11480" y="3218688"/>
            <a:ext cx="2633472" cy="13716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01752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2999232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Embedded SAP AI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344728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analytics platforms needed. SAP-delivered model embedded within governed SAP processes.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09544" y="29443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9544" y="2944368"/>
            <a:ext cx="2633472" cy="411480"/>
          </a:xfrm>
          <a:prstGeom prst="roundRect">
            <a:avLst>
              <a:gd name="adj" fmla="val 22222"/>
            </a:avLst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9544" y="3218688"/>
            <a:ext cx="2633472" cy="137160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01752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66744" y="2999232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Working Capital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3346704" y="344728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DSO reduction, liquidity planning, and credit management through AI-driven risk signals.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007608" y="2944368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07608" y="2944368"/>
            <a:ext cx="2633472" cy="411480"/>
          </a:xfrm>
          <a:prstGeom prst="roundRect">
            <a:avLst>
              <a:gd name="adj" fmla="val 22222"/>
            </a:avLst>
          </a:prstGeom>
          <a:solidFill>
            <a:srgbClr val="F0AB00"/>
          </a:solidFill>
          <a:ln w="12700">
            <a:solidFill>
              <a:srgbClr val="F0AB0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007608" y="3218688"/>
            <a:ext cx="2633472" cy="137160"/>
          </a:xfrm>
          <a:prstGeom prst="rect">
            <a:avLst/>
          </a:prstGeom>
          <a:solidFill>
            <a:srgbClr val="F0AB00"/>
          </a:solidFill>
          <a:ln w="12700">
            <a:solidFill>
              <a:srgbClr val="F0AB00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7336" y="3017520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464808" y="2999232"/>
            <a:ext cx="20848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Risk Assessment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144768" y="3447288"/>
            <a:ext cx="23591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provides risk score, risk classification, and top contributing reason codes for late payment.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Implementation Approach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1572768" cy="391363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90472"/>
            <a:ext cx="1572768" cy="228600"/>
          </a:xfrm>
          <a:prstGeom prst="rect">
            <a:avLst/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896112"/>
            <a:ext cx="512064" cy="512064"/>
          </a:xfrm>
          <a:prstGeom prst="ellipse">
            <a:avLst/>
          </a:prstGeom>
          <a:solidFill>
            <a:srgbClr val="003872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9144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144475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Data Readiness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" y="1773936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003872"/>
          </a:solidFill>
          <a:ln w="12700">
            <a:solidFill>
              <a:srgbClr val="003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79222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854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Collections Mgmt processes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73405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7977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payment data availability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741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KPIs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92277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6849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2,000 training records required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75688" y="804672"/>
            <a:ext cx="1572768" cy="391363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75688" y="804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5688" y="1490472"/>
            <a:ext cx="1572768" cy="2286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896112"/>
            <a:ext cx="512064" cy="512064"/>
          </a:xfrm>
          <a:prstGeom prst="ellipse">
            <a:avLst/>
          </a:prstGeom>
          <a:solidFill>
            <a:srgbClr val="0070F2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9144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48840" y="144475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Enablement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40280" y="1773936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179222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67128" y="213969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12848" y="21854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FIN_COL_RSK_LTE_PMNT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67128" y="273405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12848" y="277977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Intelligent Scenario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67128" y="332841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12848" y="33741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activate model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67128" y="392277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12848" y="396849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background jobs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39896" y="804672"/>
            <a:ext cx="1572768" cy="391363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39896" y="804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007DB8"/>
          </a:solidFill>
          <a:ln w="12700">
            <a:solidFill>
              <a:srgbClr val="007D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39896" y="1490472"/>
            <a:ext cx="1572768" cy="228600"/>
          </a:xfrm>
          <a:prstGeom prst="rect">
            <a:avLst/>
          </a:prstGeom>
          <a:solidFill>
            <a:srgbClr val="007DB8"/>
          </a:solidFill>
          <a:ln w="12700">
            <a:solidFill>
              <a:srgbClr val="007D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70248" y="896112"/>
            <a:ext cx="512064" cy="512064"/>
          </a:xfrm>
          <a:prstGeom prst="ellipse">
            <a:avLst/>
          </a:prstGeom>
          <a:solidFill>
            <a:srgbClr val="007DB8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70248" y="9144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813048" y="144475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Validation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04488" y="1773936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007DB8"/>
          </a:solidFill>
          <a:ln w="12700">
            <a:solidFill>
              <a:srgbClr val="007D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04488" y="179222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31336" y="213969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77056" y="21854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customer payment history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31336" y="273405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77056" y="277977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prediction accuracy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31336" y="332841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77056" y="33741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training scope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31336" y="392277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77056" y="396849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monthly (recommended)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04104" y="804672"/>
            <a:ext cx="1572768" cy="391363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04104" y="804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04104" y="1490472"/>
            <a:ext cx="1572768" cy="228600"/>
          </a:xfrm>
          <a:prstGeom prst="rect">
            <a:avLst/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34456" y="896112"/>
            <a:ext cx="512064" cy="512064"/>
          </a:xfrm>
          <a:prstGeom prst="ellipse">
            <a:avLst/>
          </a:prstGeom>
          <a:solidFill>
            <a:srgbClr val="008A00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34456" y="9144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477256" y="144475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Integration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568696" y="1773936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008A00"/>
          </a:solidFill>
          <a:ln w="12700">
            <a:solidFill>
              <a:srgbClr val="008A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68696" y="179222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95544" y="213969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41264" y="21854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Risk of Late Payment field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95544" y="273405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41264" y="277977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prioritization rules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495544" y="332841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541264" y="33741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collection strategies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95544" y="392277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41264" y="396849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collector worklists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68312" y="804672"/>
            <a:ext cx="1572768" cy="391363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068312" y="804672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68312" y="1490472"/>
            <a:ext cx="1572768" cy="2286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98664" y="896112"/>
            <a:ext cx="512064" cy="512064"/>
          </a:xfrm>
          <a:prstGeom prst="ellipse">
            <a:avLst/>
          </a:prstGeom>
          <a:solidFill>
            <a:srgbClr val="9B59B6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98664" y="914400"/>
            <a:ext cx="512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7141464" y="1444752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Enhancement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232904" y="1773936"/>
            <a:ext cx="1243584" cy="256032"/>
          </a:xfrm>
          <a:prstGeom prst="roundRect">
            <a:avLst>
              <a:gd name="adj" fmla="val 2142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32904" y="1792224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159752" y="213969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05472" y="21854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email auto-drafting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159752" y="273405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05472" y="277977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 recommendations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159752" y="332841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05472" y="337413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risk summaries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159752" y="3922776"/>
            <a:ext cx="1389888" cy="530352"/>
          </a:xfrm>
          <a:prstGeom prst="roundRect">
            <a:avLst>
              <a:gd name="adj" fmla="val 10345"/>
            </a:avLst>
          </a:prstGeom>
          <a:solidFill>
            <a:srgbClr val="F0F6FF"/>
          </a:solidFill>
          <a:ln w="12700">
            <a:solidFill>
              <a:srgbClr val="D4E6F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05472" y="396849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Customer-specific guidance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</Words>
  <Application>Microsoft Office PowerPoint</Application>
  <PresentationFormat>On-screen Show (16:9)</PresentationFormat>
  <Paragraphs>111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AI-Powered Late Payment Risk Prediction</dc:title>
  <dc:subject>PptxGenJS Presentation</dc:subject>
  <dc:creator>PptxGenJS</dc:creator>
  <cp:lastModifiedBy>Akhil George</cp:lastModifiedBy>
  <cp:revision>2</cp:revision>
  <dcterms:created xsi:type="dcterms:W3CDTF">2026-06-24T05:10:34Z</dcterms:created>
  <dcterms:modified xsi:type="dcterms:W3CDTF">2026-06-24T05:18:02Z</dcterms:modified>
</cp:coreProperties>
</file>